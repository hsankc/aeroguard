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B6B7B"/>
                </a:solidFill>
                <a:latin typeface="Calibri"/>
              </a:defRPr>
            </a:pPr>
            <a:r>
              <a:rPr sz="1300" b="0" i="0" u="none" strike="noStrike">
                <a:solidFill>
                  <a:srgbClr val="5B6B7B"/>
                </a:solidFill>
                <a:latin typeface="Calibri"/>
              </a:rPr>
              <a:t>Mini kovan · kWh / yıl (ön tasarım)</a:t>
            </a:r>
          </a:p>
        </c:rich>
      </c:tx>
      <c:layout/>
      <c:overlay val="0"/>
    </c:title>
    <c:autoTitleDeleted val="0"/>
    <c:plotArea>
      <c:layout/>
      <c:barChart>
        <c:barDir val="bar"/>
        <c:grouping val="clustered"/>
        <c:varyColors val="0"/>
        <c:ser>
          <c:idx val="0"/>
          <c:order val="0"/>
          <c:tx>
            <c:strRef>
              <c:f>Sheet1!$B$1</c:f>
              <c:strCache>
                <c:ptCount val="1"/>
                <c:pt idx="0">
                  <c:v>kWh/yıl</c:v>
                </c:pt>
              </c:strCache>
            </c:strRef>
          </c:tx>
          <c:spPr>
            <a:solidFill>
              <a:srgbClr val="9AA8B6"/>
            </a:solidFill>
            <a:effectLst/>
          </c:spPr>
          <c:invertIfNegative val="0"/>
          <c:dLbls>
            <c:numFmt formatCode="#,##0" sourceLinked="0"/>
            <c:txPr>
              <a:bodyPr/>
              <a:lstStyle/>
              <a:p>
                <a:pPr>
                  <a:defRPr b="0" i="0" strike="noStrike" sz="1300" u="none">
                    <a:solidFill>
                      <a:srgbClr val="0B1E33"/>
                    </a:solidFill>
                    <a:latin typeface="Calibri"/>
                  </a:defRPr>
                </a:pPr>
              </a:p>
            </c:txPr>
            <c:showLegendKey val="0"/>
            <c:showVal val="1"/>
            <c:showCatName val="0"/>
            <c:showSerName val="0"/>
            <c:showPercent val="0"/>
            <c:showBubbleSize val="0"/>
            <c:showLeaderLines val="0"/>
          </c:dLbls>
          <c:dPt>
            <c:idx val="0"/>
            <c:invertIfNegative val="0"/>
            <c:bubble3D val="0"/>
            <c:spPr>
              <a:solidFill>
                <a:srgbClr val="9AA8B6"/>
              </a:solidFill>
              <a:effectLst/>
            </c:spPr>
          </c:dPt>
          <c:dPt>
            <c:idx val="1"/>
            <c:invertIfNegative val="0"/>
            <c:bubble3D val="0"/>
            <c:spPr>
              <a:solidFill>
                <a:srgbClr val="1479C4"/>
              </a:solidFill>
              <a:effectLst/>
            </c:spPr>
          </c:dPt>
          <c:dPt>
            <c:idx val="2"/>
            <c:invertIfNegative val="0"/>
            <c:bubble3D val="0"/>
            <c:spPr>
              <a:solidFill>
                <a:srgbClr val="3E9A31"/>
              </a:solidFill>
              <a:effectLst/>
            </c:spPr>
          </c:dPt>
          <c:cat>
            <c:multiLvlStrRef>
              <c:f>Sheet1!$A$2:$A$4</c:f>
              <c:multiLvlStrCache>
                <c:ptCount val="3"/>
                <c:lvl>
                  <c:pt idx="0">
                    <c:v>Gerçek tüketim</c:v>
                  </c:pt>
                  <c:pt idx="1">
                    <c:v>Tasarım yükü (%30 paylı)</c:v>
                  </c:pt>
                  <c:pt idx="2">
                    <c:v>Yıllık üretim</c:v>
                  </c:pt>
                </c:lvl>
              </c:multiLvlStrCache>
            </c:multiLvlStrRef>
          </c:cat>
          <c:val>
            <c:numRef>
              <c:f>Sheet1!$B$2:$B$4</c:f>
              <c:numCache>
                <c:formatCode>General</c:formatCode>
                <c:ptCount val="3"/>
                <c:pt idx="0">
                  <c:v>3650</c:v>
                </c:pt>
                <c:pt idx="1">
                  <c:v>4745</c:v>
                </c:pt>
                <c:pt idx="2">
                  <c:v>8550</c:v>
                </c:pt>
              </c:numCache>
            </c:numRef>
          </c:val>
        </c:ser>
        <c:dLbls>
          <c:numFmt formatCode="#,##0" sourceLinked="0"/>
          <c:txPr>
            <a:bodyPr/>
            <a:lstStyle/>
            <a:p>
              <a:pPr>
                <a:defRPr b="0" i="0" strike="noStrike" sz="1300" u="none">
                  <a:solidFill>
                    <a:srgbClr val="0B1E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D3D"/>
                </a:solidFill>
                <a:latin typeface="Calibri"/>
              </a:defRPr>
            </a:pPr>
            <a:endParaRPr lang="en-US"/>
          </a:p>
        </c:txPr>
        <c:crossAx val="2094734552"/>
        <c:crosses val="autoZero"/>
        <c:auto val="1"/>
        <c:lblAlgn val="ctr"/>
        <c:noMultiLvlLbl val="1"/>
      </c:catAx>
      <c:valAx>
        <c:axId val="2094734552"/>
        <c:scaling>
          <c:orientation val="minMax"/>
          <c:max val="105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sn) Merhaba, biz ÇOMÜ Bilgisayar Mühendisliği'nden AERO-GUARD ekibiyiz. AERO-GUARD, bölgesel havalimanları için kendi enerjisini üreten ve uçuş tarifesine göre çalışan bir drone kovanı. Mentörlerimiz projemizi bir arı kovanına benzetmişti; bu sürümde o benzetmeyi projenin omurgası yaptık. Bugün size bu kovanı ve sınırlarını anlatacağız.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sn) Problemimiz pistteki yabancı maddeler, yani FOD. Bir cıvata ya da taş parçası motora girdiğinde maliyet büyük. ABD Ulaştırma Araştırma Kurulu'nun derlediği tahminlere göre FOD ve kuş çarpmalarının dünya genelindeki toplam yıllık maliyeti yaklaşık 13,9 milyar dolar. Buna yaban hayatı ve pist yüzeyindeki çatlaklar da ekleniyor. Büyük havalimanlarında bunlar için özel sistemler var ama bölgesel havalimanlarında bu denetimlerin hepsi hâlâ gözle ve araçla yapılıyor.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sn) Başvuruda büyük havalimanlarını hedefliyorduk. Mentörlerimiz iki şey söyledi: Sabiha Gökçen'de dakikada bir hareket var, drone'a pistte zaman yok; büyük havalimanlarında bu iş için kurulu sistemler de var. Biz de soruyu tersine çevirdik: bu sistemlere erişemeyen kim? Cevap bölgesel havalimanları. Çanakkale, Sabiha Gökçen'in yaklaşık dört yüzde biri ölçeğinde; günde yaklaşık dört ticari hareket var. Önce kapsamı daralttık: 50 drone yerine 2 drone. Bu sürümde aynı odağı koruyup filoyu görevine göre uzmanlaştırdık: dört drone'luk küçük bir kovan.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sn) Kovanımız beş kasttan oluşuyor. İki kâşif pisti tarar ve nesneyi bulur. Bekçi kuşu ve hayvanı uzaklaştırır, çiti dolaşır. İşçi bulunan küçük nesneyi toplar. Bakıcı aslında işçinin ikinci rolü: başlığı değişince kış sabahı uçakta buzun yerini haritalar ve yalnızca soğuk iklim için önerdiğimiz kış kovanında var. İki nöbetçi direk de her iniş-kalkışta pisti izler. Drone'lar pistin iki ucundaki iki petekte duruyor; petek hücre ekleyerek büyüyor. Jüri "kraliçe kim?" diye sorarsa cevabımız şu: kovanın kararını kule ve insan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sn) Kovanın ana işi kâşiflerde. Her ticari hareketten yaklaşık 15 dakika önce iki kâşif aynı anda kalkıyor; her biri pistin yarısını, yani 1.175 metreyi, 20 metreden üç geçişle tarıyor. Bu irtifada piksel başına yaklaşık 3,5 milimetre çözünürlük var; 3 santimetrelik bir cıvata 8-9 piksel ediyor. Tarama kalkış ve iniş dahil yaklaşık 12 dakika. Kâşif sayısı tarama süresini belirliyor: üç kâşifle yaklaşık 9, dört kâşifle yaklaşık 8 dakika. Kazancımız hızdan çok tutarlılık: her tarama aynı rotada ve kayıtlı. Arıza olursa drone pist dışındaki kırmızı noktalara iniyor.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sn) V3'te iki yeni yetenek var ve ikisini de sınırıyla anlatıyoruz. İşçi, kâşifin bulduğu nesneyi operatör ve kule onayıyla topluyor. Piste inmiyor; 4 metrede asılı kalıp vinçle başlığı indiriyor. Metalde elektro-kalıcı mıknatıs var, güç kesilse bile bırakmıyor. Drone 2,7 kilo taşıyor, vinç ve başlık yaklaşık 1,2 kilo; bu yüzden sınırımız 1 kilo. Bakıcı ise yalnızca buz haritası çıkarıyor: sıvı sıkmıyor, "uçak temiz" demiyor. Dondurucu yağış ya da sis varsa uçmuyor, uçağın üzerinden hiç geçmiyor. Olgunluğu düşük, TRL 3-4; glikol tasarrufu için sayı vermiyoruz, pilotta ölçeceğiz.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sn) Ticari hareket sırasında drone'lar yerde; pisti nöbetçi kameralar izliyor. Bir yangın ya da pist dışına çıkma olursa YZ bunu kuleye bildiriyor; hedefimiz 10 saniyenin altı. Kule onaylarsa en yakın uygun drone yaklaşık bir dakikada kalkıp ekibe havadan termal görüntü veriyor. ICAO itfaiyenin pistin her noktasına 3 dakikada ulaşmasını hedefliyor; biz itfaiyeden önce varırız demiyoruz, ilk görürüz diyoruz. Ortada on iki senaryo var. Sağda karıştırma: EASA Akdeniz'de GNSS karıştırma ve aldatmanın arttığını söylüyor. Önlemimiz katmanlı: sinyal bozuksa kalkış yok, konum birden fazla kaynaktan geliyor, bağlantı şifreli ve yedekli. Karıştırıcı kullanmıyoruz; bu yasal değil.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sn) Mentörümüzün itirazına cevabımız hâlâ aynı: sistem uçuş tarifesini okuyor. Temsili bir günde dört ticari hareket var. Kâşifler her hareketten önce tarıyor; bekçi şafakta, gün batımında ve çit boyunca uçuyor; işçi yalnızca kâşif bir şey bulunca kalkıyor; bakıcı satırı sadece kış kovanında var. Farklı kastlar aynı anda farklı bölgelerde çalışabiliyor. Pembe bantlar hareketin beş dakika öncesi ve sonrası: bu sürede hiçbir kast uçmuyor ve kule onaylamadan hiçbir drone kalkmıyor.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sn) YZ tarafında açık kaynaklı FOD-A veri setiyle başlıyoruz: 31 sınıf, 30 binden fazla etiketli örnek. Sonra Çanakkale pistinde kontrollü bıraktığımız test nesneleriyle ince ayar yapıyoruz; operatörün her onayı ya da reddi modele yeni etiket olarak dönüyor. En önemlisi: sistem pisti asla kendisi açmıyor. Pilot hedeflerimiz tabloda; V3 ile iki gösterge ekledik: nöbetçinin kuleyi uyarma süresi ve tespitten temizliğe geçen süre. Ekip üyelerimizin bulunduğu takım TEKNOFEST 2026 Sağlıkta YZ'de finale kalmıştı; bu tecrübeyi buraya taşıyoruz.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sn) Enerji hesabını önce iki hücreli mini kovan için yaptık: güneş ve türbin yılda yaklaşık 8.550 kilovatsaat üretiyor, bu tasarım yükünün 1,8 katı. Açık söyleyelim: Çanakkale kovanında hücre sayısı dörde çıkıyor ve en büyük kalem olan iklimlendirme ikiye katlanıyor; oran yaklaşık 1,2'ye iniyor. Bu yüzden enerji bütçesini kovan boyuna göre yeniden yapacağız. Türbini Ek 14'e göre yerleştiriyoruz: pistten 250 metrede izin verilen yükseklik yaklaşık 15,7 metre, türbinimiz yaklaşık 9 metre. Doğrudan karbon azaltımı havalimanı başına yılda yaklaşık 10 ton; küçük bir rakam, asıl kazanç dolaylı etkilerde.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sn) Teknolojilerin her biri tek başına yeni değil; bunu mentörlerimiz de söyledi. Sabit FOD radarları ve kuş radarları büyük havalimanlarında sürekli izleme sağlıyor ama pahalı ve tek görevli. Cranfield'da drone ile pist denetimi denendi ama tek görevli ve tarifeyle bağlantısızdı. AERO-GUARD bunları bölgesel havalimanı için tek bir kovanda birleştiriyor. Sınırımızı da gizlemiyoruz: sürekli FOD izlemesi yapmıyoruz, nöbetçi kameralar bir FOD radarı değil. Ama günde dört hareketli bir pistte her hareketten önce tarama yeterli güvenceyi veriyor.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sn) Jürinin aklındaki ilk soru muhtemelen şu: drone düşerse kendisi FOD olmaz mı? Kule onaylamadan kalkış yok. Sanal sınır drone'u 30 metrenin altında tutuyor, ADS-B yaklaşan uçağı algılıyor ve hareketin beş dakika öncesi ve sonrası hiçbir kast uçmuyor. Arıza olursa drone pist dışındaki acil iniş noktalarına iniyor ve indiği yer FOD bildirimi olarak kuleye gidiyor; her kalkıştan önce hücre kamerası pervaneleri kontrol ediyor. Çanakkale sivil-askeri bir havalimanı olduğu için görüntüler dışarı çıkmıyor. Rüzgâr sınırı aşılırsa ya da dondurucu yağış varsa sistem kenara çekiliyor.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sn) Maliyeti artık kovan boyuna göre veriyoruz; hepsi artı eksi yüzde 30 belirsizlikli ön tahmin. İki kâşifli mini kovan yaklaşık 124 bin dolar. Önerdiğimiz Çanakkale kovanı bekçi, işçi, nöbetçi kameralar ve güvenli konumla yaklaşık 215 bin dolar; beş yıla yayınca yılda yaklaşık 62 bin. Soğuk iklim için kış kovanı bakıcı rolüyle yaklaşık 220 bin. Bölgesel havalimanlarının bütçesi kısıtlı olduğu için hizmet olarak drone modelini öneriyoruz: havalimanı kurulum parası ödemiyor, kovan boyuna göre abonelik ödüyor.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sn) Yol haritamız 30 ay. İlk üç ayda FOD-A ile eğitilmiş YOLO demosunu ve kovan planlayıcısının simülasyonunu çıkarıyoruz; en uzun süreç izinler olduğu için ona ilk ayda başlıyoruz. Kastları aşamalı devreye alıyoruz: sınırlı pilot kâşiflerle, tam pilotta bekçi, işçi ve nöbetçiler ekleniyor; olgunluğu en düşük olan bakıcıyı soğuk iklimli bir havalimanıyla ayrı bir kış pilotunda deniyoruz. Son fazda 3-5 bölgesel havalimanına yayılıyoruz.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sn) Özetle: AERO-GUARD, pahalı sistemlere erişemeyen bölgesel havalimanlarına her uçuştan önce doğrulanmış temiz pist sunuyor. Bunu görevine göre uzmanlaşmış, kendi enerjisini üreten küçük bir kovanla ve her rakamı varsayımıyla birlikte yapıyor. Teşekkür ederiz, sorularınızı bekliyoruz.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PAK">
    <p:bg>
      <p:bgPr>
        <a:solidFill>
          <a:srgbClr val="0B1E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394960" y="2148840"/>
            <a:ext cx="6309360" cy="1005840"/>
          </a:xfrm>
          <a:prstGeom prst="rect">
            <a:avLst/>
          </a:prstGeom>
          <a:noFill/>
          <a:ln/>
        </p:spPr>
        <p:txBody>
          <a:bodyPr wrap="square" rtlCol="0"/>
          <a:lstStyle>
            <a:lvl1pPr algn="l" indent="0" marL="0">
              <a:buNone/>
              <a:defRPr lang="en-US" sz="6000" b="1" dirty="0">
                <a:solidFill>
                  <a:srgbClr val="FFFFFF"/>
                </a:solidFill>
              </a:defRPr>
            </a:lvl1pPr>
          </a:lstStyle>
          <a:p>
            <a:pPr algn="l" indent="0" marL="0">
              <a:buNone/>
            </a:pPr>
            <a:endParaRPr lang="en-US" sz="6000" dirty="0"/>
          </a:p>
        </p:txBody>
      </p:sp>
      <p:sp>
        <p:nvSpPr>
          <p:cNvPr id="3" name="Text 0"/>
          <p:cNvSpPr/>
          <p:nvPr>
            <p:ph idx="101" type="body" hasCustomPrompt="1"/>
          </p:nvPr>
        </p:nvSpPr>
        <p:spPr>
          <a:xfrm>
            <a:off x="5394960" y="3246120"/>
            <a:ext cx="6309360" cy="1097280"/>
          </a:xfrm>
          <a:prstGeom prst="rect">
            <a:avLst/>
          </a:prstGeom>
          <a:noFill/>
          <a:ln/>
        </p:spPr>
        <p:txBody>
          <a:bodyPr wrap="square" rtlCol="0"/>
          <a:lstStyle>
            <a:lvl1pPr algn="l" indent="0" marL="0">
              <a:buNone/>
              <a:defRPr lang="en-US" sz="2200" dirty="0">
                <a:solidFill>
                  <a:srgbClr val="EEF3F8"/>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ERIK">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966960" cy="777240"/>
          </a:xfrm>
          <a:prstGeom prst="rect">
            <a:avLst/>
          </a:prstGeom>
          <a:noFill/>
          <a:ln/>
        </p:spPr>
        <p:txBody>
          <a:bodyPr wrap="square" rtlCol="0"/>
          <a:lstStyle>
            <a:lvl1pPr algn="l" indent="0" marL="0">
              <a:buNone/>
              <a:defRPr lang="en-US" sz="3200" b="1" dirty="0">
                <a:solidFill>
                  <a:srgbClr val="0B1E33"/>
                </a:solidFill>
              </a:defRPr>
            </a:lvl1pPr>
          </a:lstStyle>
          <a:p>
            <a:pPr algn="l" indent="0" marL="0">
              <a:buNone/>
            </a:pPr>
            <a:endParaRPr lang="en-US" sz="3200" dirty="0"/>
          </a:p>
        </p:txBody>
      </p:sp>
      <p:pic>
        <p:nvPicPr>
          <p:cNvPr id="3" name="Image 0" descr="AERO-GUARD logosu">    </p:cNvPr>
          <p:cNvPicPr>
            <a:picLocks noChangeAspect="1"/>
          </p:cNvPicPr>
          <p:nvPr/>
        </p:nvPicPr>
        <p:blipFill>
          <a:blip r:embed="rId1"/>
          <a:stretch>
            <a:fillRect/>
          </a:stretch>
        </p:blipFill>
        <p:spPr>
          <a:xfrm>
            <a:off x="10911535" y="347472"/>
            <a:ext cx="731520" cy="525780"/>
          </a:xfrm>
          <a:prstGeom prst="rect">
            <a:avLst/>
          </a:prstGeom>
        </p:spPr>
      </p:pic>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B7B"/>
                </a:solidFill>
              </a:rPr>
              <a:t>AERO-GUARD · Sürdürülebilir Havacılık Hackathonu · Final</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APANIS">
    <p:bg>
      <p:bgPr>
        <a:solidFill>
          <a:srgbClr val="0B1E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498080" cy="146304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548640" y="3566160"/>
            <a:ext cx="7315200" cy="914400"/>
          </a:xfrm>
          <a:prstGeom prst="rect">
            <a:avLst/>
          </a:prstGeom>
          <a:noFill/>
          <a:ln/>
        </p:spPr>
        <p:txBody>
          <a:bodyPr wrap="square" rtlCol="0"/>
          <a:lstStyle>
            <a:lvl1pPr algn="l" indent="0" marL="0">
              <a:buNone/>
              <a:defRPr lang="en-US" sz="2000" dirty="0">
                <a:solidFill>
                  <a:srgbClr val="EEF3F8"/>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ERO-GUARD logosu">    </p:cNvPr>
          <p:cNvPicPr>
            <a:picLocks noChangeAspect="1"/>
          </p:cNvPicPr>
          <p:nvPr/>
        </p:nvPicPr>
        <p:blipFill>
          <a:blip r:embed="rId1"/>
          <a:stretch>
            <a:fillRect/>
          </a:stretch>
        </p:blipFill>
        <p:spPr>
          <a:xfrm>
            <a:off x="640080" y="1600200"/>
            <a:ext cx="4297680" cy="3090672"/>
          </a:xfrm>
          <a:prstGeom prst="rect">
            <a:avLst/>
          </a:prstGeom>
        </p:spPr>
      </p:pic>
      <p:sp>
        <p:nvSpPr>
          <p:cNvPr id="3" name="Text 0"/>
          <p:cNvSpPr txBox="1"/>
          <p:nvPr/>
        </p:nvSpPr>
        <p:spPr>
          <a:xfrm>
            <a:off x="5394960" y="1691640"/>
            <a:ext cx="6583680" cy="365760"/>
          </a:xfrm>
          <a:prstGeom prst="rect">
            <a:avLst/>
          </a:prstGeom>
          <a:noFill/>
          <a:ln/>
        </p:spPr>
        <p:txBody>
          <a:bodyPr wrap="square" lIns="0" tIns="0" rIns="0" bIns="0" rtlCol="0" anchor="t"/>
          <a:lstStyle/>
          <a:p>
            <a:pPr indent="0" marL="0">
              <a:buNone/>
            </a:pPr>
            <a:r>
              <a:rPr lang="en-US" sz="1200" b="1" dirty="0">
                <a:solidFill>
                  <a:srgbClr val="E8A317"/>
                </a:solidFill>
                <a:latin typeface="Calibri" pitchFamily="34" charset="0"/>
                <a:ea typeface="Calibri" pitchFamily="34" charset="-122"/>
                <a:cs typeface="Calibri" pitchFamily="34" charset="-120"/>
              </a:rPr>
              <a:t>INNOVATIVE APPROACHES IN TECHNOLOGY FOR SUSTAINABLE AVIATION · FİNAL · V3</a:t>
            </a:r>
            <a:endParaRPr lang="en-US" sz="1200" dirty="0"/>
          </a:p>
        </p:txBody>
      </p:sp>
      <p:sp>
        <p:nvSpPr>
          <p:cNvPr id="4" name="Text 0"/>
          <p:cNvSpPr/>
          <p:nvPr>
            <p:ph idx="100" type="title" hasCustomPrompt="1"/>
          </p:nvPr>
        </p:nvSpPr>
        <p:spPr>
          <a:xfrm>
            <a:off x="5394960" y="2148840"/>
            <a:ext cx="6309360" cy="1005840"/>
          </a:xfrm>
          <a:prstGeom prst="rect">
            <a:avLst/>
          </a:prstGeom>
          <a:noFill/>
          <a:ln/>
        </p:spPr>
        <p:txBody>
          <a:bodyPr wrap="square" lIns="0" tIns="0" rIns="0" bIns="0" rtlCol="0" anchor="ctr"/>
          <a:lstStyle/>
          <a:p>
            <a:pPr algn="l" indent="0" marL="0">
              <a:buNone/>
            </a:pPr>
            <a:r>
              <a:rPr lang="en-US" sz="6000" b="1" dirty="0">
                <a:solidFill>
                  <a:srgbClr val="FFFFFF"/>
                </a:solidFill>
              </a:rPr>
              <a:t>AERO-GUARD</a:t>
            </a:r>
            <a:endParaRPr lang="en-US" sz="6000" dirty="0"/>
          </a:p>
        </p:txBody>
      </p:sp>
      <p:sp>
        <p:nvSpPr>
          <p:cNvPr id="5" name="Text 0"/>
          <p:cNvSpPr/>
          <p:nvPr>
            <p:ph idx="101" type="body" hasCustomPrompt="1"/>
          </p:nvPr>
        </p:nvSpPr>
        <p:spPr>
          <a:xfrm>
            <a:off x="5394960" y="3246120"/>
            <a:ext cx="6309360" cy="1097280"/>
          </a:xfrm>
          <a:prstGeom prst="rect">
            <a:avLst/>
          </a:prstGeom>
          <a:noFill/>
          <a:ln/>
        </p:spPr>
        <p:txBody>
          <a:bodyPr wrap="square" lIns="0" tIns="0" rIns="0" bIns="0" rtlCol="0" anchor="t"/>
          <a:lstStyle/>
          <a:p>
            <a:pPr algn="l" indent="0" marL="0">
              <a:buNone/>
            </a:pPr>
            <a:r>
              <a:rPr lang="en-US" sz="2200" dirty="0">
                <a:solidFill>
                  <a:srgbClr val="EEF3F8"/>
                </a:solidFill>
              </a:rPr>
              <a:t>Bölgesel havalimanları için kendi enerjisini üreten, uçuş tarifesine duyarlı drone kovanı</a:t>
            </a:r>
            <a:endParaRPr lang="en-US" sz="2200" dirty="0"/>
          </a:p>
        </p:txBody>
      </p:sp>
      <p:sp>
        <p:nvSpPr>
          <p:cNvPr id="6" name="Text 3"/>
          <p:cNvSpPr txBox="1"/>
          <p:nvPr/>
        </p:nvSpPr>
        <p:spPr>
          <a:xfrm>
            <a:off x="5394960" y="4617720"/>
            <a:ext cx="630936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Hasan Kaşıkcı · Oğuz Kortun · Ensar Enes Akkuş · Efekaan Bengi</a:t>
            </a:r>
            <a:endParaRPr lang="en-US" sz="1600" dirty="0"/>
          </a:p>
        </p:txBody>
      </p:sp>
      <p:sp>
        <p:nvSpPr>
          <p:cNvPr id="7" name="Text 4"/>
          <p:cNvSpPr txBox="1"/>
          <p:nvPr/>
        </p:nvSpPr>
        <p:spPr>
          <a:xfrm>
            <a:off x="5394960" y="4983480"/>
            <a:ext cx="6309360" cy="320040"/>
          </a:xfrm>
          <a:prstGeom prst="rect">
            <a:avLst/>
          </a:prstGeom>
          <a:noFill/>
          <a:ln/>
        </p:spPr>
        <p:txBody>
          <a:bodyPr wrap="square" lIns="0" tIns="0" rIns="0" bIns="0" rtlCol="0" anchor="t"/>
          <a:lstStyle/>
          <a:p>
            <a:pPr indent="0" marL="0">
              <a:buNone/>
            </a:pPr>
            <a:r>
              <a:rPr lang="en-US" sz="1400" dirty="0">
                <a:solidFill>
                  <a:srgbClr val="EEF3F8"/>
                </a:solidFill>
                <a:latin typeface="Calibri" pitchFamily="34" charset="0"/>
                <a:ea typeface="Calibri" pitchFamily="34" charset="-122"/>
                <a:cs typeface="Calibri" pitchFamily="34" charset="-120"/>
              </a:rPr>
              <a:t>Çanakkale Onsekiz Mart Üniversitesi · Bilgisayar Mühendisliği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966960" cy="777240"/>
          </a:xfrm>
          <a:prstGeom prst="rect">
            <a:avLst/>
          </a:prstGeom>
          <a:noFill/>
          <a:ln/>
        </p:spPr>
        <p:txBody>
          <a:bodyPr wrap="square" lIns="0" tIns="0" rIns="0" bIns="0" rtlCol="0" anchor="ctr"/>
          <a:lstStyle/>
          <a:p>
            <a:pPr algn="l" indent="0" marL="0">
              <a:buNone/>
            </a:pPr>
            <a:r>
              <a:rPr lang="en-US" sz="3200" b="1" dirty="0">
                <a:solidFill>
                  <a:srgbClr val="0B1E33"/>
                </a:solidFill>
              </a:rPr>
              <a:t>Pistteki küçük bir cisim, büyük bir maliyet</a:t>
            </a:r>
            <a:endParaRPr lang="en-US" sz="3200" dirty="0"/>
          </a:p>
        </p:txBody>
      </p:sp>
      <p:sp>
        <p:nvSpPr>
          <p:cNvPr id="3" name="Shape 1"/>
          <p:cNvSpPr/>
          <p:nvPr/>
        </p:nvSpPr>
        <p:spPr>
          <a:xfrm>
            <a:off x="548640" y="1417320"/>
            <a:ext cx="4937760" cy="2240280"/>
          </a:xfrm>
          <a:prstGeom prst="roundRect">
            <a:avLst>
              <a:gd name="adj" fmla="val 4898"/>
            </a:avLst>
          </a:prstGeom>
          <a:solidFill>
            <a:srgbClr val="EEF3F8"/>
          </a:solidFill>
          <a:ln w="6350">
            <a:solidFill>
              <a:srgbClr val="EEF3F8"/>
            </a:solidFill>
            <a:prstDash val="solid"/>
          </a:ln>
        </p:spPr>
      </p:sp>
      <p:sp>
        <p:nvSpPr>
          <p:cNvPr id="4" name="Text 2"/>
          <p:cNvSpPr txBox="1"/>
          <p:nvPr/>
        </p:nvSpPr>
        <p:spPr>
          <a:xfrm>
            <a:off x="868680" y="1783080"/>
            <a:ext cx="4389120" cy="868680"/>
          </a:xfrm>
          <a:prstGeom prst="rect">
            <a:avLst/>
          </a:prstGeom>
          <a:noFill/>
          <a:ln/>
        </p:spPr>
        <p:txBody>
          <a:bodyPr wrap="square" lIns="0" tIns="0" rIns="0" bIns="0" rtlCol="0" anchor="b"/>
          <a:lstStyle/>
          <a:p>
            <a:pPr indent="0" marL="0">
              <a:buNone/>
            </a:pPr>
            <a:r>
              <a:rPr lang="en-US" sz="4400" b="1" dirty="0">
                <a:solidFill>
                  <a:srgbClr val="1479C4"/>
                </a:solidFill>
                <a:latin typeface="Calibri" pitchFamily="34" charset="0"/>
                <a:ea typeface="Calibri" pitchFamily="34" charset="-122"/>
                <a:cs typeface="Calibri" pitchFamily="34" charset="-120"/>
              </a:rPr>
              <a:t>13,9 milyar $</a:t>
            </a:r>
            <a:endParaRPr lang="en-US" sz="4400" dirty="0"/>
          </a:p>
        </p:txBody>
      </p:sp>
      <p:sp>
        <p:nvSpPr>
          <p:cNvPr id="5" name="Text 3"/>
          <p:cNvSpPr txBox="1"/>
          <p:nvPr/>
        </p:nvSpPr>
        <p:spPr>
          <a:xfrm>
            <a:off x="868680" y="2697480"/>
            <a:ext cx="4389120" cy="822960"/>
          </a:xfrm>
          <a:prstGeom prst="rect">
            <a:avLst/>
          </a:prstGeom>
          <a:noFill/>
          <a:ln/>
        </p:spPr>
        <p:txBody>
          <a:bodyPr wrap="square" lIns="0" tIns="0" rIns="0" bIns="0" rtlCol="0" anchor="t"/>
          <a:lstStyle/>
          <a:p>
            <a:pPr indent="0" marL="0">
              <a:buNone/>
            </a:pPr>
            <a:r>
              <a:rPr lang="en-US" sz="1500" dirty="0">
                <a:solidFill>
                  <a:srgbClr val="1F2D3D"/>
                </a:solidFill>
                <a:latin typeface="Calibri" pitchFamily="34" charset="0"/>
                <a:ea typeface="Calibri" pitchFamily="34" charset="-122"/>
                <a:cs typeface="Calibri" pitchFamily="34" charset="-120"/>
              </a:rPr>
              <a:t>FOD ve kuş çarpmalarının dünya genelinde yıllık toplam maliyeti (doğrudan + dolaylı)</a:t>
            </a:r>
            <a:endParaRPr lang="en-US" sz="1500" dirty="0"/>
          </a:p>
        </p:txBody>
      </p:sp>
      <p:sp>
        <p:nvSpPr>
          <p:cNvPr id="6" name="Shape 4"/>
          <p:cNvSpPr/>
          <p:nvPr/>
        </p:nvSpPr>
        <p:spPr>
          <a:xfrm>
            <a:off x="548640" y="3840480"/>
            <a:ext cx="4937760" cy="2240280"/>
          </a:xfrm>
          <a:prstGeom prst="roundRect">
            <a:avLst>
              <a:gd name="adj" fmla="val 4898"/>
            </a:avLst>
          </a:prstGeom>
          <a:solidFill>
            <a:srgbClr val="EEF3F8"/>
          </a:solidFill>
          <a:ln w="6350">
            <a:solidFill>
              <a:srgbClr val="EEF3F8"/>
            </a:solidFill>
            <a:prstDash val="solid"/>
          </a:ln>
        </p:spPr>
      </p:sp>
      <p:sp>
        <p:nvSpPr>
          <p:cNvPr id="7" name="Text 5"/>
          <p:cNvSpPr txBox="1"/>
          <p:nvPr/>
        </p:nvSpPr>
        <p:spPr>
          <a:xfrm>
            <a:off x="868680" y="4206240"/>
            <a:ext cx="4389120" cy="868680"/>
          </a:xfrm>
          <a:prstGeom prst="rect">
            <a:avLst/>
          </a:prstGeom>
          <a:noFill/>
          <a:ln/>
        </p:spPr>
        <p:txBody>
          <a:bodyPr wrap="square" lIns="0" tIns="0" rIns="0" bIns="0" rtlCol="0" anchor="b"/>
          <a:lstStyle/>
          <a:p>
            <a:pPr indent="0" marL="0">
              <a:buNone/>
            </a:pPr>
            <a:r>
              <a:rPr lang="en-US" sz="4400" b="1" dirty="0">
                <a:solidFill>
                  <a:srgbClr val="1479C4"/>
                </a:solidFill>
                <a:latin typeface="Calibri" pitchFamily="34" charset="0"/>
                <a:ea typeface="Calibri" pitchFamily="34" charset="-122"/>
                <a:cs typeface="Calibri" pitchFamily="34" charset="-120"/>
              </a:rPr>
              <a:t>250 bin $</a:t>
            </a:r>
            <a:endParaRPr lang="en-US" sz="4400" dirty="0"/>
          </a:p>
        </p:txBody>
      </p:sp>
      <p:sp>
        <p:nvSpPr>
          <p:cNvPr id="8" name="Text 6"/>
          <p:cNvSpPr txBox="1"/>
          <p:nvPr/>
        </p:nvSpPr>
        <p:spPr>
          <a:xfrm>
            <a:off x="868680" y="5120640"/>
            <a:ext cx="4389120" cy="822960"/>
          </a:xfrm>
          <a:prstGeom prst="rect">
            <a:avLst/>
          </a:prstGeom>
          <a:noFill/>
          <a:ln/>
        </p:spPr>
        <p:txBody>
          <a:bodyPr wrap="square" lIns="0" tIns="0" rIns="0" bIns="0" rtlCol="0" anchor="t"/>
          <a:lstStyle/>
          <a:p>
            <a:pPr indent="0" marL="0">
              <a:buNone/>
            </a:pPr>
            <a:r>
              <a:rPr lang="en-US" sz="1500" dirty="0">
                <a:solidFill>
                  <a:srgbClr val="1F2D3D"/>
                </a:solidFill>
                <a:latin typeface="Calibri" pitchFamily="34" charset="0"/>
                <a:ea typeface="Calibri" pitchFamily="34" charset="-122"/>
                <a:cs typeface="Calibri" pitchFamily="34" charset="-120"/>
              </a:rPr>
              <a:t>ABD'de her 10.000 uçuş hareketinde havayollarının FOD kaynaklı bakım maliyeti</a:t>
            </a:r>
            <a:endParaRPr lang="en-US" sz="1500" dirty="0"/>
          </a:p>
        </p:txBody>
      </p:sp>
      <p:sp>
        <p:nvSpPr>
          <p:cNvPr id="9" name="Shape 7"/>
          <p:cNvSpPr/>
          <p:nvPr/>
        </p:nvSpPr>
        <p:spPr>
          <a:xfrm>
            <a:off x="6035040" y="1463040"/>
            <a:ext cx="731520" cy="731520"/>
          </a:xfrm>
          <a:prstGeom prst="ellipse">
            <a:avLst/>
          </a:prstGeom>
          <a:solidFill>
            <a:srgbClr val="1479C4"/>
          </a:solidFill>
          <a:ln w="6350">
            <a:solidFill>
              <a:srgbClr val="1479C4"/>
            </a:solidFill>
            <a:prstDash val="solid"/>
          </a:ln>
        </p:spPr>
      </p:sp>
      <p:pic>
        <p:nvPicPr>
          <p:cNvPr id="10" name="Image 0" descr="preencoded.png">    </p:cNvPr>
          <p:cNvPicPr>
            <a:picLocks noChangeAspect="1"/>
          </p:cNvPicPr>
          <p:nvPr/>
        </p:nvPicPr>
        <p:blipFill>
          <a:blip r:embed="rId1"/>
          <a:stretch>
            <a:fillRect/>
          </a:stretch>
        </p:blipFill>
        <p:spPr>
          <a:xfrm>
            <a:off x="6210605" y="1638605"/>
            <a:ext cx="380390" cy="380390"/>
          </a:xfrm>
          <a:prstGeom prst="rect">
            <a:avLst/>
          </a:prstGeom>
        </p:spPr>
      </p:pic>
      <p:sp>
        <p:nvSpPr>
          <p:cNvPr id="11" name="Text 8"/>
          <p:cNvSpPr txBox="1"/>
          <p:nvPr/>
        </p:nvSpPr>
        <p:spPr>
          <a:xfrm>
            <a:off x="6995160" y="1444752"/>
            <a:ext cx="4663440" cy="365760"/>
          </a:xfrm>
          <a:prstGeom prst="rect">
            <a:avLst/>
          </a:prstGeom>
          <a:noFill/>
          <a:ln/>
        </p:spPr>
        <p:txBody>
          <a:bodyPr wrap="square" lIns="0" tIns="0" rIns="0" bIns="0" rtlCol="0" anchor="t"/>
          <a:lstStyle/>
          <a:p>
            <a:pPr indent="0" marL="0">
              <a:buNone/>
            </a:pPr>
            <a:r>
              <a:rPr lang="en-US" sz="1800" b="1" dirty="0">
                <a:solidFill>
                  <a:srgbClr val="0B1E33"/>
                </a:solidFill>
                <a:latin typeface="Calibri" pitchFamily="34" charset="0"/>
                <a:ea typeface="Calibri" pitchFamily="34" charset="-122"/>
                <a:cs typeface="Calibri" pitchFamily="34" charset="-120"/>
              </a:rPr>
              <a:t>Yabancı madde (FOD)</a:t>
            </a:r>
            <a:endParaRPr lang="en-US" sz="1800" dirty="0"/>
          </a:p>
        </p:txBody>
      </p:sp>
      <p:sp>
        <p:nvSpPr>
          <p:cNvPr id="12" name="Text 9"/>
          <p:cNvSpPr txBox="1"/>
          <p:nvPr/>
        </p:nvSpPr>
        <p:spPr>
          <a:xfrm>
            <a:off x="6995160" y="1810512"/>
            <a:ext cx="4663440" cy="64008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Cıvata, taş, plastik parçası: motor hasarı, gecikme ve iptal</a:t>
            </a:r>
            <a:endParaRPr lang="en-US" sz="1400" dirty="0"/>
          </a:p>
        </p:txBody>
      </p:sp>
      <p:sp>
        <p:nvSpPr>
          <p:cNvPr id="13" name="Shape 10"/>
          <p:cNvSpPr/>
          <p:nvPr/>
        </p:nvSpPr>
        <p:spPr>
          <a:xfrm>
            <a:off x="6035040" y="2651760"/>
            <a:ext cx="731520" cy="731520"/>
          </a:xfrm>
          <a:prstGeom prst="ellipse">
            <a:avLst/>
          </a:prstGeom>
          <a:solidFill>
            <a:srgbClr val="1479C4"/>
          </a:solidFill>
          <a:ln w="6350">
            <a:solidFill>
              <a:srgbClr val="1479C4"/>
            </a:solidFill>
            <a:prstDash val="solid"/>
          </a:ln>
        </p:spPr>
      </p:sp>
      <p:pic>
        <p:nvPicPr>
          <p:cNvPr id="14" name="Image 1" descr="preencoded.png">    </p:cNvPr>
          <p:cNvPicPr>
            <a:picLocks noChangeAspect="1"/>
          </p:cNvPicPr>
          <p:nvPr/>
        </p:nvPicPr>
        <p:blipFill>
          <a:blip r:embed="rId2"/>
          <a:stretch>
            <a:fillRect/>
          </a:stretch>
        </p:blipFill>
        <p:spPr>
          <a:xfrm>
            <a:off x="6210605" y="2827325"/>
            <a:ext cx="380390" cy="380390"/>
          </a:xfrm>
          <a:prstGeom prst="rect">
            <a:avLst/>
          </a:prstGeom>
        </p:spPr>
      </p:pic>
      <p:sp>
        <p:nvSpPr>
          <p:cNvPr id="15" name="Text 11"/>
          <p:cNvSpPr txBox="1"/>
          <p:nvPr/>
        </p:nvSpPr>
        <p:spPr>
          <a:xfrm>
            <a:off x="6995160" y="2633472"/>
            <a:ext cx="4663440" cy="365760"/>
          </a:xfrm>
          <a:prstGeom prst="rect">
            <a:avLst/>
          </a:prstGeom>
          <a:noFill/>
          <a:ln/>
        </p:spPr>
        <p:txBody>
          <a:bodyPr wrap="square" lIns="0" tIns="0" rIns="0" bIns="0" rtlCol="0" anchor="t"/>
          <a:lstStyle/>
          <a:p>
            <a:pPr indent="0" marL="0">
              <a:buNone/>
            </a:pPr>
            <a:r>
              <a:rPr lang="en-US" sz="1800" b="1" dirty="0">
                <a:solidFill>
                  <a:srgbClr val="0B1E33"/>
                </a:solidFill>
                <a:latin typeface="Calibri" pitchFamily="34" charset="0"/>
                <a:ea typeface="Calibri" pitchFamily="34" charset="-122"/>
                <a:cs typeface="Calibri" pitchFamily="34" charset="-120"/>
              </a:rPr>
              <a:t>Yaban hayatı</a:t>
            </a:r>
            <a:endParaRPr lang="en-US" sz="1800" dirty="0"/>
          </a:p>
        </p:txBody>
      </p:sp>
      <p:sp>
        <p:nvSpPr>
          <p:cNvPr id="16" name="Text 12"/>
          <p:cNvSpPr txBox="1"/>
          <p:nvPr/>
        </p:nvSpPr>
        <p:spPr>
          <a:xfrm>
            <a:off x="6995160" y="2999232"/>
            <a:ext cx="4663440" cy="64008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Kuşlar sabit ses sistemlerine zamanla alışıyor; çitten giren hayvanlar ayrı risk</a:t>
            </a:r>
            <a:endParaRPr lang="en-US" sz="1400" dirty="0"/>
          </a:p>
        </p:txBody>
      </p:sp>
      <p:sp>
        <p:nvSpPr>
          <p:cNvPr id="17" name="Shape 13"/>
          <p:cNvSpPr/>
          <p:nvPr/>
        </p:nvSpPr>
        <p:spPr>
          <a:xfrm>
            <a:off x="6035040" y="3840480"/>
            <a:ext cx="731520" cy="731520"/>
          </a:xfrm>
          <a:prstGeom prst="ellipse">
            <a:avLst/>
          </a:prstGeom>
          <a:solidFill>
            <a:srgbClr val="1479C4"/>
          </a:solidFill>
          <a:ln w="6350">
            <a:solidFill>
              <a:srgbClr val="1479C4"/>
            </a:solidFill>
            <a:prstDash val="solid"/>
          </a:ln>
        </p:spPr>
      </p:sp>
      <p:pic>
        <p:nvPicPr>
          <p:cNvPr id="18" name="Image 2" descr="preencoded.png">    </p:cNvPr>
          <p:cNvPicPr>
            <a:picLocks noChangeAspect="1"/>
          </p:cNvPicPr>
          <p:nvPr/>
        </p:nvPicPr>
        <p:blipFill>
          <a:blip r:embed="rId3"/>
          <a:stretch>
            <a:fillRect/>
          </a:stretch>
        </p:blipFill>
        <p:spPr>
          <a:xfrm>
            <a:off x="6210605" y="4016045"/>
            <a:ext cx="380390" cy="380390"/>
          </a:xfrm>
          <a:prstGeom prst="rect">
            <a:avLst/>
          </a:prstGeom>
        </p:spPr>
      </p:pic>
      <p:sp>
        <p:nvSpPr>
          <p:cNvPr id="19" name="Text 14"/>
          <p:cNvSpPr txBox="1"/>
          <p:nvPr/>
        </p:nvSpPr>
        <p:spPr>
          <a:xfrm>
            <a:off x="6995160" y="3822192"/>
            <a:ext cx="4663440" cy="365760"/>
          </a:xfrm>
          <a:prstGeom prst="rect">
            <a:avLst/>
          </a:prstGeom>
          <a:noFill/>
          <a:ln/>
        </p:spPr>
        <p:txBody>
          <a:bodyPr wrap="square" lIns="0" tIns="0" rIns="0" bIns="0" rtlCol="0" anchor="t"/>
          <a:lstStyle/>
          <a:p>
            <a:pPr indent="0" marL="0">
              <a:buNone/>
            </a:pPr>
            <a:r>
              <a:rPr lang="en-US" sz="1800" b="1" dirty="0">
                <a:solidFill>
                  <a:srgbClr val="0B1E33"/>
                </a:solidFill>
                <a:latin typeface="Calibri" pitchFamily="34" charset="0"/>
                <a:ea typeface="Calibri" pitchFamily="34" charset="-122"/>
                <a:cs typeface="Calibri" pitchFamily="34" charset="-120"/>
              </a:rPr>
              <a:t>Pist yüzeyi</a:t>
            </a:r>
            <a:endParaRPr lang="en-US" sz="1800" dirty="0"/>
          </a:p>
        </p:txBody>
      </p:sp>
      <p:sp>
        <p:nvSpPr>
          <p:cNvPr id="20" name="Text 15"/>
          <p:cNvSpPr txBox="1"/>
          <p:nvPr/>
        </p:nvSpPr>
        <p:spPr>
          <a:xfrm>
            <a:off x="6995160" y="4187952"/>
            <a:ext cx="4663440" cy="64008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Geç fark edilen çatlaklar FOD üretir, karbon yoğun yenilemeye dönüşür</a:t>
            </a:r>
            <a:endParaRPr lang="en-US" sz="1400" dirty="0"/>
          </a:p>
        </p:txBody>
      </p:sp>
      <p:sp>
        <p:nvSpPr>
          <p:cNvPr id="21" name="Shape 16"/>
          <p:cNvSpPr/>
          <p:nvPr/>
        </p:nvSpPr>
        <p:spPr>
          <a:xfrm>
            <a:off x="6035040" y="5074920"/>
            <a:ext cx="5623560" cy="1005840"/>
          </a:xfrm>
          <a:prstGeom prst="roundRect">
            <a:avLst>
              <a:gd name="adj" fmla="val 9091"/>
            </a:avLst>
          </a:prstGeom>
          <a:solidFill>
            <a:srgbClr val="0B1E33"/>
          </a:solidFill>
          <a:ln w="6350">
            <a:solidFill>
              <a:srgbClr val="0B1E33"/>
            </a:solidFill>
            <a:prstDash val="solid"/>
          </a:ln>
        </p:spPr>
      </p:sp>
      <p:sp>
        <p:nvSpPr>
          <p:cNvPr id="22" name="Text 17"/>
          <p:cNvSpPr txBox="1"/>
          <p:nvPr/>
        </p:nvSpPr>
        <p:spPr>
          <a:xfrm>
            <a:off x="6263640" y="5138928"/>
            <a:ext cx="5212080" cy="87782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Bölgesel havalimanlarında </a:t>
            </a:r>
            <a:pPr indent="0" marL="0">
              <a:buNone/>
            </a:pPr>
            <a:r>
              <a:rPr lang="en-US" sz="1500" b="1" dirty="0">
                <a:solidFill>
                  <a:srgbClr val="FFFFFF"/>
                </a:solidFill>
                <a:latin typeface="Calibri" pitchFamily="34" charset="0"/>
                <a:ea typeface="Calibri" pitchFamily="34" charset="-122"/>
                <a:cs typeface="Calibri" pitchFamily="34" charset="-120"/>
              </a:rPr>
              <a:t>bu denetimlerin hepsi hâlâ gözle ve araçla yapılıyor</a:t>
            </a:r>
            <a:pPr indent="0" marL="0">
              <a:buNone/>
            </a:pPr>
            <a:r>
              <a:rPr lang="en-US" sz="1500" dirty="0">
                <a:solidFill>
                  <a:srgbClr val="FFFFFF"/>
                </a:solidFill>
                <a:latin typeface="Calibri" pitchFamily="34" charset="0"/>
                <a:ea typeface="Calibri" pitchFamily="34" charset="-122"/>
                <a:cs typeface="Calibri" pitchFamily="34" charset="-120"/>
              </a:rPr>
              <a:t>; kayıt yok, karşılaştırma yok.</a:t>
            </a:r>
            <a:endParaRPr lang="en-US" sz="1500" dirty="0"/>
          </a:p>
        </p:txBody>
      </p:sp>
      <p:sp>
        <p:nvSpPr>
          <p:cNvPr id="23" name="Text 18"/>
          <p:cNvSpPr txBox="1"/>
          <p:nvPr/>
        </p:nvSpPr>
        <p:spPr>
          <a:xfrm>
            <a:off x="548640" y="6144768"/>
            <a:ext cx="5486400" cy="228600"/>
          </a:xfrm>
          <a:prstGeom prst="rect">
            <a:avLst/>
          </a:prstGeom>
          <a:noFill/>
          <a:ln/>
        </p:spPr>
        <p:txBody>
          <a:bodyPr wrap="square" lIns="0" tIns="0" rIns="0" bIns="0" rtlCol="0" anchor="t"/>
          <a:lstStyle/>
          <a:p>
            <a:pPr indent="0" marL="0">
              <a:buNone/>
            </a:pPr>
            <a:r>
              <a:rPr lang="en-US" sz="1000" dirty="0">
                <a:solidFill>
                  <a:srgbClr val="5B6B7B"/>
                </a:solidFill>
                <a:latin typeface="Calibri" pitchFamily="34" charset="0"/>
                <a:ea typeface="Calibri" pitchFamily="34" charset="-122"/>
                <a:cs typeface="Calibri" pitchFamily="34" charset="-120"/>
              </a:rPr>
              <a:t>Kaynak: ACRP Synthesis 26 (2011), McCreary (2010) tahminleri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966960" cy="777240"/>
          </a:xfrm>
          <a:prstGeom prst="rect">
            <a:avLst/>
          </a:prstGeom>
          <a:noFill/>
          <a:ln/>
        </p:spPr>
        <p:txBody>
          <a:bodyPr wrap="square" lIns="0" tIns="0" rIns="0" bIns="0" rtlCol="0" anchor="ctr"/>
          <a:lstStyle/>
          <a:p>
            <a:pPr algn="l" indent="0" marL="0">
              <a:buNone/>
            </a:pPr>
            <a:r>
              <a:rPr lang="en-US" sz="3200" b="1" dirty="0">
                <a:solidFill>
                  <a:srgbClr val="0B1E33"/>
                </a:solidFill>
              </a:rPr>
              <a:t>Mentörlerden aldığımız ders: doğru havalimanını seçmek</a:t>
            </a:r>
            <a:endParaRPr lang="en-US" sz="3200" dirty="0"/>
          </a:p>
        </p:txBody>
      </p:sp>
      <p:sp>
        <p:nvSpPr>
          <p:cNvPr id="3" name="Shape 1"/>
          <p:cNvSpPr/>
          <p:nvPr/>
        </p:nvSpPr>
        <p:spPr>
          <a:xfrm>
            <a:off x="548640" y="1417320"/>
            <a:ext cx="5074920" cy="3429000"/>
          </a:xfrm>
          <a:prstGeom prst="roundRect">
            <a:avLst>
              <a:gd name="adj" fmla="val 3200"/>
            </a:avLst>
          </a:prstGeom>
          <a:solidFill>
            <a:srgbClr val="EEF3F8"/>
          </a:solidFill>
          <a:ln w="6350">
            <a:solidFill>
              <a:srgbClr val="EEF3F8"/>
            </a:solidFill>
            <a:prstDash val="solid"/>
          </a:ln>
        </p:spPr>
      </p:sp>
      <p:sp>
        <p:nvSpPr>
          <p:cNvPr id="4" name="Text 2"/>
          <p:cNvSpPr txBox="1"/>
          <p:nvPr/>
        </p:nvSpPr>
        <p:spPr>
          <a:xfrm>
            <a:off x="868680" y="1600200"/>
            <a:ext cx="4389120" cy="274320"/>
          </a:xfrm>
          <a:prstGeom prst="rect">
            <a:avLst/>
          </a:prstGeom>
          <a:noFill/>
          <a:ln/>
        </p:spPr>
        <p:txBody>
          <a:bodyPr wrap="square" lIns="0" tIns="0" rIns="0" bIns="0" rtlCol="0" anchor="t"/>
          <a:lstStyle/>
          <a:p>
            <a:pPr indent="0" marL="0">
              <a:buNone/>
            </a:pPr>
            <a:r>
              <a:rPr lang="en-US" sz="1200" b="1" spc="100" kern="0" dirty="0">
                <a:solidFill>
                  <a:srgbClr val="5B6B7B"/>
                </a:solidFill>
                <a:latin typeface="Calibri" pitchFamily="34" charset="0"/>
                <a:ea typeface="Calibri" pitchFamily="34" charset="-122"/>
                <a:cs typeface="Calibri" pitchFamily="34" charset="-120"/>
              </a:rPr>
              <a:t>BAŞVURUDA</a:t>
            </a:r>
            <a:endParaRPr lang="en-US" sz="1200" dirty="0"/>
          </a:p>
        </p:txBody>
      </p:sp>
      <p:sp>
        <p:nvSpPr>
          <p:cNvPr id="5" name="Text 3"/>
          <p:cNvSpPr txBox="1"/>
          <p:nvPr/>
        </p:nvSpPr>
        <p:spPr>
          <a:xfrm>
            <a:off x="868680" y="1874520"/>
            <a:ext cx="4480560" cy="411480"/>
          </a:xfrm>
          <a:prstGeom prst="rect">
            <a:avLst/>
          </a:prstGeom>
          <a:noFill/>
          <a:ln/>
        </p:spPr>
        <p:txBody>
          <a:bodyPr wrap="square" lIns="0" tIns="0" rIns="0" bIns="0" rtlCol="0" anchor="t"/>
          <a:lstStyle/>
          <a:p>
            <a:pPr indent="0" marL="0">
              <a:buNone/>
            </a:pPr>
            <a:r>
              <a:rPr lang="en-US" sz="1800" b="1" dirty="0">
                <a:solidFill>
                  <a:srgbClr val="0B1E33"/>
                </a:solidFill>
                <a:latin typeface="Calibri" pitchFamily="34" charset="0"/>
                <a:ea typeface="Calibri" pitchFamily="34" charset="-122"/>
                <a:cs typeface="Calibri" pitchFamily="34" charset="-120"/>
              </a:rPr>
              <a:t>Sabiha Gökçen gibi yoğun havalimanları</a:t>
            </a:r>
            <a:endParaRPr lang="en-US" sz="1800" dirty="0"/>
          </a:p>
        </p:txBody>
      </p:sp>
      <p:sp>
        <p:nvSpPr>
          <p:cNvPr id="6" name="Text 4"/>
          <p:cNvSpPr txBox="1"/>
          <p:nvPr/>
        </p:nvSpPr>
        <p:spPr>
          <a:xfrm>
            <a:off x="868680" y="2331720"/>
            <a:ext cx="4389120" cy="731520"/>
          </a:xfrm>
          <a:prstGeom prst="rect">
            <a:avLst/>
          </a:prstGeom>
          <a:noFill/>
          <a:ln/>
        </p:spPr>
        <p:txBody>
          <a:bodyPr wrap="square" lIns="0" tIns="0" rIns="0" bIns="0" rtlCol="0" anchor="b"/>
          <a:lstStyle/>
          <a:p>
            <a:pPr indent="0" marL="0">
              <a:buNone/>
            </a:pPr>
            <a:r>
              <a:rPr lang="en-US" sz="4000" b="1" dirty="0">
                <a:solidFill>
                  <a:srgbClr val="5B6B7B"/>
                </a:solidFill>
                <a:latin typeface="Calibri" pitchFamily="34" charset="0"/>
                <a:ea typeface="Calibri" pitchFamily="34" charset="-122"/>
                <a:cs typeface="Calibri" pitchFamily="34" charset="-120"/>
              </a:rPr>
              <a:t>28 milyon</a:t>
            </a:r>
            <a:endParaRPr lang="en-US" sz="4000" dirty="0"/>
          </a:p>
        </p:txBody>
      </p:sp>
      <p:sp>
        <p:nvSpPr>
          <p:cNvPr id="7" name="Text 5"/>
          <p:cNvSpPr txBox="1"/>
          <p:nvPr/>
        </p:nvSpPr>
        <p:spPr>
          <a:xfrm>
            <a:off x="868680" y="3108960"/>
            <a:ext cx="4389120" cy="320040"/>
          </a:xfrm>
          <a:prstGeom prst="rect">
            <a:avLst/>
          </a:prstGeom>
          <a:noFill/>
          <a:ln/>
        </p:spPr>
        <p:txBody>
          <a:bodyPr wrap="square" lIns="0" tIns="0" rIns="0" bIns="0" rtlCol="0" anchor="t"/>
          <a:lstStyle/>
          <a:p>
            <a:pPr indent="0" marL="0">
              <a:buNone/>
            </a:pPr>
            <a:r>
              <a:rPr lang="en-US" sz="1300" dirty="0">
                <a:solidFill>
                  <a:srgbClr val="1F2D3D"/>
                </a:solidFill>
                <a:latin typeface="Calibri" pitchFamily="34" charset="0"/>
                <a:ea typeface="Calibri" pitchFamily="34" charset="-122"/>
                <a:cs typeface="Calibri" pitchFamily="34" charset="-120"/>
              </a:rPr>
              <a:t>yolcu (Ocak–Temmuz 2026)</a:t>
            </a:r>
            <a:endParaRPr lang="en-US" sz="1300" dirty="0"/>
          </a:p>
        </p:txBody>
      </p:sp>
      <p:sp>
        <p:nvSpPr>
          <p:cNvPr id="8" name="Text 6"/>
          <p:cNvSpPr txBox="1"/>
          <p:nvPr/>
        </p:nvSpPr>
        <p:spPr>
          <a:xfrm>
            <a:off x="868680" y="3611880"/>
            <a:ext cx="4480560" cy="109728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1F2D3D"/>
                </a:solidFill>
                <a:latin typeface="Calibri" pitchFamily="34" charset="0"/>
                <a:ea typeface="Calibri" pitchFamily="34" charset="-122"/>
                <a:cs typeface="Calibri" pitchFamily="34" charset="-120"/>
              </a:rPr>
              <a:t>Dakikada ~1 hareket: drone'a pistte zaman yok</a:t>
            </a:r>
            <a:endParaRPr lang="en-US" sz="1600" dirty="0"/>
          </a:p>
          <a:p>
            <a:pPr marL="342900" indent="-342900">
              <a:spcAft>
                <a:spcPts val="400"/>
              </a:spcAft>
              <a:buSzPct val="100000"/>
              <a:buChar char="•"/>
            </a:pPr>
            <a:r>
              <a:rPr lang="en-US" sz="1600" dirty="0">
                <a:solidFill>
                  <a:srgbClr val="1F2D3D"/>
                </a:solidFill>
                <a:latin typeface="Calibri" pitchFamily="34" charset="0"/>
                <a:ea typeface="Calibri" pitchFamily="34" charset="-122"/>
                <a:cs typeface="Calibri" pitchFamily="34" charset="-120"/>
              </a:rPr>
              <a:t>FODRAD, A-FOD gibi sabit sistemler zaten kurulu</a:t>
            </a:r>
            <a:endParaRPr lang="en-US" sz="1600" dirty="0"/>
          </a:p>
        </p:txBody>
      </p:sp>
      <p:sp>
        <p:nvSpPr>
          <p:cNvPr id="9" name="Shape 7"/>
          <p:cNvSpPr/>
          <p:nvPr/>
        </p:nvSpPr>
        <p:spPr>
          <a:xfrm>
            <a:off x="6537960" y="1417320"/>
            <a:ext cx="5074920" cy="3429000"/>
          </a:xfrm>
          <a:prstGeom prst="roundRect">
            <a:avLst>
              <a:gd name="adj" fmla="val 3200"/>
            </a:avLst>
          </a:prstGeom>
          <a:solidFill>
            <a:srgbClr val="FFFFFF"/>
          </a:solidFill>
          <a:ln w="25400">
            <a:solidFill>
              <a:srgbClr val="1479C4"/>
            </a:solidFill>
            <a:prstDash val="solid"/>
          </a:ln>
        </p:spPr>
      </p:sp>
      <p:sp>
        <p:nvSpPr>
          <p:cNvPr id="10" name="Text 8"/>
          <p:cNvSpPr txBox="1"/>
          <p:nvPr/>
        </p:nvSpPr>
        <p:spPr>
          <a:xfrm>
            <a:off x="6858000" y="1600200"/>
            <a:ext cx="4389120" cy="274320"/>
          </a:xfrm>
          <a:prstGeom prst="rect">
            <a:avLst/>
          </a:prstGeom>
          <a:noFill/>
          <a:ln/>
        </p:spPr>
        <p:txBody>
          <a:bodyPr wrap="square" lIns="0" tIns="0" rIns="0" bIns="0" rtlCol="0" anchor="t"/>
          <a:lstStyle/>
          <a:p>
            <a:pPr indent="0" marL="0">
              <a:buNone/>
            </a:pPr>
            <a:r>
              <a:rPr lang="en-US" sz="1200" b="1" spc="100" kern="0" dirty="0">
                <a:solidFill>
                  <a:srgbClr val="1479C4"/>
                </a:solidFill>
                <a:latin typeface="Calibri" pitchFamily="34" charset="0"/>
                <a:ea typeface="Calibri" pitchFamily="34" charset="-122"/>
                <a:cs typeface="Calibri" pitchFamily="34" charset="-120"/>
              </a:rPr>
              <a:t>FİNALDE</a:t>
            </a:r>
            <a:endParaRPr lang="en-US" sz="1200" dirty="0"/>
          </a:p>
        </p:txBody>
      </p:sp>
      <p:sp>
        <p:nvSpPr>
          <p:cNvPr id="11" name="Text 9"/>
          <p:cNvSpPr txBox="1"/>
          <p:nvPr/>
        </p:nvSpPr>
        <p:spPr>
          <a:xfrm>
            <a:off x="6858000" y="1874520"/>
            <a:ext cx="4480560" cy="411480"/>
          </a:xfrm>
          <a:prstGeom prst="rect">
            <a:avLst/>
          </a:prstGeom>
          <a:noFill/>
          <a:ln/>
        </p:spPr>
        <p:txBody>
          <a:bodyPr wrap="square" lIns="0" tIns="0" rIns="0" bIns="0" rtlCol="0" anchor="t"/>
          <a:lstStyle/>
          <a:p>
            <a:pPr indent="0" marL="0">
              <a:buNone/>
            </a:pPr>
            <a:r>
              <a:rPr lang="en-US" sz="1800" b="1" dirty="0">
                <a:solidFill>
                  <a:srgbClr val="0B1E33"/>
                </a:solidFill>
                <a:latin typeface="Calibri" pitchFamily="34" charset="0"/>
                <a:ea typeface="Calibri" pitchFamily="34" charset="-122"/>
                <a:cs typeface="Calibri" pitchFamily="34" charset="-120"/>
              </a:rPr>
              <a:t>Çanakkale gibi bölgesel havalimanları</a:t>
            </a:r>
            <a:endParaRPr lang="en-US" sz="1800" dirty="0"/>
          </a:p>
        </p:txBody>
      </p:sp>
      <p:sp>
        <p:nvSpPr>
          <p:cNvPr id="12" name="Text 10"/>
          <p:cNvSpPr txBox="1"/>
          <p:nvPr/>
        </p:nvSpPr>
        <p:spPr>
          <a:xfrm>
            <a:off x="6858000" y="2331720"/>
            <a:ext cx="4389120" cy="731520"/>
          </a:xfrm>
          <a:prstGeom prst="rect">
            <a:avLst/>
          </a:prstGeom>
          <a:noFill/>
          <a:ln/>
        </p:spPr>
        <p:txBody>
          <a:bodyPr wrap="square" lIns="0" tIns="0" rIns="0" bIns="0" rtlCol="0" anchor="b"/>
          <a:lstStyle/>
          <a:p>
            <a:pPr indent="0" marL="0">
              <a:buNone/>
            </a:pPr>
            <a:r>
              <a:rPr lang="en-US" sz="4000" b="1" dirty="0">
                <a:solidFill>
                  <a:srgbClr val="1479C4"/>
                </a:solidFill>
                <a:latin typeface="Calibri" pitchFamily="34" charset="0"/>
                <a:ea typeface="Calibri" pitchFamily="34" charset="-122"/>
                <a:cs typeface="Calibri" pitchFamily="34" charset="-120"/>
              </a:rPr>
              <a:t>71 bin</a:t>
            </a:r>
            <a:endParaRPr lang="en-US" sz="4000" dirty="0"/>
          </a:p>
        </p:txBody>
      </p:sp>
      <p:sp>
        <p:nvSpPr>
          <p:cNvPr id="13" name="Text 11"/>
          <p:cNvSpPr txBox="1"/>
          <p:nvPr/>
        </p:nvSpPr>
        <p:spPr>
          <a:xfrm>
            <a:off x="6858000" y="3108960"/>
            <a:ext cx="4389120" cy="320040"/>
          </a:xfrm>
          <a:prstGeom prst="rect">
            <a:avLst/>
          </a:prstGeom>
          <a:noFill/>
          <a:ln/>
        </p:spPr>
        <p:txBody>
          <a:bodyPr wrap="square" lIns="0" tIns="0" rIns="0" bIns="0" rtlCol="0" anchor="t"/>
          <a:lstStyle/>
          <a:p>
            <a:pPr indent="0" marL="0">
              <a:buNone/>
            </a:pPr>
            <a:r>
              <a:rPr lang="en-US" sz="1300" dirty="0">
                <a:solidFill>
                  <a:srgbClr val="1F2D3D"/>
                </a:solidFill>
                <a:latin typeface="Calibri" pitchFamily="34" charset="0"/>
                <a:ea typeface="Calibri" pitchFamily="34" charset="-122"/>
                <a:cs typeface="Calibri" pitchFamily="34" charset="-120"/>
              </a:rPr>
              <a:t>yolcu (Ocak–Temmuz 2026)</a:t>
            </a:r>
            <a:endParaRPr lang="en-US" sz="1300" dirty="0"/>
          </a:p>
        </p:txBody>
      </p:sp>
      <p:sp>
        <p:nvSpPr>
          <p:cNvPr id="14" name="Text 12"/>
          <p:cNvSpPr txBox="1"/>
          <p:nvPr/>
        </p:nvSpPr>
        <p:spPr>
          <a:xfrm>
            <a:off x="6858000" y="3611880"/>
            <a:ext cx="4480560" cy="109728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1F2D3D"/>
                </a:solidFill>
                <a:latin typeface="Calibri" pitchFamily="34" charset="0"/>
                <a:ea typeface="Calibri" pitchFamily="34" charset="-122"/>
                <a:cs typeface="Calibri" pitchFamily="34" charset="-120"/>
              </a:rPr>
              <a:t>Günde ≈4 ticari hareket: pist saatlerce boş</a:t>
            </a:r>
            <a:endParaRPr lang="en-US" sz="1600" dirty="0"/>
          </a:p>
          <a:p>
            <a:pPr marL="342900" indent="-342900">
              <a:spcAft>
                <a:spcPts val="400"/>
              </a:spcAft>
              <a:buSzPct val="100000"/>
              <a:buChar char="•"/>
            </a:pPr>
            <a:r>
              <a:rPr lang="en-US" sz="1600" dirty="0">
                <a:solidFill>
                  <a:srgbClr val="1F2D3D"/>
                </a:solidFill>
                <a:latin typeface="Calibri" pitchFamily="34" charset="0"/>
                <a:ea typeface="Calibri" pitchFamily="34" charset="-122"/>
                <a:cs typeface="Calibri" pitchFamily="34" charset="-120"/>
              </a:rPr>
              <a:t>Sabit sistem yok, denetim manuel</a:t>
            </a:r>
            <a:endParaRPr lang="en-US" sz="1600" dirty="0"/>
          </a:p>
        </p:txBody>
      </p:sp>
      <p:sp>
        <p:nvSpPr>
          <p:cNvPr id="15" name="Shape 13"/>
          <p:cNvSpPr/>
          <p:nvPr/>
        </p:nvSpPr>
        <p:spPr>
          <a:xfrm>
            <a:off x="5550408" y="2578608"/>
            <a:ext cx="1097280" cy="1097280"/>
          </a:xfrm>
          <a:prstGeom prst="ellipse">
            <a:avLst/>
          </a:prstGeom>
          <a:solidFill>
            <a:srgbClr val="0B1E33"/>
          </a:solidFill>
          <a:ln w="6350">
            <a:solidFill>
              <a:srgbClr val="0B1E33"/>
            </a:solidFill>
            <a:prstDash val="solid"/>
          </a:ln>
        </p:spPr>
      </p:sp>
      <p:sp>
        <p:nvSpPr>
          <p:cNvPr id="16" name="Text 14"/>
          <p:cNvSpPr txBox="1"/>
          <p:nvPr/>
        </p:nvSpPr>
        <p:spPr>
          <a:xfrm>
            <a:off x="5550408" y="2578608"/>
            <a:ext cx="1097280" cy="10972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≈400×</a:t>
            </a:r>
            <a:endParaRPr lang="en-US" sz="2000" dirty="0"/>
          </a:p>
        </p:txBody>
      </p:sp>
      <p:sp>
        <p:nvSpPr>
          <p:cNvPr id="17" name="Shape 15"/>
          <p:cNvSpPr/>
          <p:nvPr/>
        </p:nvSpPr>
        <p:spPr>
          <a:xfrm>
            <a:off x="548640" y="5120640"/>
            <a:ext cx="3291840" cy="868680"/>
          </a:xfrm>
          <a:prstGeom prst="roundRect">
            <a:avLst>
              <a:gd name="adj" fmla="val 10526"/>
            </a:avLst>
          </a:prstGeom>
          <a:solidFill>
            <a:srgbClr val="EEF3F8"/>
          </a:solidFill>
          <a:ln w="6350">
            <a:solidFill>
              <a:srgbClr val="EEF3F8"/>
            </a:solidFill>
            <a:prstDash val="solid"/>
          </a:ln>
        </p:spPr>
      </p:sp>
      <p:sp>
        <p:nvSpPr>
          <p:cNvPr id="18" name="Text 16"/>
          <p:cNvSpPr txBox="1"/>
          <p:nvPr/>
        </p:nvSpPr>
        <p:spPr>
          <a:xfrm>
            <a:off x="777240" y="5193792"/>
            <a:ext cx="2926080" cy="292608"/>
          </a:xfrm>
          <a:prstGeom prst="rect">
            <a:avLst/>
          </a:prstGeom>
          <a:noFill/>
          <a:ln/>
        </p:spPr>
        <p:txBody>
          <a:bodyPr wrap="square" lIns="0" tIns="0" rIns="0" bIns="0" rtlCol="0" anchor="t"/>
          <a:lstStyle/>
          <a:p>
            <a:pPr indent="0" marL="0">
              <a:buNone/>
            </a:pPr>
            <a:r>
              <a:rPr lang="en-US" sz="1300" b="1" dirty="0">
                <a:solidFill>
                  <a:srgbClr val="5B6B7B"/>
                </a:solidFill>
                <a:latin typeface="Calibri" pitchFamily="34" charset="0"/>
                <a:ea typeface="Calibri" pitchFamily="34" charset="-122"/>
                <a:cs typeface="Calibri" pitchFamily="34" charset="-120"/>
              </a:rPr>
              <a:t>v1 · başvuru</a:t>
            </a:r>
            <a:endParaRPr lang="en-US" sz="1300" dirty="0"/>
          </a:p>
        </p:txBody>
      </p:sp>
      <p:sp>
        <p:nvSpPr>
          <p:cNvPr id="19" name="Text 17"/>
          <p:cNvSpPr txBox="1"/>
          <p:nvPr/>
        </p:nvSpPr>
        <p:spPr>
          <a:xfrm>
            <a:off x="777240" y="5486400"/>
            <a:ext cx="2926080" cy="41148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50+ drone'luk sürü, her görev</a:t>
            </a:r>
            <a:endParaRPr lang="en-US" sz="1400" dirty="0"/>
          </a:p>
        </p:txBody>
      </p:sp>
      <p:sp>
        <p:nvSpPr>
          <p:cNvPr id="20" name="Shape 18"/>
          <p:cNvSpPr/>
          <p:nvPr/>
        </p:nvSpPr>
        <p:spPr>
          <a:xfrm>
            <a:off x="3913632" y="5554980"/>
            <a:ext cx="420624" cy="914"/>
          </a:xfrm>
          <a:prstGeom prst="line">
            <a:avLst/>
          </a:prstGeom>
          <a:noFill/>
          <a:ln w="25400">
            <a:solidFill>
              <a:srgbClr val="5B6B7B"/>
            </a:solidFill>
            <a:prstDash val="solid"/>
            <a:tailEnd type="triangle"/>
          </a:ln>
        </p:spPr>
      </p:sp>
      <p:sp>
        <p:nvSpPr>
          <p:cNvPr id="21" name="Shape 19"/>
          <p:cNvSpPr/>
          <p:nvPr/>
        </p:nvSpPr>
        <p:spPr>
          <a:xfrm>
            <a:off x="4407408" y="5120640"/>
            <a:ext cx="3291840" cy="868680"/>
          </a:xfrm>
          <a:prstGeom prst="roundRect">
            <a:avLst>
              <a:gd name="adj" fmla="val 10526"/>
            </a:avLst>
          </a:prstGeom>
          <a:solidFill>
            <a:srgbClr val="EEF3F8"/>
          </a:solidFill>
          <a:ln w="6350">
            <a:solidFill>
              <a:srgbClr val="EEF3F8"/>
            </a:solidFill>
            <a:prstDash val="solid"/>
          </a:ln>
        </p:spPr>
      </p:sp>
      <p:sp>
        <p:nvSpPr>
          <p:cNvPr id="22" name="Text 20"/>
          <p:cNvSpPr txBox="1"/>
          <p:nvPr/>
        </p:nvSpPr>
        <p:spPr>
          <a:xfrm>
            <a:off x="4636008" y="5193792"/>
            <a:ext cx="2926080" cy="292608"/>
          </a:xfrm>
          <a:prstGeom prst="rect">
            <a:avLst/>
          </a:prstGeom>
          <a:noFill/>
          <a:ln/>
        </p:spPr>
        <p:txBody>
          <a:bodyPr wrap="square" lIns="0" tIns="0" rIns="0" bIns="0" rtlCol="0" anchor="t"/>
          <a:lstStyle/>
          <a:p>
            <a:pPr indent="0" marL="0">
              <a:buNone/>
            </a:pPr>
            <a:r>
              <a:rPr lang="en-US" sz="1300" b="1" dirty="0">
                <a:solidFill>
                  <a:srgbClr val="1479C4"/>
                </a:solidFill>
                <a:latin typeface="Calibri" pitchFamily="34" charset="0"/>
                <a:ea typeface="Calibri" pitchFamily="34" charset="-122"/>
                <a:cs typeface="Calibri" pitchFamily="34" charset="-120"/>
              </a:rPr>
              <a:t>v2 · final</a:t>
            </a:r>
            <a:endParaRPr lang="en-US" sz="1300" dirty="0"/>
          </a:p>
        </p:txBody>
      </p:sp>
      <p:sp>
        <p:nvSpPr>
          <p:cNvPr id="23" name="Text 21"/>
          <p:cNvSpPr txBox="1"/>
          <p:nvPr/>
        </p:nvSpPr>
        <p:spPr>
          <a:xfrm>
            <a:off x="4636008" y="5486400"/>
            <a:ext cx="2926080" cy="41148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2 drone, bölgesel havalimanı</a:t>
            </a:r>
            <a:endParaRPr lang="en-US" sz="1400" dirty="0"/>
          </a:p>
        </p:txBody>
      </p:sp>
      <p:sp>
        <p:nvSpPr>
          <p:cNvPr id="24" name="Shape 22"/>
          <p:cNvSpPr/>
          <p:nvPr/>
        </p:nvSpPr>
        <p:spPr>
          <a:xfrm>
            <a:off x="7772400" y="5554980"/>
            <a:ext cx="420624" cy="914"/>
          </a:xfrm>
          <a:prstGeom prst="line">
            <a:avLst/>
          </a:prstGeom>
          <a:noFill/>
          <a:ln w="25400">
            <a:solidFill>
              <a:srgbClr val="5B6B7B"/>
            </a:solidFill>
            <a:prstDash val="solid"/>
            <a:tailEnd type="triangle"/>
          </a:ln>
        </p:spPr>
      </p:sp>
      <p:sp>
        <p:nvSpPr>
          <p:cNvPr id="25" name="Shape 23"/>
          <p:cNvSpPr/>
          <p:nvPr/>
        </p:nvSpPr>
        <p:spPr>
          <a:xfrm>
            <a:off x="8266176" y="5120640"/>
            <a:ext cx="3291840" cy="868680"/>
          </a:xfrm>
          <a:prstGeom prst="roundRect">
            <a:avLst>
              <a:gd name="adj" fmla="val 10526"/>
            </a:avLst>
          </a:prstGeom>
          <a:solidFill>
            <a:srgbClr val="0B1E33"/>
          </a:solidFill>
          <a:ln w="6350">
            <a:solidFill>
              <a:srgbClr val="0B1E33"/>
            </a:solidFill>
            <a:prstDash val="solid"/>
          </a:ln>
        </p:spPr>
      </p:sp>
      <p:sp>
        <p:nvSpPr>
          <p:cNvPr id="26" name="Text 24"/>
          <p:cNvSpPr txBox="1"/>
          <p:nvPr/>
        </p:nvSpPr>
        <p:spPr>
          <a:xfrm>
            <a:off x="8494776" y="5193792"/>
            <a:ext cx="2926080" cy="292608"/>
          </a:xfrm>
          <a:prstGeom prst="rect">
            <a:avLst/>
          </a:prstGeom>
          <a:noFill/>
          <a:ln/>
        </p:spPr>
        <p:txBody>
          <a:bodyPr wrap="square" lIns="0" tIns="0" rIns="0" bIns="0" rtlCol="0" anchor="t"/>
          <a:lstStyle/>
          <a:p>
            <a:pPr indent="0" marL="0">
              <a:buNone/>
            </a:pPr>
            <a:r>
              <a:rPr lang="en-US" sz="1300" b="1" dirty="0">
                <a:solidFill>
                  <a:srgbClr val="E8A317"/>
                </a:solidFill>
                <a:latin typeface="Calibri" pitchFamily="34" charset="0"/>
                <a:ea typeface="Calibri" pitchFamily="34" charset="-122"/>
                <a:cs typeface="Calibri" pitchFamily="34" charset="-120"/>
              </a:rPr>
              <a:t>v3 · kovan</a:t>
            </a:r>
            <a:endParaRPr lang="en-US" sz="1300" dirty="0"/>
          </a:p>
        </p:txBody>
      </p:sp>
      <p:sp>
        <p:nvSpPr>
          <p:cNvPr id="27" name="Text 25"/>
          <p:cNvSpPr txBox="1"/>
          <p:nvPr/>
        </p:nvSpPr>
        <p:spPr>
          <a:xfrm>
            <a:off x="8494776" y="5486400"/>
            <a:ext cx="2926080" cy="4114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görevine göre uzmanlaşmış 4 drone + 2 nöbetçi</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966960" cy="777240"/>
          </a:xfrm>
          <a:prstGeom prst="rect">
            <a:avLst/>
          </a:prstGeom>
          <a:noFill/>
          <a:ln/>
        </p:spPr>
        <p:txBody>
          <a:bodyPr wrap="square" lIns="0" tIns="0" rIns="0" bIns="0" rtlCol="0" anchor="ctr"/>
          <a:lstStyle/>
          <a:p>
            <a:pPr algn="l" indent="0" marL="0">
              <a:buNone/>
            </a:pPr>
            <a:r>
              <a:rPr lang="en-US" sz="3200" b="1" dirty="0">
                <a:solidFill>
                  <a:srgbClr val="0B1E33"/>
                </a:solidFill>
              </a:rPr>
              <a:t>Kovan: kastlar ve petek</a:t>
            </a:r>
            <a:endParaRPr lang="en-US" sz="3200" dirty="0"/>
          </a:p>
        </p:txBody>
      </p:sp>
      <p:sp>
        <p:nvSpPr>
          <p:cNvPr id="3" name="Shape 1"/>
          <p:cNvSpPr/>
          <p:nvPr/>
        </p:nvSpPr>
        <p:spPr>
          <a:xfrm rot="5400000">
            <a:off x="419913" y="1500327"/>
            <a:ext cx="1921662" cy="1664208"/>
          </a:xfrm>
          <a:prstGeom prst="hexagon">
            <a:avLst/>
          </a:prstGeom>
          <a:solidFill>
            <a:srgbClr val="1479C4"/>
          </a:solidFill>
          <a:ln w="1905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1207008" y="1546047"/>
            <a:ext cx="347472" cy="347472"/>
          </a:xfrm>
          <a:prstGeom prst="rect">
            <a:avLst/>
          </a:prstGeom>
        </p:spPr>
      </p:pic>
      <p:sp>
        <p:nvSpPr>
          <p:cNvPr id="5" name="Text 2"/>
          <p:cNvSpPr txBox="1"/>
          <p:nvPr/>
        </p:nvSpPr>
        <p:spPr>
          <a:xfrm>
            <a:off x="649224" y="1930095"/>
            <a:ext cx="1463040" cy="310896"/>
          </a:xfrm>
          <a:prstGeom prst="rect">
            <a:avLst/>
          </a:prstGeom>
          <a:noFill/>
          <a:ln/>
        </p:spPr>
        <p:txBody>
          <a:bodyPr wrap="square" lIns="0" tIns="0" rIns="0" bIns="0"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Kâşif</a:t>
            </a:r>
            <a:endParaRPr lang="en-US" sz="1800" dirty="0"/>
          </a:p>
        </p:txBody>
      </p:sp>
      <p:sp>
        <p:nvSpPr>
          <p:cNvPr id="6" name="Text 3"/>
          <p:cNvSpPr txBox="1"/>
          <p:nvPr/>
        </p:nvSpPr>
        <p:spPr>
          <a:xfrm>
            <a:off x="649224" y="2240991"/>
            <a:ext cx="1463040"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 2</a:t>
            </a:r>
            <a:endParaRPr lang="en-US" sz="1200" dirty="0"/>
          </a:p>
        </p:txBody>
      </p:sp>
      <p:sp>
        <p:nvSpPr>
          <p:cNvPr id="7" name="Text 4"/>
          <p:cNvSpPr txBox="1"/>
          <p:nvPr/>
        </p:nvSpPr>
        <p:spPr>
          <a:xfrm>
            <a:off x="722376" y="2515311"/>
            <a:ext cx="1316736"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Pisti tarar, nesneyi bulur</a:t>
            </a:r>
            <a:endParaRPr lang="en-US" sz="1100" dirty="0"/>
          </a:p>
        </p:txBody>
      </p:sp>
      <p:sp>
        <p:nvSpPr>
          <p:cNvPr id="8" name="Shape 5"/>
          <p:cNvSpPr/>
          <p:nvPr/>
        </p:nvSpPr>
        <p:spPr>
          <a:xfrm rot="5400000">
            <a:off x="2157273" y="1500327"/>
            <a:ext cx="1921662" cy="1664208"/>
          </a:xfrm>
          <a:prstGeom prst="hexagon">
            <a:avLst/>
          </a:prstGeom>
          <a:solidFill>
            <a:srgbClr val="E8A317"/>
          </a:solidFill>
          <a:ln w="1905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2944368" y="1546047"/>
            <a:ext cx="347472" cy="347472"/>
          </a:xfrm>
          <a:prstGeom prst="rect">
            <a:avLst/>
          </a:prstGeom>
        </p:spPr>
      </p:pic>
      <p:sp>
        <p:nvSpPr>
          <p:cNvPr id="10" name="Text 6"/>
          <p:cNvSpPr txBox="1"/>
          <p:nvPr/>
        </p:nvSpPr>
        <p:spPr>
          <a:xfrm>
            <a:off x="2386584" y="1930095"/>
            <a:ext cx="1463040" cy="310896"/>
          </a:xfrm>
          <a:prstGeom prst="rect">
            <a:avLst/>
          </a:prstGeom>
          <a:noFill/>
          <a:ln/>
        </p:spPr>
        <p:txBody>
          <a:bodyPr wrap="square" lIns="0" tIns="0" rIns="0" bIns="0"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Bekçi</a:t>
            </a:r>
            <a:endParaRPr lang="en-US" sz="1800" dirty="0"/>
          </a:p>
        </p:txBody>
      </p:sp>
      <p:sp>
        <p:nvSpPr>
          <p:cNvPr id="11" name="Text 7"/>
          <p:cNvSpPr txBox="1"/>
          <p:nvPr/>
        </p:nvSpPr>
        <p:spPr>
          <a:xfrm>
            <a:off x="2386584" y="2240991"/>
            <a:ext cx="1463040"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 1</a:t>
            </a:r>
            <a:endParaRPr lang="en-US" sz="1200" dirty="0"/>
          </a:p>
        </p:txBody>
      </p:sp>
      <p:sp>
        <p:nvSpPr>
          <p:cNvPr id="12" name="Text 8"/>
          <p:cNvSpPr txBox="1"/>
          <p:nvPr/>
        </p:nvSpPr>
        <p:spPr>
          <a:xfrm>
            <a:off x="2459736" y="2515311"/>
            <a:ext cx="1316736"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Kuşu uzaklaştırır, çiti dolaşır</a:t>
            </a:r>
            <a:endParaRPr lang="en-US" sz="1100" dirty="0"/>
          </a:p>
        </p:txBody>
      </p:sp>
      <p:sp>
        <p:nvSpPr>
          <p:cNvPr id="13" name="Shape 9"/>
          <p:cNvSpPr/>
          <p:nvPr/>
        </p:nvSpPr>
        <p:spPr>
          <a:xfrm rot="5400000">
            <a:off x="3894633" y="1500327"/>
            <a:ext cx="1921662" cy="1664208"/>
          </a:xfrm>
          <a:prstGeom prst="hexagon">
            <a:avLst/>
          </a:prstGeom>
          <a:solidFill>
            <a:srgbClr val="3E9A31"/>
          </a:solidFill>
          <a:ln w="1905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4681728" y="1546047"/>
            <a:ext cx="347472" cy="347472"/>
          </a:xfrm>
          <a:prstGeom prst="rect">
            <a:avLst/>
          </a:prstGeom>
        </p:spPr>
      </p:pic>
      <p:sp>
        <p:nvSpPr>
          <p:cNvPr id="15" name="Text 10"/>
          <p:cNvSpPr txBox="1"/>
          <p:nvPr/>
        </p:nvSpPr>
        <p:spPr>
          <a:xfrm>
            <a:off x="4123944" y="1930095"/>
            <a:ext cx="1463040" cy="310896"/>
          </a:xfrm>
          <a:prstGeom prst="rect">
            <a:avLst/>
          </a:prstGeom>
          <a:noFill/>
          <a:ln/>
        </p:spPr>
        <p:txBody>
          <a:bodyPr wrap="square" lIns="0" tIns="0" rIns="0" bIns="0"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İşçi</a:t>
            </a:r>
            <a:endParaRPr lang="en-US" sz="1800" dirty="0"/>
          </a:p>
        </p:txBody>
      </p:sp>
      <p:sp>
        <p:nvSpPr>
          <p:cNvPr id="16" name="Text 11"/>
          <p:cNvSpPr txBox="1"/>
          <p:nvPr/>
        </p:nvSpPr>
        <p:spPr>
          <a:xfrm>
            <a:off x="4123944" y="2240991"/>
            <a:ext cx="1463040"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 1</a:t>
            </a:r>
            <a:endParaRPr lang="en-US" sz="1200" dirty="0"/>
          </a:p>
        </p:txBody>
      </p:sp>
      <p:sp>
        <p:nvSpPr>
          <p:cNvPr id="17" name="Text 12"/>
          <p:cNvSpPr txBox="1"/>
          <p:nvPr/>
        </p:nvSpPr>
        <p:spPr>
          <a:xfrm>
            <a:off x="4197096" y="2515311"/>
            <a:ext cx="1316736"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Bulunan küçük nesneyi toplar</a:t>
            </a:r>
            <a:endParaRPr lang="en-US" sz="1100" dirty="0"/>
          </a:p>
        </p:txBody>
      </p:sp>
      <p:sp>
        <p:nvSpPr>
          <p:cNvPr id="18" name="Shape 13"/>
          <p:cNvSpPr/>
          <p:nvPr/>
        </p:nvSpPr>
        <p:spPr>
          <a:xfrm rot="5400000">
            <a:off x="1288593" y="2996437"/>
            <a:ext cx="1921662" cy="1664208"/>
          </a:xfrm>
          <a:prstGeom prst="hexagon">
            <a:avLst/>
          </a:prstGeom>
          <a:solidFill>
            <a:srgbClr val="7A4FB5"/>
          </a:solidFill>
          <a:ln w="1905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2075688" y="3042157"/>
            <a:ext cx="347472" cy="347472"/>
          </a:xfrm>
          <a:prstGeom prst="rect">
            <a:avLst/>
          </a:prstGeom>
        </p:spPr>
      </p:pic>
      <p:sp>
        <p:nvSpPr>
          <p:cNvPr id="20" name="Text 14"/>
          <p:cNvSpPr txBox="1"/>
          <p:nvPr/>
        </p:nvSpPr>
        <p:spPr>
          <a:xfrm>
            <a:off x="1517904" y="3426205"/>
            <a:ext cx="1463040" cy="310896"/>
          </a:xfrm>
          <a:prstGeom prst="rect">
            <a:avLst/>
          </a:prstGeom>
          <a:noFill/>
          <a:ln/>
        </p:spPr>
        <p:txBody>
          <a:bodyPr wrap="square" lIns="0" tIns="0" rIns="0" bIns="0"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Bakıcı</a:t>
            </a:r>
            <a:endParaRPr lang="en-US" sz="1800" dirty="0"/>
          </a:p>
        </p:txBody>
      </p:sp>
      <p:sp>
        <p:nvSpPr>
          <p:cNvPr id="21" name="Text 15"/>
          <p:cNvSpPr txBox="1"/>
          <p:nvPr/>
        </p:nvSpPr>
        <p:spPr>
          <a:xfrm>
            <a:off x="1517904" y="3737101"/>
            <a:ext cx="1463040"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işçinin rolü · kış</a:t>
            </a:r>
            <a:endParaRPr lang="en-US" sz="1200" dirty="0"/>
          </a:p>
        </p:txBody>
      </p:sp>
      <p:sp>
        <p:nvSpPr>
          <p:cNvPr id="22" name="Text 16"/>
          <p:cNvSpPr txBox="1"/>
          <p:nvPr/>
        </p:nvSpPr>
        <p:spPr>
          <a:xfrm>
            <a:off x="1591056" y="4011421"/>
            <a:ext cx="1316736"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Uçakta buzun yerini haritalar</a:t>
            </a:r>
            <a:endParaRPr lang="en-US" sz="1100" dirty="0"/>
          </a:p>
        </p:txBody>
      </p:sp>
      <p:sp>
        <p:nvSpPr>
          <p:cNvPr id="23" name="Shape 17"/>
          <p:cNvSpPr/>
          <p:nvPr/>
        </p:nvSpPr>
        <p:spPr>
          <a:xfrm rot="5400000">
            <a:off x="3025953" y="2996437"/>
            <a:ext cx="1921662" cy="1664208"/>
          </a:xfrm>
          <a:prstGeom prst="hexagon">
            <a:avLst/>
          </a:prstGeom>
          <a:solidFill>
            <a:srgbClr val="0B1E33"/>
          </a:solidFill>
          <a:ln w="1905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3813048" y="3042157"/>
            <a:ext cx="347472" cy="347472"/>
          </a:xfrm>
          <a:prstGeom prst="rect">
            <a:avLst/>
          </a:prstGeom>
        </p:spPr>
      </p:pic>
      <p:sp>
        <p:nvSpPr>
          <p:cNvPr id="25" name="Text 18"/>
          <p:cNvSpPr txBox="1"/>
          <p:nvPr/>
        </p:nvSpPr>
        <p:spPr>
          <a:xfrm>
            <a:off x="3255264" y="3426205"/>
            <a:ext cx="1463040" cy="310896"/>
          </a:xfrm>
          <a:prstGeom prst="rect">
            <a:avLst/>
          </a:prstGeom>
          <a:noFill/>
          <a:ln/>
        </p:spPr>
        <p:txBody>
          <a:bodyPr wrap="square" lIns="0" tIns="0" rIns="0" bIns="0"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Nöbetçi</a:t>
            </a:r>
            <a:endParaRPr lang="en-US" sz="1800" dirty="0"/>
          </a:p>
        </p:txBody>
      </p:sp>
      <p:sp>
        <p:nvSpPr>
          <p:cNvPr id="26" name="Text 19"/>
          <p:cNvSpPr txBox="1"/>
          <p:nvPr/>
        </p:nvSpPr>
        <p:spPr>
          <a:xfrm>
            <a:off x="3255264" y="3737101"/>
            <a:ext cx="1463040" cy="237744"/>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 2 direk</a:t>
            </a:r>
            <a:endParaRPr lang="en-US" sz="1200" dirty="0"/>
          </a:p>
        </p:txBody>
      </p:sp>
      <p:sp>
        <p:nvSpPr>
          <p:cNvPr id="27" name="Text 20"/>
          <p:cNvSpPr txBox="1"/>
          <p:nvPr/>
        </p:nvSpPr>
        <p:spPr>
          <a:xfrm>
            <a:off x="3328416" y="4011421"/>
            <a:ext cx="1316736"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Pisti izler, olayı ilk fark eder</a:t>
            </a:r>
            <a:endParaRPr lang="en-US" sz="1100" dirty="0"/>
          </a:p>
        </p:txBody>
      </p:sp>
      <p:sp>
        <p:nvSpPr>
          <p:cNvPr id="28" name="Shape 21"/>
          <p:cNvSpPr/>
          <p:nvPr/>
        </p:nvSpPr>
        <p:spPr>
          <a:xfrm>
            <a:off x="6355080" y="1417320"/>
            <a:ext cx="5285232" cy="1207008"/>
          </a:xfrm>
          <a:prstGeom prst="roundRect">
            <a:avLst>
              <a:gd name="adj" fmla="val 7576"/>
            </a:avLst>
          </a:prstGeom>
          <a:solidFill>
            <a:srgbClr val="EEF3F8"/>
          </a:solidFill>
          <a:ln w="6350">
            <a:solidFill>
              <a:srgbClr val="EEF3F8"/>
            </a:solidFill>
            <a:prstDash val="solid"/>
          </a:ln>
        </p:spPr>
      </p:sp>
      <p:sp>
        <p:nvSpPr>
          <p:cNvPr id="29" name="Text 22"/>
          <p:cNvSpPr txBox="1"/>
          <p:nvPr/>
        </p:nvSpPr>
        <p:spPr>
          <a:xfrm>
            <a:off x="6583680" y="1527048"/>
            <a:ext cx="4828032" cy="320040"/>
          </a:xfrm>
          <a:prstGeom prst="rect">
            <a:avLst/>
          </a:prstGeom>
          <a:noFill/>
          <a:ln/>
        </p:spPr>
        <p:txBody>
          <a:bodyPr wrap="square" lIns="0" tIns="0" rIns="0" bIns="0" rtlCol="0" anchor="t"/>
          <a:lstStyle/>
          <a:p>
            <a:pPr indent="0" marL="0">
              <a:buNone/>
            </a:pPr>
            <a:r>
              <a:rPr lang="en-US" sz="1600" b="1" dirty="0">
                <a:solidFill>
                  <a:srgbClr val="0B1E33"/>
                </a:solidFill>
                <a:latin typeface="Calibri" pitchFamily="34" charset="0"/>
                <a:ea typeface="Calibri" pitchFamily="34" charset="-122"/>
                <a:cs typeface="Calibri" pitchFamily="34" charset="-120"/>
              </a:rPr>
              <a:t>Petek A · pist 04 ucu</a:t>
            </a:r>
            <a:endParaRPr lang="en-US" sz="1600" dirty="0"/>
          </a:p>
        </p:txBody>
      </p:sp>
      <p:sp>
        <p:nvSpPr>
          <p:cNvPr id="30" name="Shape 23"/>
          <p:cNvSpPr/>
          <p:nvPr/>
        </p:nvSpPr>
        <p:spPr>
          <a:xfrm rot="5400000">
            <a:off x="6590550" y="2011680"/>
            <a:ext cx="443460" cy="384048"/>
          </a:xfrm>
          <a:prstGeom prst="hexagon">
            <a:avLst/>
          </a:prstGeom>
          <a:solidFill>
            <a:srgbClr val="1479C4"/>
          </a:solidFill>
          <a:ln w="19050">
            <a:solidFill>
              <a:srgbClr val="1479C4"/>
            </a:solidFill>
            <a:prstDash val="solid"/>
          </a:ln>
        </p:spPr>
      </p:sp>
      <p:sp>
        <p:nvSpPr>
          <p:cNvPr id="31" name="Text 24"/>
          <p:cNvSpPr txBox="1"/>
          <p:nvPr/>
        </p:nvSpPr>
        <p:spPr>
          <a:xfrm>
            <a:off x="7068312" y="2048256"/>
            <a:ext cx="1188720" cy="310896"/>
          </a:xfrm>
          <a:prstGeom prst="rect">
            <a:avLst/>
          </a:prstGeom>
          <a:noFill/>
          <a:ln/>
        </p:spPr>
        <p:txBody>
          <a:bodyPr wrap="square" lIns="0" tIns="0" rIns="0" bIns="0" rtlCol="0" anchor="ctr"/>
          <a:lstStyle/>
          <a:p>
            <a:pPr indent="0" marL="0">
              <a:buNone/>
            </a:pPr>
            <a:r>
              <a:rPr lang="en-US" sz="1300" dirty="0">
                <a:solidFill>
                  <a:srgbClr val="1F2D3D"/>
                </a:solidFill>
                <a:latin typeface="Calibri" pitchFamily="34" charset="0"/>
                <a:ea typeface="Calibri" pitchFamily="34" charset="-122"/>
                <a:cs typeface="Calibri" pitchFamily="34" charset="-120"/>
              </a:rPr>
              <a:t>Kâşif-1</a:t>
            </a:r>
            <a:endParaRPr lang="en-US" sz="1300" dirty="0"/>
          </a:p>
        </p:txBody>
      </p:sp>
      <p:sp>
        <p:nvSpPr>
          <p:cNvPr id="32" name="Shape 25"/>
          <p:cNvSpPr/>
          <p:nvPr/>
        </p:nvSpPr>
        <p:spPr>
          <a:xfrm rot="5400000">
            <a:off x="8071878" y="2011680"/>
            <a:ext cx="443460" cy="384048"/>
          </a:xfrm>
          <a:prstGeom prst="hexagon">
            <a:avLst/>
          </a:prstGeom>
          <a:solidFill>
            <a:srgbClr val="E8A317"/>
          </a:solidFill>
          <a:ln w="19050">
            <a:solidFill>
              <a:srgbClr val="E8A317"/>
            </a:solidFill>
            <a:prstDash val="solid"/>
          </a:ln>
        </p:spPr>
      </p:sp>
      <p:sp>
        <p:nvSpPr>
          <p:cNvPr id="33" name="Text 26"/>
          <p:cNvSpPr txBox="1"/>
          <p:nvPr/>
        </p:nvSpPr>
        <p:spPr>
          <a:xfrm>
            <a:off x="8549640" y="2048256"/>
            <a:ext cx="1188720" cy="310896"/>
          </a:xfrm>
          <a:prstGeom prst="rect">
            <a:avLst/>
          </a:prstGeom>
          <a:noFill/>
          <a:ln/>
        </p:spPr>
        <p:txBody>
          <a:bodyPr wrap="square" lIns="0" tIns="0" rIns="0" bIns="0" rtlCol="0" anchor="ctr"/>
          <a:lstStyle/>
          <a:p>
            <a:pPr indent="0" marL="0">
              <a:buNone/>
            </a:pPr>
            <a:r>
              <a:rPr lang="en-US" sz="1300" dirty="0">
                <a:solidFill>
                  <a:srgbClr val="1F2D3D"/>
                </a:solidFill>
                <a:latin typeface="Calibri" pitchFamily="34" charset="0"/>
                <a:ea typeface="Calibri" pitchFamily="34" charset="-122"/>
                <a:cs typeface="Calibri" pitchFamily="34" charset="-120"/>
              </a:rPr>
              <a:t>Bekçi</a:t>
            </a:r>
            <a:endParaRPr lang="en-US" sz="1300" dirty="0"/>
          </a:p>
        </p:txBody>
      </p:sp>
      <p:sp>
        <p:nvSpPr>
          <p:cNvPr id="34" name="Shape 27"/>
          <p:cNvSpPr/>
          <p:nvPr/>
        </p:nvSpPr>
        <p:spPr>
          <a:xfrm rot="5400000">
            <a:off x="9553206" y="2011680"/>
            <a:ext cx="443460" cy="384048"/>
          </a:xfrm>
          <a:prstGeom prst="hexagon">
            <a:avLst/>
          </a:prstGeom>
          <a:solidFill>
            <a:srgbClr val="0B1E33"/>
          </a:solidFill>
          <a:ln w="19050">
            <a:solidFill>
              <a:srgbClr val="0B1E33"/>
            </a:solidFill>
            <a:prstDash val="solid"/>
          </a:ln>
        </p:spPr>
      </p:sp>
      <p:sp>
        <p:nvSpPr>
          <p:cNvPr id="35" name="Text 28"/>
          <p:cNvSpPr txBox="1"/>
          <p:nvPr/>
        </p:nvSpPr>
        <p:spPr>
          <a:xfrm>
            <a:off x="10030968" y="2048256"/>
            <a:ext cx="1188720" cy="310896"/>
          </a:xfrm>
          <a:prstGeom prst="rect">
            <a:avLst/>
          </a:prstGeom>
          <a:noFill/>
          <a:ln/>
        </p:spPr>
        <p:txBody>
          <a:bodyPr wrap="square" lIns="0" tIns="0" rIns="0" bIns="0" rtlCol="0" anchor="ctr"/>
          <a:lstStyle/>
          <a:p>
            <a:pPr indent="0" marL="0">
              <a:buNone/>
            </a:pPr>
            <a:r>
              <a:rPr lang="en-US" sz="1300" dirty="0">
                <a:solidFill>
                  <a:srgbClr val="1F2D3D"/>
                </a:solidFill>
                <a:latin typeface="Calibri" pitchFamily="34" charset="0"/>
                <a:ea typeface="Calibri" pitchFamily="34" charset="-122"/>
                <a:cs typeface="Calibri" pitchFamily="34" charset="-120"/>
              </a:rPr>
              <a:t>Nöbetçi direk</a:t>
            </a:r>
            <a:endParaRPr lang="en-US" sz="1300" dirty="0"/>
          </a:p>
        </p:txBody>
      </p:sp>
      <p:sp>
        <p:nvSpPr>
          <p:cNvPr id="36" name="Text 29"/>
          <p:cNvSpPr txBox="1"/>
          <p:nvPr/>
        </p:nvSpPr>
        <p:spPr>
          <a:xfrm>
            <a:off x="10222992" y="1545336"/>
            <a:ext cx="1234440" cy="274320"/>
          </a:xfrm>
          <a:prstGeom prst="rect">
            <a:avLst/>
          </a:prstGeom>
          <a:noFill/>
          <a:ln/>
        </p:spPr>
        <p:txBody>
          <a:bodyPr wrap="square" lIns="0" tIns="0" rIns="0" bIns="0" rtlCol="0" anchor="t"/>
          <a:lstStyle/>
          <a:p>
            <a:pPr algn="r" indent="0" marL="0">
              <a:buNone/>
            </a:pPr>
            <a:endParaRPr lang="en-US" sz="1100" dirty="0"/>
          </a:p>
        </p:txBody>
      </p:sp>
      <p:sp>
        <p:nvSpPr>
          <p:cNvPr id="37" name="Shape 30"/>
          <p:cNvSpPr/>
          <p:nvPr/>
        </p:nvSpPr>
        <p:spPr>
          <a:xfrm>
            <a:off x="6355080" y="2761488"/>
            <a:ext cx="5285232" cy="1207008"/>
          </a:xfrm>
          <a:prstGeom prst="roundRect">
            <a:avLst>
              <a:gd name="adj" fmla="val 7576"/>
            </a:avLst>
          </a:prstGeom>
          <a:solidFill>
            <a:srgbClr val="EEF3F8"/>
          </a:solidFill>
          <a:ln w="6350">
            <a:solidFill>
              <a:srgbClr val="EEF3F8"/>
            </a:solidFill>
            <a:prstDash val="solid"/>
          </a:ln>
        </p:spPr>
      </p:sp>
      <p:sp>
        <p:nvSpPr>
          <p:cNvPr id="38" name="Text 31"/>
          <p:cNvSpPr txBox="1"/>
          <p:nvPr/>
        </p:nvSpPr>
        <p:spPr>
          <a:xfrm>
            <a:off x="6583680" y="2871216"/>
            <a:ext cx="4828032" cy="320040"/>
          </a:xfrm>
          <a:prstGeom prst="rect">
            <a:avLst/>
          </a:prstGeom>
          <a:noFill/>
          <a:ln/>
        </p:spPr>
        <p:txBody>
          <a:bodyPr wrap="square" lIns="0" tIns="0" rIns="0" bIns="0" rtlCol="0" anchor="t"/>
          <a:lstStyle/>
          <a:p>
            <a:pPr indent="0" marL="0">
              <a:buNone/>
            </a:pPr>
            <a:r>
              <a:rPr lang="en-US" sz="1600" b="1" dirty="0">
                <a:solidFill>
                  <a:srgbClr val="0B1E33"/>
                </a:solidFill>
                <a:latin typeface="Calibri" pitchFamily="34" charset="0"/>
                <a:ea typeface="Calibri" pitchFamily="34" charset="-122"/>
                <a:cs typeface="Calibri" pitchFamily="34" charset="-120"/>
              </a:rPr>
              <a:t>Petek B · pist 22 ucu</a:t>
            </a:r>
            <a:endParaRPr lang="en-US" sz="1600" dirty="0"/>
          </a:p>
        </p:txBody>
      </p:sp>
      <p:sp>
        <p:nvSpPr>
          <p:cNvPr id="39" name="Shape 32"/>
          <p:cNvSpPr/>
          <p:nvPr/>
        </p:nvSpPr>
        <p:spPr>
          <a:xfrm rot="5400000">
            <a:off x="6590550" y="3355848"/>
            <a:ext cx="443460" cy="384048"/>
          </a:xfrm>
          <a:prstGeom prst="hexagon">
            <a:avLst/>
          </a:prstGeom>
          <a:solidFill>
            <a:srgbClr val="1479C4"/>
          </a:solidFill>
          <a:ln w="19050">
            <a:solidFill>
              <a:srgbClr val="1479C4"/>
            </a:solidFill>
            <a:prstDash val="solid"/>
          </a:ln>
        </p:spPr>
      </p:sp>
      <p:sp>
        <p:nvSpPr>
          <p:cNvPr id="40" name="Text 33"/>
          <p:cNvSpPr txBox="1"/>
          <p:nvPr/>
        </p:nvSpPr>
        <p:spPr>
          <a:xfrm>
            <a:off x="7068312" y="3392424"/>
            <a:ext cx="1188720" cy="310896"/>
          </a:xfrm>
          <a:prstGeom prst="rect">
            <a:avLst/>
          </a:prstGeom>
          <a:noFill/>
          <a:ln/>
        </p:spPr>
        <p:txBody>
          <a:bodyPr wrap="square" lIns="0" tIns="0" rIns="0" bIns="0" rtlCol="0" anchor="ctr"/>
          <a:lstStyle/>
          <a:p>
            <a:pPr indent="0" marL="0">
              <a:buNone/>
            </a:pPr>
            <a:r>
              <a:rPr lang="en-US" sz="1300" dirty="0">
                <a:solidFill>
                  <a:srgbClr val="1F2D3D"/>
                </a:solidFill>
                <a:latin typeface="Calibri" pitchFamily="34" charset="0"/>
                <a:ea typeface="Calibri" pitchFamily="34" charset="-122"/>
                <a:cs typeface="Calibri" pitchFamily="34" charset="-120"/>
              </a:rPr>
              <a:t>Kâşif-2</a:t>
            </a:r>
            <a:endParaRPr lang="en-US" sz="1300" dirty="0"/>
          </a:p>
        </p:txBody>
      </p:sp>
      <p:sp>
        <p:nvSpPr>
          <p:cNvPr id="41" name="Shape 34"/>
          <p:cNvSpPr/>
          <p:nvPr/>
        </p:nvSpPr>
        <p:spPr>
          <a:xfrm rot="5400000">
            <a:off x="8071878" y="3355848"/>
            <a:ext cx="443460" cy="384048"/>
          </a:xfrm>
          <a:prstGeom prst="hexagon">
            <a:avLst/>
          </a:prstGeom>
          <a:solidFill>
            <a:srgbClr val="3E9A31"/>
          </a:solidFill>
          <a:ln w="19050">
            <a:solidFill>
              <a:srgbClr val="3E9A31"/>
            </a:solidFill>
            <a:prstDash val="solid"/>
          </a:ln>
        </p:spPr>
      </p:sp>
      <p:sp>
        <p:nvSpPr>
          <p:cNvPr id="42" name="Text 35"/>
          <p:cNvSpPr txBox="1"/>
          <p:nvPr/>
        </p:nvSpPr>
        <p:spPr>
          <a:xfrm>
            <a:off x="8549640" y="3392424"/>
            <a:ext cx="1188720" cy="310896"/>
          </a:xfrm>
          <a:prstGeom prst="rect">
            <a:avLst/>
          </a:prstGeom>
          <a:noFill/>
          <a:ln/>
        </p:spPr>
        <p:txBody>
          <a:bodyPr wrap="square" lIns="0" tIns="0" rIns="0" bIns="0" rtlCol="0" anchor="ctr"/>
          <a:lstStyle/>
          <a:p>
            <a:pPr indent="0" marL="0">
              <a:buNone/>
            </a:pPr>
            <a:r>
              <a:rPr lang="en-US" sz="1300" dirty="0">
                <a:solidFill>
                  <a:srgbClr val="1F2D3D"/>
                </a:solidFill>
                <a:latin typeface="Calibri" pitchFamily="34" charset="0"/>
                <a:ea typeface="Calibri" pitchFamily="34" charset="-122"/>
                <a:cs typeface="Calibri" pitchFamily="34" charset="-120"/>
              </a:rPr>
              <a:t>İşçi / Bakıcı</a:t>
            </a:r>
            <a:endParaRPr lang="en-US" sz="1300" dirty="0"/>
          </a:p>
        </p:txBody>
      </p:sp>
      <p:sp>
        <p:nvSpPr>
          <p:cNvPr id="43" name="Shape 36"/>
          <p:cNvSpPr/>
          <p:nvPr/>
        </p:nvSpPr>
        <p:spPr>
          <a:xfrm rot="5400000">
            <a:off x="9553206" y="3355848"/>
            <a:ext cx="443460" cy="384048"/>
          </a:xfrm>
          <a:prstGeom prst="hexagon">
            <a:avLst/>
          </a:prstGeom>
          <a:solidFill>
            <a:srgbClr val="0B1E33"/>
          </a:solidFill>
          <a:ln w="19050">
            <a:solidFill>
              <a:srgbClr val="0B1E33"/>
            </a:solidFill>
            <a:prstDash val="solid"/>
          </a:ln>
        </p:spPr>
      </p:sp>
      <p:sp>
        <p:nvSpPr>
          <p:cNvPr id="44" name="Text 37"/>
          <p:cNvSpPr txBox="1"/>
          <p:nvPr/>
        </p:nvSpPr>
        <p:spPr>
          <a:xfrm>
            <a:off x="10030968" y="3392424"/>
            <a:ext cx="1188720" cy="310896"/>
          </a:xfrm>
          <a:prstGeom prst="rect">
            <a:avLst/>
          </a:prstGeom>
          <a:noFill/>
          <a:ln/>
        </p:spPr>
        <p:txBody>
          <a:bodyPr wrap="square" lIns="0" tIns="0" rIns="0" bIns="0" rtlCol="0" anchor="ctr"/>
          <a:lstStyle/>
          <a:p>
            <a:pPr indent="0" marL="0">
              <a:buNone/>
            </a:pPr>
            <a:r>
              <a:rPr lang="en-US" sz="1300" dirty="0">
                <a:solidFill>
                  <a:srgbClr val="1F2D3D"/>
                </a:solidFill>
                <a:latin typeface="Calibri" pitchFamily="34" charset="0"/>
                <a:ea typeface="Calibri" pitchFamily="34" charset="-122"/>
                <a:cs typeface="Calibri" pitchFamily="34" charset="-120"/>
              </a:rPr>
              <a:t>Nöbetçi direk</a:t>
            </a:r>
            <a:endParaRPr lang="en-US" sz="1300" dirty="0"/>
          </a:p>
        </p:txBody>
      </p:sp>
      <p:sp>
        <p:nvSpPr>
          <p:cNvPr id="45" name="Text 38"/>
          <p:cNvSpPr txBox="1"/>
          <p:nvPr/>
        </p:nvSpPr>
        <p:spPr>
          <a:xfrm>
            <a:off x="10222992" y="2889504"/>
            <a:ext cx="1234440" cy="274320"/>
          </a:xfrm>
          <a:prstGeom prst="rect">
            <a:avLst/>
          </a:prstGeom>
          <a:noFill/>
          <a:ln/>
        </p:spPr>
        <p:txBody>
          <a:bodyPr wrap="square" lIns="0" tIns="0" rIns="0" bIns="0" rtlCol="0" anchor="t"/>
          <a:lstStyle/>
          <a:p>
            <a:pPr algn="r" indent="0" marL="0">
              <a:buNone/>
            </a:pPr>
            <a:r>
              <a:rPr lang="en-US" sz="1100" dirty="0">
                <a:solidFill>
                  <a:srgbClr val="5B6B7B"/>
                </a:solidFill>
                <a:latin typeface="Calibri" pitchFamily="34" charset="0"/>
                <a:ea typeface="Calibri" pitchFamily="34" charset="-122"/>
                <a:cs typeface="Calibri" pitchFamily="34" charset="-120"/>
              </a:rPr>
              <a:t>+ FOD kutusu</a:t>
            </a:r>
            <a:endParaRPr lang="en-US" sz="1100" dirty="0"/>
          </a:p>
        </p:txBody>
      </p:sp>
      <p:sp>
        <p:nvSpPr>
          <p:cNvPr id="46" name="Text 39"/>
          <p:cNvSpPr txBox="1"/>
          <p:nvPr/>
        </p:nvSpPr>
        <p:spPr>
          <a:xfrm>
            <a:off x="6355080" y="4114800"/>
            <a:ext cx="5285232" cy="274320"/>
          </a:xfrm>
          <a:prstGeom prst="rect">
            <a:avLst/>
          </a:prstGeom>
          <a:noFill/>
          <a:ln/>
        </p:spPr>
        <p:txBody>
          <a:bodyPr wrap="square" lIns="0" tIns="0" rIns="0" bIns="0" rtlCol="0" anchor="t"/>
          <a:lstStyle/>
          <a:p>
            <a:pPr indent="0" marL="0">
              <a:buNone/>
            </a:pPr>
            <a:r>
              <a:rPr lang="en-US" sz="1200" b="1" spc="100" kern="0" dirty="0">
                <a:solidFill>
                  <a:srgbClr val="5B6B7B"/>
                </a:solidFill>
                <a:latin typeface="Calibri" pitchFamily="34" charset="0"/>
                <a:ea typeface="Calibri" pitchFamily="34" charset="-122"/>
                <a:cs typeface="Calibri" pitchFamily="34" charset="-120"/>
              </a:rPr>
              <a:t>KOVAN BOYLARI · hücre ekleyerek büyür</a:t>
            </a:r>
            <a:endParaRPr lang="en-US" sz="1200" dirty="0"/>
          </a:p>
        </p:txBody>
      </p:sp>
      <p:sp>
        <p:nvSpPr>
          <p:cNvPr id="47" name="Shape 40"/>
          <p:cNvSpPr/>
          <p:nvPr/>
        </p:nvSpPr>
        <p:spPr>
          <a:xfrm>
            <a:off x="6355080" y="4434840"/>
            <a:ext cx="1325880" cy="777240"/>
          </a:xfrm>
          <a:prstGeom prst="roundRect">
            <a:avLst>
              <a:gd name="adj" fmla="val 9412"/>
            </a:avLst>
          </a:prstGeom>
          <a:solidFill>
            <a:srgbClr val="FFFFFF"/>
          </a:solidFill>
          <a:ln w="12700">
            <a:solidFill>
              <a:srgbClr val="C9D3DD"/>
            </a:solidFill>
            <a:prstDash val="solid"/>
          </a:ln>
        </p:spPr>
      </p:sp>
      <p:sp>
        <p:nvSpPr>
          <p:cNvPr id="48" name="Text 41"/>
          <p:cNvSpPr txBox="1"/>
          <p:nvPr/>
        </p:nvSpPr>
        <p:spPr>
          <a:xfrm>
            <a:off x="6492240" y="4498848"/>
            <a:ext cx="1051560" cy="274320"/>
          </a:xfrm>
          <a:prstGeom prst="rect">
            <a:avLst/>
          </a:prstGeom>
          <a:noFill/>
          <a:ln/>
        </p:spPr>
        <p:txBody>
          <a:bodyPr wrap="square" lIns="0" tIns="0" rIns="0" bIns="0" rtlCol="0" anchor="t"/>
          <a:lstStyle/>
          <a:p>
            <a:pPr indent="0" marL="0">
              <a:buNone/>
            </a:pPr>
            <a:r>
              <a:rPr lang="en-US" sz="1400" b="1" dirty="0">
                <a:solidFill>
                  <a:srgbClr val="0B1E33"/>
                </a:solidFill>
                <a:latin typeface="Calibri" pitchFamily="34" charset="0"/>
                <a:ea typeface="Calibri" pitchFamily="34" charset="-122"/>
                <a:cs typeface="Calibri" pitchFamily="34" charset="-120"/>
              </a:rPr>
              <a:t>Mini</a:t>
            </a:r>
            <a:endParaRPr lang="en-US" sz="1400" dirty="0"/>
          </a:p>
        </p:txBody>
      </p:sp>
      <p:sp>
        <p:nvSpPr>
          <p:cNvPr id="49" name="Text 42"/>
          <p:cNvSpPr txBox="1"/>
          <p:nvPr/>
        </p:nvSpPr>
        <p:spPr>
          <a:xfrm>
            <a:off x="6492240" y="4773168"/>
            <a:ext cx="1097280" cy="384048"/>
          </a:xfrm>
          <a:prstGeom prst="rect">
            <a:avLst/>
          </a:prstGeom>
          <a:noFill/>
          <a:ln/>
        </p:spPr>
        <p:txBody>
          <a:bodyPr wrap="square" lIns="0" tIns="0" rIns="0" bIns="0" rtlCol="0" anchor="t"/>
          <a:lstStyle/>
          <a:p>
            <a:pPr indent="0" marL="0">
              <a:buNone/>
            </a:pPr>
            <a:r>
              <a:rPr lang="en-US" sz="1100" dirty="0">
                <a:solidFill>
                  <a:srgbClr val="1F2D3D"/>
                </a:solidFill>
                <a:latin typeface="Calibri" pitchFamily="34" charset="0"/>
                <a:ea typeface="Calibri" pitchFamily="34" charset="-122"/>
                <a:cs typeface="Calibri" pitchFamily="34" charset="-120"/>
              </a:rPr>
              <a:t>2 kâşif</a:t>
            </a:r>
            <a:endParaRPr lang="en-US" sz="1100" dirty="0"/>
          </a:p>
        </p:txBody>
      </p:sp>
      <p:sp>
        <p:nvSpPr>
          <p:cNvPr id="50" name="Shape 43"/>
          <p:cNvSpPr/>
          <p:nvPr/>
        </p:nvSpPr>
        <p:spPr>
          <a:xfrm>
            <a:off x="7772400" y="4434840"/>
            <a:ext cx="2313432" cy="777240"/>
          </a:xfrm>
          <a:prstGeom prst="roundRect">
            <a:avLst>
              <a:gd name="adj" fmla="val 9412"/>
            </a:avLst>
          </a:prstGeom>
          <a:solidFill>
            <a:srgbClr val="0B1E33"/>
          </a:solidFill>
          <a:ln w="12700">
            <a:solidFill>
              <a:srgbClr val="0B1E33"/>
            </a:solidFill>
            <a:prstDash val="solid"/>
          </a:ln>
        </p:spPr>
      </p:sp>
      <p:sp>
        <p:nvSpPr>
          <p:cNvPr id="51" name="Text 44"/>
          <p:cNvSpPr txBox="1"/>
          <p:nvPr/>
        </p:nvSpPr>
        <p:spPr>
          <a:xfrm>
            <a:off x="7909560" y="4498848"/>
            <a:ext cx="2039112"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Çanakkale</a:t>
            </a:r>
            <a:endParaRPr lang="en-US" sz="1400" dirty="0"/>
          </a:p>
        </p:txBody>
      </p:sp>
      <p:sp>
        <p:nvSpPr>
          <p:cNvPr id="52" name="Text 45"/>
          <p:cNvSpPr txBox="1"/>
          <p:nvPr/>
        </p:nvSpPr>
        <p:spPr>
          <a:xfrm>
            <a:off x="7909560" y="4773168"/>
            <a:ext cx="2084832" cy="384048"/>
          </a:xfrm>
          <a:prstGeom prst="rect">
            <a:avLst/>
          </a:prstGeom>
          <a:noFill/>
          <a:ln/>
        </p:spPr>
        <p:txBody>
          <a:bodyPr wrap="square" lIns="0" tIns="0" rIns="0" bIns="0" rtlCol="0" anchor="t"/>
          <a:lstStyle/>
          <a:p>
            <a:pPr indent="0" marL="0">
              <a:buNone/>
            </a:pPr>
            <a:r>
              <a:rPr lang="en-US" sz="1100" dirty="0">
                <a:solidFill>
                  <a:srgbClr val="EEF3F8"/>
                </a:solidFill>
                <a:latin typeface="Calibri" pitchFamily="34" charset="0"/>
                <a:ea typeface="Calibri" pitchFamily="34" charset="-122"/>
                <a:cs typeface="Calibri" pitchFamily="34" charset="-120"/>
              </a:rPr>
              <a:t>2 kâşif · bekçi · işçi · nöbetçiler</a:t>
            </a:r>
            <a:endParaRPr lang="en-US" sz="1100" dirty="0"/>
          </a:p>
        </p:txBody>
      </p:sp>
      <p:sp>
        <p:nvSpPr>
          <p:cNvPr id="53" name="Shape 46"/>
          <p:cNvSpPr/>
          <p:nvPr/>
        </p:nvSpPr>
        <p:spPr>
          <a:xfrm>
            <a:off x="10177272" y="4434840"/>
            <a:ext cx="1463040" cy="777240"/>
          </a:xfrm>
          <a:prstGeom prst="roundRect">
            <a:avLst>
              <a:gd name="adj" fmla="val 9412"/>
            </a:avLst>
          </a:prstGeom>
          <a:solidFill>
            <a:srgbClr val="FFFFFF"/>
          </a:solidFill>
          <a:ln w="12700">
            <a:solidFill>
              <a:srgbClr val="C9D3DD"/>
            </a:solidFill>
            <a:prstDash val="solid"/>
          </a:ln>
        </p:spPr>
      </p:sp>
      <p:sp>
        <p:nvSpPr>
          <p:cNvPr id="54" name="Text 47"/>
          <p:cNvSpPr txBox="1"/>
          <p:nvPr/>
        </p:nvSpPr>
        <p:spPr>
          <a:xfrm>
            <a:off x="10314432" y="4498848"/>
            <a:ext cx="1188720" cy="274320"/>
          </a:xfrm>
          <a:prstGeom prst="rect">
            <a:avLst/>
          </a:prstGeom>
          <a:noFill/>
          <a:ln/>
        </p:spPr>
        <p:txBody>
          <a:bodyPr wrap="square" lIns="0" tIns="0" rIns="0" bIns="0" rtlCol="0" anchor="t"/>
          <a:lstStyle/>
          <a:p>
            <a:pPr indent="0" marL="0">
              <a:buNone/>
            </a:pPr>
            <a:r>
              <a:rPr lang="en-US" sz="1400" b="1" dirty="0">
                <a:solidFill>
                  <a:srgbClr val="0B1E33"/>
                </a:solidFill>
                <a:latin typeface="Calibri" pitchFamily="34" charset="0"/>
                <a:ea typeface="Calibri" pitchFamily="34" charset="-122"/>
                <a:cs typeface="Calibri" pitchFamily="34" charset="-120"/>
              </a:rPr>
              <a:t>Kış</a:t>
            </a:r>
            <a:endParaRPr lang="en-US" sz="1400" dirty="0"/>
          </a:p>
        </p:txBody>
      </p:sp>
      <p:sp>
        <p:nvSpPr>
          <p:cNvPr id="55" name="Text 48"/>
          <p:cNvSpPr txBox="1"/>
          <p:nvPr/>
        </p:nvSpPr>
        <p:spPr>
          <a:xfrm>
            <a:off x="10314432" y="4773168"/>
            <a:ext cx="1234440" cy="384048"/>
          </a:xfrm>
          <a:prstGeom prst="rect">
            <a:avLst/>
          </a:prstGeom>
          <a:noFill/>
          <a:ln/>
        </p:spPr>
        <p:txBody>
          <a:bodyPr wrap="square" lIns="0" tIns="0" rIns="0" bIns="0" rtlCol="0" anchor="t"/>
          <a:lstStyle/>
          <a:p>
            <a:pPr indent="0" marL="0">
              <a:buNone/>
            </a:pPr>
            <a:r>
              <a:rPr lang="en-US" sz="1100" dirty="0">
                <a:solidFill>
                  <a:srgbClr val="1F2D3D"/>
                </a:solidFill>
                <a:latin typeface="Calibri" pitchFamily="34" charset="0"/>
                <a:ea typeface="Calibri" pitchFamily="34" charset="-122"/>
                <a:cs typeface="Calibri" pitchFamily="34" charset="-120"/>
              </a:rPr>
              <a:t>Çanakkale + bakıcı rolü</a:t>
            </a:r>
            <a:endParaRPr lang="en-US" sz="1100" dirty="0"/>
          </a:p>
        </p:txBody>
      </p:sp>
      <p:sp>
        <p:nvSpPr>
          <p:cNvPr id="56" name="Shape 49"/>
          <p:cNvSpPr/>
          <p:nvPr/>
        </p:nvSpPr>
        <p:spPr>
          <a:xfrm>
            <a:off x="548640" y="5440680"/>
            <a:ext cx="11091672" cy="731520"/>
          </a:xfrm>
          <a:prstGeom prst="roundRect">
            <a:avLst>
              <a:gd name="adj" fmla="val 12500"/>
            </a:avLst>
          </a:prstGeom>
          <a:solidFill>
            <a:srgbClr val="EEF3F8"/>
          </a:solidFill>
          <a:ln w="6350">
            <a:solidFill>
              <a:srgbClr val="EEF3F8"/>
            </a:solidFill>
            <a:prstDash val="solid"/>
          </a:ln>
        </p:spPr>
      </p:sp>
      <p:sp>
        <p:nvSpPr>
          <p:cNvPr id="57" name="Text 50"/>
          <p:cNvSpPr txBox="1"/>
          <p:nvPr/>
        </p:nvSpPr>
        <p:spPr>
          <a:xfrm>
            <a:off x="777240" y="5486400"/>
            <a:ext cx="10698480" cy="640080"/>
          </a:xfrm>
          <a:prstGeom prst="rect">
            <a:avLst/>
          </a:prstGeom>
          <a:noFill/>
          <a:ln/>
        </p:spPr>
        <p:txBody>
          <a:bodyPr wrap="square" lIns="0" tIns="0" rIns="0" bIns="0" rtlCol="0" anchor="ctr"/>
          <a:lstStyle/>
          <a:p>
            <a:pPr indent="0" marL="0">
              <a:buNone/>
            </a:pPr>
            <a:r>
              <a:rPr lang="en-US" sz="1500" b="1" dirty="0">
                <a:solidFill>
                  <a:srgbClr val="0B1E33"/>
                </a:solidFill>
                <a:latin typeface="Calibri" pitchFamily="34" charset="0"/>
                <a:ea typeface="Calibri" pitchFamily="34" charset="-122"/>
                <a:cs typeface="Calibri" pitchFamily="34" charset="-120"/>
              </a:rPr>
              <a:t>Kraliçe yok: </a:t>
            </a:r>
            <a:pPr indent="0" marL="0">
              <a:buNone/>
            </a:pPr>
            <a:r>
              <a:rPr lang="en-US" sz="1500" dirty="0">
                <a:solidFill>
                  <a:srgbClr val="1F2D3D"/>
                </a:solidFill>
                <a:latin typeface="Calibri" pitchFamily="34" charset="0"/>
                <a:ea typeface="Calibri" pitchFamily="34" charset="-122"/>
                <a:cs typeface="Calibri" pitchFamily="34" charset="-120"/>
              </a:rPr>
              <a:t>görev planı merkezi planlayıcıdan gelir, kule onaylamadan hiçbir drone kalkmaz. Drone'lar yalnızca engelden kaçınma ve arızada güvenli davranma kararını kendi verir.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966960" cy="777240"/>
          </a:xfrm>
          <a:prstGeom prst="rect">
            <a:avLst/>
          </a:prstGeom>
          <a:noFill/>
          <a:ln/>
        </p:spPr>
        <p:txBody>
          <a:bodyPr wrap="square" lIns="0" tIns="0" rIns="0" bIns="0" rtlCol="0" anchor="ctr"/>
          <a:lstStyle/>
          <a:p>
            <a:pPr algn="l" indent="0" marL="0">
              <a:buNone/>
            </a:pPr>
            <a:r>
              <a:rPr lang="en-US" sz="3200" b="1" dirty="0">
                <a:solidFill>
                  <a:srgbClr val="0B1E33"/>
                </a:solidFill>
              </a:rPr>
              <a:t>Kâşifler: her uçuştan önce ≈12 dakikada temiz pist</a:t>
            </a:r>
            <a:endParaRPr lang="en-US" sz="3200" dirty="0"/>
          </a:p>
        </p:txBody>
      </p:sp>
      <p:sp>
        <p:nvSpPr>
          <p:cNvPr id="3" name="Shape 1"/>
          <p:cNvSpPr/>
          <p:nvPr/>
        </p:nvSpPr>
        <p:spPr>
          <a:xfrm>
            <a:off x="2067458" y="1434876"/>
            <a:ext cx="8026603" cy="914"/>
          </a:xfrm>
          <a:prstGeom prst="line">
            <a:avLst/>
          </a:prstGeom>
          <a:noFill/>
          <a:ln w="12700">
            <a:solidFill>
              <a:srgbClr val="5B6B7B"/>
            </a:solidFill>
            <a:prstDash val="solid"/>
          </a:ln>
        </p:spPr>
      </p:sp>
      <p:sp>
        <p:nvSpPr>
          <p:cNvPr id="4" name="Text 2"/>
          <p:cNvSpPr txBox="1"/>
          <p:nvPr/>
        </p:nvSpPr>
        <p:spPr>
          <a:xfrm>
            <a:off x="4412894" y="1163848"/>
            <a:ext cx="3335731" cy="229332"/>
          </a:xfrm>
          <a:prstGeom prst="rect">
            <a:avLst/>
          </a:prstGeom>
          <a:noFill/>
          <a:ln/>
        </p:spPr>
        <p:txBody>
          <a:bodyPr wrap="square" lIns="0" tIns="0" rIns="0" bIns="0" rtlCol="0" anchor="t"/>
          <a:lstStyle/>
          <a:p>
            <a:pPr algn="ctr" indent="0" marL="0">
              <a:buNone/>
            </a:pPr>
            <a:r>
              <a:rPr lang="en-US" sz="1321" b="1" dirty="0">
                <a:solidFill>
                  <a:srgbClr val="0B1E33"/>
                </a:solidFill>
                <a:latin typeface="Calibri" pitchFamily="34" charset="0"/>
                <a:ea typeface="Calibri" pitchFamily="34" charset="-122"/>
                <a:cs typeface="Calibri" pitchFamily="34" charset="-120"/>
              </a:rPr>
              <a:t>2.350 m × 45 m · beton · 04/22</a:t>
            </a:r>
            <a:endParaRPr lang="en-US" sz="1321" dirty="0"/>
          </a:p>
        </p:txBody>
      </p:sp>
      <p:sp>
        <p:nvSpPr>
          <p:cNvPr id="5" name="Shape 3"/>
          <p:cNvSpPr/>
          <p:nvPr/>
        </p:nvSpPr>
        <p:spPr>
          <a:xfrm>
            <a:off x="2067458" y="1924812"/>
            <a:ext cx="8026603" cy="1426025"/>
          </a:xfrm>
          <a:prstGeom prst="rect">
            <a:avLst/>
          </a:prstGeom>
          <a:solidFill>
            <a:srgbClr val="E6F2E2"/>
          </a:solidFill>
          <a:ln w="12700">
            <a:solidFill>
              <a:srgbClr val="CFE5C9"/>
            </a:solidFill>
            <a:prstDash val="solid"/>
          </a:ln>
        </p:spPr>
      </p:sp>
      <p:sp>
        <p:nvSpPr>
          <p:cNvPr id="6" name="Shape 4"/>
          <p:cNvSpPr/>
          <p:nvPr/>
        </p:nvSpPr>
        <p:spPr>
          <a:xfrm>
            <a:off x="2067458" y="2338359"/>
            <a:ext cx="8026603" cy="598931"/>
          </a:xfrm>
          <a:prstGeom prst="rect">
            <a:avLst/>
          </a:prstGeom>
          <a:solidFill>
            <a:srgbClr val="5B6470"/>
          </a:solidFill>
          <a:ln w="12700">
            <a:solidFill>
              <a:srgbClr val="5B6470"/>
            </a:solidFill>
            <a:prstDash val="solid"/>
          </a:ln>
        </p:spPr>
      </p:sp>
      <p:sp>
        <p:nvSpPr>
          <p:cNvPr id="7" name="Shape 5"/>
          <p:cNvSpPr/>
          <p:nvPr/>
        </p:nvSpPr>
        <p:spPr>
          <a:xfrm>
            <a:off x="2171700" y="2637825"/>
            <a:ext cx="7818120" cy="914"/>
          </a:xfrm>
          <a:prstGeom prst="line">
            <a:avLst/>
          </a:prstGeom>
          <a:noFill/>
          <a:ln w="12700">
            <a:solidFill>
              <a:srgbClr val="FFFFFF"/>
            </a:solidFill>
            <a:prstDash val="dash"/>
          </a:ln>
        </p:spPr>
      </p:sp>
      <p:sp>
        <p:nvSpPr>
          <p:cNvPr id="8" name="Shape 6"/>
          <p:cNvSpPr/>
          <p:nvPr/>
        </p:nvSpPr>
        <p:spPr>
          <a:xfrm>
            <a:off x="2192548" y="2238538"/>
            <a:ext cx="3763122" cy="914"/>
          </a:xfrm>
          <a:prstGeom prst="line">
            <a:avLst/>
          </a:prstGeom>
          <a:noFill/>
          <a:ln w="19050">
            <a:solidFill>
              <a:srgbClr val="1479C4"/>
            </a:solidFill>
            <a:prstDash val="dash"/>
            <a:tailEnd type="triangle"/>
          </a:ln>
        </p:spPr>
      </p:sp>
      <p:sp>
        <p:nvSpPr>
          <p:cNvPr id="9" name="Shape 7"/>
          <p:cNvSpPr/>
          <p:nvPr/>
        </p:nvSpPr>
        <p:spPr>
          <a:xfrm flipH="1">
            <a:off x="2192548" y="2637825"/>
            <a:ext cx="3763122" cy="914"/>
          </a:xfrm>
          <a:prstGeom prst="line">
            <a:avLst/>
          </a:prstGeom>
          <a:noFill/>
          <a:ln w="19050">
            <a:solidFill>
              <a:srgbClr val="1479C4"/>
            </a:solidFill>
            <a:prstDash val="dash"/>
            <a:tailEnd type="triangle"/>
          </a:ln>
        </p:spPr>
      </p:sp>
      <p:sp>
        <p:nvSpPr>
          <p:cNvPr id="10" name="Shape 8"/>
          <p:cNvSpPr/>
          <p:nvPr/>
        </p:nvSpPr>
        <p:spPr>
          <a:xfrm>
            <a:off x="2192548" y="3037112"/>
            <a:ext cx="3763122" cy="914"/>
          </a:xfrm>
          <a:prstGeom prst="line">
            <a:avLst/>
          </a:prstGeom>
          <a:noFill/>
          <a:ln w="19050">
            <a:solidFill>
              <a:srgbClr val="1479C4"/>
            </a:solidFill>
            <a:prstDash val="dash"/>
            <a:tailEnd type="triangle"/>
          </a:ln>
        </p:spPr>
      </p:sp>
      <p:sp>
        <p:nvSpPr>
          <p:cNvPr id="11" name="Text 9"/>
          <p:cNvSpPr txBox="1"/>
          <p:nvPr/>
        </p:nvSpPr>
        <p:spPr>
          <a:xfrm>
            <a:off x="2380183" y="1507846"/>
            <a:ext cx="3700577" cy="305219"/>
          </a:xfrm>
          <a:prstGeom prst="rect">
            <a:avLst/>
          </a:prstGeom>
          <a:noFill/>
          <a:ln/>
        </p:spPr>
        <p:txBody>
          <a:bodyPr wrap="square" lIns="0" tIns="0" rIns="0" bIns="0" rtlCol="0" anchor="t"/>
          <a:lstStyle/>
          <a:p>
            <a:pPr algn="ctr" indent="0" marL="0">
              <a:buNone/>
            </a:pPr>
            <a:r>
              <a:rPr lang="en-US" sz="1321" b="1" dirty="0">
                <a:solidFill>
                  <a:srgbClr val="1479C4"/>
                </a:solidFill>
                <a:latin typeface="Calibri" pitchFamily="34" charset="0"/>
                <a:ea typeface="Calibri" pitchFamily="34" charset="-122"/>
                <a:cs typeface="Calibri" pitchFamily="34" charset="-120"/>
              </a:rPr>
              <a:t>Kâşif-1: 3 geçiş × 1.175 m</a:t>
            </a:r>
            <a:endParaRPr lang="en-US" sz="1321" dirty="0"/>
          </a:p>
        </p:txBody>
      </p:sp>
      <p:sp>
        <p:nvSpPr>
          <p:cNvPr id="12" name="Shape 10"/>
          <p:cNvSpPr/>
          <p:nvPr/>
        </p:nvSpPr>
        <p:spPr>
          <a:xfrm>
            <a:off x="6205850" y="2238538"/>
            <a:ext cx="3763122" cy="914"/>
          </a:xfrm>
          <a:prstGeom prst="line">
            <a:avLst/>
          </a:prstGeom>
          <a:noFill/>
          <a:ln w="19050">
            <a:solidFill>
              <a:srgbClr val="7DB8EA"/>
            </a:solidFill>
            <a:prstDash val="dash"/>
            <a:tailEnd type="triangle"/>
          </a:ln>
        </p:spPr>
      </p:sp>
      <p:sp>
        <p:nvSpPr>
          <p:cNvPr id="13" name="Shape 11"/>
          <p:cNvSpPr/>
          <p:nvPr/>
        </p:nvSpPr>
        <p:spPr>
          <a:xfrm flipH="1">
            <a:off x="6205850" y="2637825"/>
            <a:ext cx="3763122" cy="914"/>
          </a:xfrm>
          <a:prstGeom prst="line">
            <a:avLst/>
          </a:prstGeom>
          <a:noFill/>
          <a:ln w="19050">
            <a:solidFill>
              <a:srgbClr val="7DB8EA"/>
            </a:solidFill>
            <a:prstDash val="dash"/>
            <a:tailEnd type="triangle"/>
          </a:ln>
        </p:spPr>
      </p:sp>
      <p:sp>
        <p:nvSpPr>
          <p:cNvPr id="14" name="Shape 12"/>
          <p:cNvSpPr/>
          <p:nvPr/>
        </p:nvSpPr>
        <p:spPr>
          <a:xfrm>
            <a:off x="6205850" y="3037112"/>
            <a:ext cx="3763122" cy="914"/>
          </a:xfrm>
          <a:prstGeom prst="line">
            <a:avLst/>
          </a:prstGeom>
          <a:noFill/>
          <a:ln w="19050">
            <a:solidFill>
              <a:srgbClr val="7DB8EA"/>
            </a:solidFill>
            <a:prstDash val="dash"/>
            <a:tailEnd type="triangle"/>
          </a:ln>
        </p:spPr>
      </p:sp>
      <p:sp>
        <p:nvSpPr>
          <p:cNvPr id="15" name="Text 13"/>
          <p:cNvSpPr txBox="1"/>
          <p:nvPr/>
        </p:nvSpPr>
        <p:spPr>
          <a:xfrm>
            <a:off x="6080760" y="1507846"/>
            <a:ext cx="3700577" cy="305219"/>
          </a:xfrm>
          <a:prstGeom prst="rect">
            <a:avLst/>
          </a:prstGeom>
          <a:noFill/>
          <a:ln/>
        </p:spPr>
        <p:txBody>
          <a:bodyPr wrap="square" lIns="0" tIns="0" rIns="0" bIns="0" rtlCol="0" anchor="t"/>
          <a:lstStyle/>
          <a:p>
            <a:pPr algn="ctr" indent="0" marL="0">
              <a:buNone/>
            </a:pPr>
            <a:r>
              <a:rPr lang="en-US" sz="1321" b="1" dirty="0">
                <a:solidFill>
                  <a:srgbClr val="4A90C8"/>
                </a:solidFill>
                <a:latin typeface="Calibri" pitchFamily="34" charset="0"/>
                <a:ea typeface="Calibri" pitchFamily="34" charset="-122"/>
                <a:cs typeface="Calibri" pitchFamily="34" charset="-120"/>
              </a:rPr>
              <a:t>Kâşif-2: 3 geçiş × 1.175 m</a:t>
            </a:r>
            <a:endParaRPr lang="en-US" sz="1321" dirty="0"/>
          </a:p>
        </p:txBody>
      </p:sp>
      <p:sp>
        <p:nvSpPr>
          <p:cNvPr id="16" name="Shape 14"/>
          <p:cNvSpPr/>
          <p:nvPr/>
        </p:nvSpPr>
        <p:spPr>
          <a:xfrm>
            <a:off x="6080760" y="1872691"/>
            <a:ext cx="914" cy="1530267"/>
          </a:xfrm>
          <a:prstGeom prst="line">
            <a:avLst/>
          </a:prstGeom>
          <a:noFill/>
          <a:ln w="9525">
            <a:solidFill>
              <a:srgbClr val="5B6B7B"/>
            </a:solidFill>
            <a:prstDash val="dash"/>
          </a:ln>
        </p:spPr>
      </p:sp>
      <p:sp>
        <p:nvSpPr>
          <p:cNvPr id="17" name="Text 15"/>
          <p:cNvSpPr txBox="1"/>
          <p:nvPr/>
        </p:nvSpPr>
        <p:spPr>
          <a:xfrm>
            <a:off x="1629644" y="2471038"/>
            <a:ext cx="375270" cy="333573"/>
          </a:xfrm>
          <a:prstGeom prst="rect">
            <a:avLst/>
          </a:prstGeom>
          <a:noFill/>
          <a:ln/>
        </p:spPr>
        <p:txBody>
          <a:bodyPr wrap="square" lIns="0" tIns="0" rIns="0" bIns="0" rtlCol="0" anchor="t"/>
          <a:lstStyle/>
          <a:p>
            <a:pPr algn="r" indent="0" marL="0">
              <a:buNone/>
            </a:pPr>
            <a:r>
              <a:rPr lang="en-US" sz="1808" b="1" dirty="0">
                <a:solidFill>
                  <a:srgbClr val="0B1E33"/>
                </a:solidFill>
                <a:latin typeface="Calibri" pitchFamily="34" charset="0"/>
                <a:ea typeface="Calibri" pitchFamily="34" charset="-122"/>
                <a:cs typeface="Calibri" pitchFamily="34" charset="-120"/>
              </a:rPr>
              <a:t>04</a:t>
            </a:r>
            <a:endParaRPr lang="en-US" sz="1808" dirty="0"/>
          </a:p>
        </p:txBody>
      </p:sp>
      <p:sp>
        <p:nvSpPr>
          <p:cNvPr id="18" name="Text 16"/>
          <p:cNvSpPr txBox="1"/>
          <p:nvPr/>
        </p:nvSpPr>
        <p:spPr>
          <a:xfrm>
            <a:off x="10156607" y="2471038"/>
            <a:ext cx="375270" cy="333573"/>
          </a:xfrm>
          <a:prstGeom prst="rect">
            <a:avLst/>
          </a:prstGeom>
          <a:noFill/>
          <a:ln/>
        </p:spPr>
        <p:txBody>
          <a:bodyPr wrap="square" lIns="0" tIns="0" rIns="0" bIns="0" rtlCol="0" anchor="t"/>
          <a:lstStyle/>
          <a:p>
            <a:pPr indent="0" marL="0">
              <a:buNone/>
            </a:pPr>
            <a:r>
              <a:rPr lang="en-US" sz="1808" b="1" dirty="0">
                <a:solidFill>
                  <a:srgbClr val="0B1E33"/>
                </a:solidFill>
                <a:latin typeface="Calibri" pitchFamily="34" charset="0"/>
                <a:ea typeface="Calibri" pitchFamily="34" charset="-122"/>
                <a:cs typeface="Calibri" pitchFamily="34" charset="-120"/>
              </a:rPr>
              <a:t>22</a:t>
            </a:r>
            <a:endParaRPr lang="en-US" sz="1808" dirty="0"/>
          </a:p>
        </p:txBody>
      </p:sp>
      <p:sp>
        <p:nvSpPr>
          <p:cNvPr id="19" name="Shape 17"/>
          <p:cNvSpPr/>
          <p:nvPr/>
        </p:nvSpPr>
        <p:spPr>
          <a:xfrm>
            <a:off x="1879824" y="3789500"/>
            <a:ext cx="479511" cy="415269"/>
          </a:xfrm>
          <a:prstGeom prst="hexagon">
            <a:avLst/>
          </a:prstGeom>
          <a:solidFill>
            <a:srgbClr val="1479C4"/>
          </a:solidFill>
          <a:ln w="15875">
            <a:solidFill>
              <a:srgbClr val="FFFFFF"/>
            </a:solidFill>
            <a:prstDash val="solid"/>
          </a:ln>
        </p:spPr>
      </p:sp>
      <p:pic>
        <p:nvPicPr>
          <p:cNvPr id="20" name="Image 0" descr="preencoded.png">    </p:cNvPr>
          <p:cNvPicPr>
            <a:picLocks noChangeAspect="1"/>
          </p:cNvPicPr>
          <p:nvPr/>
        </p:nvPicPr>
        <p:blipFill>
          <a:blip r:embed="rId1"/>
          <a:stretch>
            <a:fillRect/>
          </a:stretch>
        </p:blipFill>
        <p:spPr>
          <a:xfrm>
            <a:off x="2015338" y="3892893"/>
            <a:ext cx="208483" cy="208483"/>
          </a:xfrm>
          <a:prstGeom prst="rect">
            <a:avLst/>
          </a:prstGeom>
        </p:spPr>
      </p:pic>
      <p:sp>
        <p:nvSpPr>
          <p:cNvPr id="21" name="Shape 18"/>
          <p:cNvSpPr/>
          <p:nvPr/>
        </p:nvSpPr>
        <p:spPr>
          <a:xfrm>
            <a:off x="2401032" y="3789500"/>
            <a:ext cx="479511" cy="415269"/>
          </a:xfrm>
          <a:prstGeom prst="hexagon">
            <a:avLst/>
          </a:prstGeom>
          <a:solidFill>
            <a:srgbClr val="E8A317"/>
          </a:solidFill>
          <a:ln w="15875">
            <a:solidFill>
              <a:srgbClr val="FFFFFF"/>
            </a:solidFill>
            <a:prstDash val="solid"/>
          </a:ln>
        </p:spPr>
      </p:sp>
      <p:pic>
        <p:nvPicPr>
          <p:cNvPr id="22" name="Image 1" descr="preencoded.png">    </p:cNvPr>
          <p:cNvPicPr>
            <a:picLocks noChangeAspect="1"/>
          </p:cNvPicPr>
          <p:nvPr/>
        </p:nvPicPr>
        <p:blipFill>
          <a:blip r:embed="rId2"/>
          <a:stretch>
            <a:fillRect/>
          </a:stretch>
        </p:blipFill>
        <p:spPr>
          <a:xfrm>
            <a:off x="2536546" y="3892893"/>
            <a:ext cx="208483" cy="208483"/>
          </a:xfrm>
          <a:prstGeom prst="rect">
            <a:avLst/>
          </a:prstGeom>
        </p:spPr>
      </p:pic>
      <p:sp>
        <p:nvSpPr>
          <p:cNvPr id="23" name="Shape 19"/>
          <p:cNvSpPr/>
          <p:nvPr/>
        </p:nvSpPr>
        <p:spPr>
          <a:xfrm>
            <a:off x="2922240" y="3789500"/>
            <a:ext cx="479511" cy="415269"/>
          </a:xfrm>
          <a:prstGeom prst="hexagon">
            <a:avLst/>
          </a:prstGeom>
          <a:solidFill>
            <a:srgbClr val="0B1E33"/>
          </a:solidFill>
          <a:ln w="15875">
            <a:solidFill>
              <a:srgbClr val="FFFFFF"/>
            </a:solidFill>
            <a:prstDash val="solid"/>
          </a:ln>
        </p:spPr>
      </p:sp>
      <p:pic>
        <p:nvPicPr>
          <p:cNvPr id="24" name="Image 2" descr="preencoded.png">    </p:cNvPr>
          <p:cNvPicPr>
            <a:picLocks noChangeAspect="1"/>
          </p:cNvPicPr>
          <p:nvPr/>
        </p:nvPicPr>
        <p:blipFill>
          <a:blip r:embed="rId3"/>
          <a:stretch>
            <a:fillRect/>
          </a:stretch>
        </p:blipFill>
        <p:spPr>
          <a:xfrm>
            <a:off x="3057754" y="3892893"/>
            <a:ext cx="208483" cy="208483"/>
          </a:xfrm>
          <a:prstGeom prst="rect">
            <a:avLst/>
          </a:prstGeom>
        </p:spPr>
      </p:pic>
      <p:sp>
        <p:nvSpPr>
          <p:cNvPr id="25" name="Text 20"/>
          <p:cNvSpPr txBox="1"/>
          <p:nvPr/>
        </p:nvSpPr>
        <p:spPr>
          <a:xfrm>
            <a:off x="1181405" y="4268163"/>
            <a:ext cx="2918765" cy="521208"/>
          </a:xfrm>
          <a:prstGeom prst="rect">
            <a:avLst/>
          </a:prstGeom>
          <a:noFill/>
          <a:ln/>
        </p:spPr>
        <p:txBody>
          <a:bodyPr wrap="square" lIns="0" tIns="0" rIns="0" bIns="0" rtlCol="0" anchor="t"/>
          <a:lstStyle/>
          <a:p>
            <a:pPr algn="ctr" indent="0" marL="0">
              <a:buNone/>
            </a:pPr>
            <a:r>
              <a:rPr lang="en-US" sz="1252" dirty="0">
                <a:solidFill>
                  <a:srgbClr val="0B1E33"/>
                </a:solidFill>
                <a:latin typeface="Calibri" pitchFamily="34" charset="0"/>
                <a:ea typeface="Calibri" pitchFamily="34" charset="-122"/>
                <a:cs typeface="Calibri" pitchFamily="34" charset="-120"/>
              </a:rPr>
              <a:t>Petek A: Kâşif-1 · Bekçi</a:t>
            </a:r>
            <a:endParaRPr lang="en-US" sz="1252" dirty="0"/>
          </a:p>
          <a:p>
            <a:pPr algn="ctr" indent="0" marL="0">
              <a:buNone/>
            </a:pPr>
            <a:r>
              <a:rPr lang="en-US" sz="1252" dirty="0">
                <a:solidFill>
                  <a:srgbClr val="0B1E33"/>
                </a:solidFill>
                <a:latin typeface="Calibri" pitchFamily="34" charset="0"/>
                <a:ea typeface="Calibri" pitchFamily="34" charset="-122"/>
                <a:cs typeface="Calibri" pitchFamily="34" charset="-120"/>
              </a:rPr>
              <a:t>nöbetçi direk</a:t>
            </a:r>
            <a:endParaRPr lang="en-US" sz="1252" dirty="0"/>
          </a:p>
        </p:txBody>
      </p:sp>
      <p:sp>
        <p:nvSpPr>
          <p:cNvPr id="26" name="Shape 21"/>
          <p:cNvSpPr/>
          <p:nvPr/>
        </p:nvSpPr>
        <p:spPr>
          <a:xfrm>
            <a:off x="8759769" y="3789500"/>
            <a:ext cx="479511" cy="415269"/>
          </a:xfrm>
          <a:prstGeom prst="hexagon">
            <a:avLst/>
          </a:prstGeom>
          <a:solidFill>
            <a:srgbClr val="1479C4"/>
          </a:solidFill>
          <a:ln w="15875">
            <a:solidFill>
              <a:srgbClr val="FFFFFF"/>
            </a:solidFill>
            <a:prstDash val="solid"/>
          </a:ln>
        </p:spPr>
      </p:sp>
      <p:pic>
        <p:nvPicPr>
          <p:cNvPr id="27" name="Image 3" descr="preencoded.png">    </p:cNvPr>
          <p:cNvPicPr>
            <a:picLocks noChangeAspect="1"/>
          </p:cNvPicPr>
          <p:nvPr/>
        </p:nvPicPr>
        <p:blipFill>
          <a:blip r:embed="rId4"/>
          <a:stretch>
            <a:fillRect/>
          </a:stretch>
        </p:blipFill>
        <p:spPr>
          <a:xfrm>
            <a:off x="8895283" y="3892893"/>
            <a:ext cx="208483" cy="208483"/>
          </a:xfrm>
          <a:prstGeom prst="rect">
            <a:avLst/>
          </a:prstGeom>
        </p:spPr>
      </p:pic>
      <p:sp>
        <p:nvSpPr>
          <p:cNvPr id="28" name="Shape 22"/>
          <p:cNvSpPr/>
          <p:nvPr/>
        </p:nvSpPr>
        <p:spPr>
          <a:xfrm>
            <a:off x="9280977" y="3789500"/>
            <a:ext cx="479511" cy="415269"/>
          </a:xfrm>
          <a:prstGeom prst="hexagon">
            <a:avLst/>
          </a:prstGeom>
          <a:solidFill>
            <a:srgbClr val="3E9A31"/>
          </a:solidFill>
          <a:ln w="15875">
            <a:solidFill>
              <a:srgbClr val="FFFFFF"/>
            </a:solidFill>
            <a:prstDash val="solid"/>
          </a:ln>
        </p:spPr>
      </p:sp>
      <p:pic>
        <p:nvPicPr>
          <p:cNvPr id="29" name="Image 4" descr="preencoded.png">    </p:cNvPr>
          <p:cNvPicPr>
            <a:picLocks noChangeAspect="1"/>
          </p:cNvPicPr>
          <p:nvPr/>
        </p:nvPicPr>
        <p:blipFill>
          <a:blip r:embed="rId5"/>
          <a:stretch>
            <a:fillRect/>
          </a:stretch>
        </p:blipFill>
        <p:spPr>
          <a:xfrm>
            <a:off x="9416491" y="3892893"/>
            <a:ext cx="208483" cy="208483"/>
          </a:xfrm>
          <a:prstGeom prst="rect">
            <a:avLst/>
          </a:prstGeom>
        </p:spPr>
      </p:pic>
      <p:sp>
        <p:nvSpPr>
          <p:cNvPr id="30" name="Shape 23"/>
          <p:cNvSpPr/>
          <p:nvPr/>
        </p:nvSpPr>
        <p:spPr>
          <a:xfrm>
            <a:off x="9802185" y="3789500"/>
            <a:ext cx="479511" cy="415269"/>
          </a:xfrm>
          <a:prstGeom prst="hexagon">
            <a:avLst/>
          </a:prstGeom>
          <a:solidFill>
            <a:srgbClr val="0B1E33"/>
          </a:solidFill>
          <a:ln w="15875">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9937699" y="3892893"/>
            <a:ext cx="208483" cy="208483"/>
          </a:xfrm>
          <a:prstGeom prst="rect">
            <a:avLst/>
          </a:prstGeom>
        </p:spPr>
      </p:pic>
      <p:sp>
        <p:nvSpPr>
          <p:cNvPr id="32" name="Text 24"/>
          <p:cNvSpPr txBox="1"/>
          <p:nvPr/>
        </p:nvSpPr>
        <p:spPr>
          <a:xfrm>
            <a:off x="8061350" y="4268163"/>
            <a:ext cx="2918765" cy="521208"/>
          </a:xfrm>
          <a:prstGeom prst="rect">
            <a:avLst/>
          </a:prstGeom>
          <a:noFill/>
          <a:ln/>
        </p:spPr>
        <p:txBody>
          <a:bodyPr wrap="square" lIns="0" tIns="0" rIns="0" bIns="0" rtlCol="0" anchor="t"/>
          <a:lstStyle/>
          <a:p>
            <a:pPr algn="ctr" indent="0" marL="0">
              <a:buNone/>
            </a:pPr>
            <a:r>
              <a:rPr lang="en-US" sz="1252" dirty="0">
                <a:solidFill>
                  <a:srgbClr val="0B1E33"/>
                </a:solidFill>
                <a:latin typeface="Calibri" pitchFamily="34" charset="0"/>
                <a:ea typeface="Calibri" pitchFamily="34" charset="-122"/>
                <a:cs typeface="Calibri" pitchFamily="34" charset="-120"/>
              </a:rPr>
              <a:t>Petek B: Kâşif-2 · İşçi/Bakıcı</a:t>
            </a:r>
            <a:endParaRPr lang="en-US" sz="1252" dirty="0"/>
          </a:p>
          <a:p>
            <a:pPr algn="ctr" indent="0" marL="0">
              <a:buNone/>
            </a:pPr>
            <a:r>
              <a:rPr lang="en-US" sz="1252" dirty="0">
                <a:solidFill>
                  <a:srgbClr val="0B1E33"/>
                </a:solidFill>
                <a:latin typeface="Calibri" pitchFamily="34" charset="0"/>
                <a:ea typeface="Calibri" pitchFamily="34" charset="-122"/>
                <a:cs typeface="Calibri" pitchFamily="34" charset="-120"/>
              </a:rPr>
              <a:t>FOD kutusu · nöbetçi direk</a:t>
            </a:r>
            <a:endParaRPr lang="en-US" sz="1252" dirty="0"/>
          </a:p>
        </p:txBody>
      </p:sp>
      <p:sp>
        <p:nvSpPr>
          <p:cNvPr id="33" name="Text 25"/>
          <p:cNvSpPr txBox="1"/>
          <p:nvPr/>
        </p:nvSpPr>
        <p:spPr>
          <a:xfrm>
            <a:off x="3308767" y="1570808"/>
            <a:ext cx="406959" cy="457829"/>
          </a:xfrm>
          <a:prstGeom prst="rect">
            <a:avLst/>
          </a:prstGeom>
          <a:noFill/>
          <a:ln/>
        </p:spPr>
        <p:txBody>
          <a:bodyPr wrap="square" lIns="0" tIns="0" rIns="0" bIns="0" rtlCol="0" anchor="ctr"/>
          <a:lstStyle/>
          <a:p>
            <a:pPr algn="ctr" indent="0" marL="0">
              <a:buNone/>
            </a:pPr>
            <a:r>
              <a:rPr lang="en-US" sz="1808" b="1" dirty="0">
                <a:solidFill>
                  <a:srgbClr val="C0392B"/>
                </a:solidFill>
                <a:latin typeface="Calibri" pitchFamily="34" charset="0"/>
                <a:ea typeface="Calibri" pitchFamily="34" charset="-122"/>
                <a:cs typeface="Calibri" pitchFamily="34" charset="-120"/>
              </a:rPr>
              <a:t>×</a:t>
            </a:r>
            <a:endParaRPr lang="en-US" sz="1808" dirty="0"/>
          </a:p>
        </p:txBody>
      </p:sp>
      <p:sp>
        <p:nvSpPr>
          <p:cNvPr id="34" name="Text 26"/>
          <p:cNvSpPr txBox="1"/>
          <p:nvPr/>
        </p:nvSpPr>
        <p:spPr>
          <a:xfrm>
            <a:off x="3308767" y="3247012"/>
            <a:ext cx="406959" cy="457829"/>
          </a:xfrm>
          <a:prstGeom prst="rect">
            <a:avLst/>
          </a:prstGeom>
          <a:noFill/>
          <a:ln/>
        </p:spPr>
        <p:txBody>
          <a:bodyPr wrap="square" lIns="0" tIns="0" rIns="0" bIns="0" rtlCol="0" anchor="ctr"/>
          <a:lstStyle/>
          <a:p>
            <a:pPr algn="ctr" indent="0" marL="0">
              <a:buNone/>
            </a:pPr>
            <a:r>
              <a:rPr lang="en-US" sz="1808" b="1" dirty="0">
                <a:solidFill>
                  <a:srgbClr val="C0392B"/>
                </a:solidFill>
                <a:latin typeface="Calibri" pitchFamily="34" charset="0"/>
                <a:ea typeface="Calibri" pitchFamily="34" charset="-122"/>
                <a:cs typeface="Calibri" pitchFamily="34" charset="-120"/>
              </a:rPr>
              <a:t>×</a:t>
            </a:r>
            <a:endParaRPr lang="en-US" sz="1808" dirty="0"/>
          </a:p>
        </p:txBody>
      </p:sp>
      <p:sp>
        <p:nvSpPr>
          <p:cNvPr id="35" name="Text 27"/>
          <p:cNvSpPr txBox="1"/>
          <p:nvPr/>
        </p:nvSpPr>
        <p:spPr>
          <a:xfrm>
            <a:off x="5877280" y="1570808"/>
            <a:ext cx="406959" cy="457829"/>
          </a:xfrm>
          <a:prstGeom prst="rect">
            <a:avLst/>
          </a:prstGeom>
          <a:noFill/>
          <a:ln/>
        </p:spPr>
        <p:txBody>
          <a:bodyPr wrap="square" lIns="0" tIns="0" rIns="0" bIns="0" rtlCol="0" anchor="ctr"/>
          <a:lstStyle/>
          <a:p>
            <a:pPr algn="ctr" indent="0" marL="0">
              <a:buNone/>
            </a:pPr>
            <a:r>
              <a:rPr lang="en-US" sz="1808" b="1" dirty="0">
                <a:solidFill>
                  <a:srgbClr val="C0392B"/>
                </a:solidFill>
                <a:latin typeface="Calibri" pitchFamily="34" charset="0"/>
                <a:ea typeface="Calibri" pitchFamily="34" charset="-122"/>
                <a:cs typeface="Calibri" pitchFamily="34" charset="-120"/>
              </a:rPr>
              <a:t>×</a:t>
            </a:r>
            <a:endParaRPr lang="en-US" sz="1808" dirty="0"/>
          </a:p>
        </p:txBody>
      </p:sp>
      <p:sp>
        <p:nvSpPr>
          <p:cNvPr id="36" name="Text 28"/>
          <p:cNvSpPr txBox="1"/>
          <p:nvPr/>
        </p:nvSpPr>
        <p:spPr>
          <a:xfrm>
            <a:off x="5877280" y="3247012"/>
            <a:ext cx="406959" cy="457829"/>
          </a:xfrm>
          <a:prstGeom prst="rect">
            <a:avLst/>
          </a:prstGeom>
          <a:noFill/>
          <a:ln/>
        </p:spPr>
        <p:txBody>
          <a:bodyPr wrap="square" lIns="0" tIns="0" rIns="0" bIns="0" rtlCol="0" anchor="ctr"/>
          <a:lstStyle/>
          <a:p>
            <a:pPr algn="ctr" indent="0" marL="0">
              <a:buNone/>
            </a:pPr>
            <a:r>
              <a:rPr lang="en-US" sz="1808" b="1" dirty="0">
                <a:solidFill>
                  <a:srgbClr val="C0392B"/>
                </a:solidFill>
                <a:latin typeface="Calibri" pitchFamily="34" charset="0"/>
                <a:ea typeface="Calibri" pitchFamily="34" charset="-122"/>
                <a:cs typeface="Calibri" pitchFamily="34" charset="-120"/>
              </a:rPr>
              <a:t>×</a:t>
            </a:r>
            <a:endParaRPr lang="en-US" sz="1808" dirty="0"/>
          </a:p>
        </p:txBody>
      </p:sp>
      <p:sp>
        <p:nvSpPr>
          <p:cNvPr id="37" name="Text 29"/>
          <p:cNvSpPr txBox="1"/>
          <p:nvPr/>
        </p:nvSpPr>
        <p:spPr>
          <a:xfrm>
            <a:off x="8445793" y="1570808"/>
            <a:ext cx="406959" cy="457829"/>
          </a:xfrm>
          <a:prstGeom prst="rect">
            <a:avLst/>
          </a:prstGeom>
          <a:noFill/>
          <a:ln/>
        </p:spPr>
        <p:txBody>
          <a:bodyPr wrap="square" lIns="0" tIns="0" rIns="0" bIns="0" rtlCol="0" anchor="ctr"/>
          <a:lstStyle/>
          <a:p>
            <a:pPr algn="ctr" indent="0" marL="0">
              <a:buNone/>
            </a:pPr>
            <a:r>
              <a:rPr lang="en-US" sz="1808" b="1" dirty="0">
                <a:solidFill>
                  <a:srgbClr val="C0392B"/>
                </a:solidFill>
                <a:latin typeface="Calibri" pitchFamily="34" charset="0"/>
                <a:ea typeface="Calibri" pitchFamily="34" charset="-122"/>
                <a:cs typeface="Calibri" pitchFamily="34" charset="-120"/>
              </a:rPr>
              <a:t>×</a:t>
            </a:r>
            <a:endParaRPr lang="en-US" sz="1808" dirty="0"/>
          </a:p>
        </p:txBody>
      </p:sp>
      <p:sp>
        <p:nvSpPr>
          <p:cNvPr id="38" name="Text 30"/>
          <p:cNvSpPr txBox="1"/>
          <p:nvPr/>
        </p:nvSpPr>
        <p:spPr>
          <a:xfrm>
            <a:off x="8445793" y="3247012"/>
            <a:ext cx="406959" cy="457829"/>
          </a:xfrm>
          <a:prstGeom prst="rect">
            <a:avLst/>
          </a:prstGeom>
          <a:noFill/>
          <a:ln/>
        </p:spPr>
        <p:txBody>
          <a:bodyPr wrap="square" lIns="0" tIns="0" rIns="0" bIns="0" rtlCol="0" anchor="ctr"/>
          <a:lstStyle/>
          <a:p>
            <a:pPr algn="ctr" indent="0" marL="0">
              <a:buNone/>
            </a:pPr>
            <a:r>
              <a:rPr lang="en-US" sz="1808" b="1" dirty="0">
                <a:solidFill>
                  <a:srgbClr val="C0392B"/>
                </a:solidFill>
                <a:latin typeface="Calibri" pitchFamily="34" charset="0"/>
                <a:ea typeface="Calibri" pitchFamily="34" charset="-122"/>
                <a:cs typeface="Calibri" pitchFamily="34" charset="-120"/>
              </a:rPr>
              <a:t>×</a:t>
            </a:r>
            <a:endParaRPr lang="en-US" sz="1808" dirty="0"/>
          </a:p>
        </p:txBody>
      </p:sp>
      <p:sp>
        <p:nvSpPr>
          <p:cNvPr id="39" name="Text 31"/>
          <p:cNvSpPr txBox="1"/>
          <p:nvPr/>
        </p:nvSpPr>
        <p:spPr>
          <a:xfrm>
            <a:off x="1077163" y="5007620"/>
            <a:ext cx="6462979" cy="271028"/>
          </a:xfrm>
          <a:prstGeom prst="rect">
            <a:avLst/>
          </a:prstGeom>
          <a:noFill/>
          <a:ln/>
        </p:spPr>
        <p:txBody>
          <a:bodyPr wrap="square" lIns="0" tIns="0" rIns="0" bIns="0" rtlCol="0" anchor="t"/>
          <a:lstStyle/>
          <a:p>
            <a:pPr indent="0" marL="0">
              <a:buNone/>
            </a:pPr>
            <a:r>
              <a:rPr lang="en-US" sz="1182" dirty="0">
                <a:solidFill>
                  <a:srgbClr val="5B6B7B"/>
                </a:solidFill>
                <a:latin typeface="Calibri" pitchFamily="34" charset="0"/>
                <a:ea typeface="Calibri" pitchFamily="34" charset="-122"/>
                <a:cs typeface="Calibri" pitchFamily="34" charset="-120"/>
              </a:rPr>
              <a:t>20 m irtifa · ≈3,5 mm/piksel · 6 m/s · ≈12 dk (iki kâşif paralel)</a:t>
            </a:r>
            <a:endParaRPr lang="en-US" sz="1182" dirty="0"/>
          </a:p>
        </p:txBody>
      </p:sp>
      <p:sp>
        <p:nvSpPr>
          <p:cNvPr id="40" name="Text 32"/>
          <p:cNvSpPr txBox="1"/>
          <p:nvPr/>
        </p:nvSpPr>
        <p:spPr>
          <a:xfrm>
            <a:off x="7540142" y="5007620"/>
            <a:ext cx="3544214" cy="271028"/>
          </a:xfrm>
          <a:prstGeom prst="rect">
            <a:avLst/>
          </a:prstGeom>
          <a:noFill/>
          <a:ln/>
        </p:spPr>
        <p:txBody>
          <a:bodyPr wrap="square" lIns="0" tIns="0" rIns="0" bIns="0" rtlCol="0" anchor="t"/>
          <a:lstStyle/>
          <a:p>
            <a:pPr algn="r" indent="0" marL="0">
              <a:buNone/>
            </a:pPr>
            <a:r>
              <a:rPr lang="en-US" sz="1182" b="1" dirty="0">
                <a:solidFill>
                  <a:srgbClr val="C0392B"/>
                </a:solidFill>
                <a:latin typeface="Calibri" pitchFamily="34" charset="0"/>
                <a:ea typeface="Calibri" pitchFamily="34" charset="-122"/>
                <a:cs typeface="Calibri" pitchFamily="34" charset="-120"/>
              </a:rPr>
              <a:t>× </a:t>
            </a:r>
            <a:pPr algn="r" indent="0" marL="0">
              <a:buNone/>
            </a:pPr>
            <a:r>
              <a:rPr lang="en-US" sz="1182" dirty="0">
                <a:solidFill>
                  <a:srgbClr val="5B6B7B"/>
                </a:solidFill>
                <a:latin typeface="Calibri" pitchFamily="34" charset="0"/>
                <a:ea typeface="Calibri" pitchFamily="34" charset="-122"/>
                <a:cs typeface="Calibri" pitchFamily="34" charset="-120"/>
              </a:rPr>
              <a:t>pist dışı acil iniş noktaları · ölçeksiz</a:t>
            </a:r>
            <a:endParaRPr lang="en-US" sz="1182" dirty="0"/>
          </a:p>
        </p:txBody>
      </p:sp>
      <p:sp>
        <p:nvSpPr>
          <p:cNvPr id="41" name="Shape 33"/>
          <p:cNvSpPr/>
          <p:nvPr/>
        </p:nvSpPr>
        <p:spPr>
          <a:xfrm>
            <a:off x="548640" y="5376672"/>
            <a:ext cx="2567178" cy="795528"/>
          </a:xfrm>
          <a:prstGeom prst="roundRect">
            <a:avLst>
              <a:gd name="adj" fmla="val 11494"/>
            </a:avLst>
          </a:prstGeom>
          <a:solidFill>
            <a:srgbClr val="EEF3F8"/>
          </a:solidFill>
          <a:ln w="6350">
            <a:solidFill>
              <a:srgbClr val="EEF3F8"/>
            </a:solidFill>
            <a:prstDash val="solid"/>
          </a:ln>
        </p:spPr>
      </p:sp>
      <p:sp>
        <p:nvSpPr>
          <p:cNvPr id="42" name="Text 34"/>
          <p:cNvSpPr txBox="1"/>
          <p:nvPr/>
        </p:nvSpPr>
        <p:spPr>
          <a:xfrm>
            <a:off x="749808" y="5422392"/>
            <a:ext cx="2201418" cy="402336"/>
          </a:xfrm>
          <a:prstGeom prst="rect">
            <a:avLst/>
          </a:prstGeom>
          <a:noFill/>
          <a:ln/>
        </p:spPr>
        <p:txBody>
          <a:bodyPr wrap="square" lIns="0" tIns="0" rIns="0" bIns="0" rtlCol="0" anchor="ctr"/>
          <a:lstStyle/>
          <a:p>
            <a:pPr indent="0" marL="0">
              <a:buNone/>
            </a:pPr>
            <a:r>
              <a:rPr lang="en-US" sz="2200" b="1" dirty="0">
                <a:solidFill>
                  <a:srgbClr val="1479C4"/>
                </a:solidFill>
                <a:latin typeface="Calibri" pitchFamily="34" charset="0"/>
                <a:ea typeface="Calibri" pitchFamily="34" charset="-122"/>
                <a:cs typeface="Calibri" pitchFamily="34" charset="-120"/>
              </a:rPr>
              <a:t>≈12 dk</a:t>
            </a:r>
            <a:endParaRPr lang="en-US" sz="2200" dirty="0"/>
          </a:p>
        </p:txBody>
      </p:sp>
      <p:sp>
        <p:nvSpPr>
          <p:cNvPr id="43" name="Text 35"/>
          <p:cNvSpPr txBox="1"/>
          <p:nvPr/>
        </p:nvSpPr>
        <p:spPr>
          <a:xfrm>
            <a:off x="749808" y="5824728"/>
            <a:ext cx="2201418" cy="274320"/>
          </a:xfrm>
          <a:prstGeom prst="rect">
            <a:avLst/>
          </a:prstGeom>
          <a:noFill/>
          <a:ln/>
        </p:spPr>
        <p:txBody>
          <a:bodyPr wrap="square" lIns="0" tIns="0" rIns="0" bIns="0" rtlCol="0" anchor="ctr"/>
          <a:lstStyle/>
          <a:p>
            <a:pPr indent="0" marL="0">
              <a:buNone/>
            </a:pPr>
            <a:r>
              <a:rPr lang="en-US" sz="1200" dirty="0">
                <a:solidFill>
                  <a:srgbClr val="1F2D3D"/>
                </a:solidFill>
                <a:latin typeface="Calibri" pitchFamily="34" charset="0"/>
                <a:ea typeface="Calibri" pitchFamily="34" charset="-122"/>
                <a:cs typeface="Calibri" pitchFamily="34" charset="-120"/>
              </a:rPr>
              <a:t>iki kâşif paralel</a:t>
            </a:r>
            <a:endParaRPr lang="en-US" sz="1200" dirty="0"/>
          </a:p>
        </p:txBody>
      </p:sp>
      <p:sp>
        <p:nvSpPr>
          <p:cNvPr id="44" name="Shape 36"/>
          <p:cNvSpPr/>
          <p:nvPr/>
        </p:nvSpPr>
        <p:spPr>
          <a:xfrm>
            <a:off x="3390138" y="5376672"/>
            <a:ext cx="2567178" cy="795528"/>
          </a:xfrm>
          <a:prstGeom prst="roundRect">
            <a:avLst>
              <a:gd name="adj" fmla="val 11494"/>
            </a:avLst>
          </a:prstGeom>
          <a:solidFill>
            <a:srgbClr val="EEF3F8"/>
          </a:solidFill>
          <a:ln w="6350">
            <a:solidFill>
              <a:srgbClr val="EEF3F8"/>
            </a:solidFill>
            <a:prstDash val="solid"/>
          </a:ln>
        </p:spPr>
      </p:sp>
      <p:sp>
        <p:nvSpPr>
          <p:cNvPr id="45" name="Text 37"/>
          <p:cNvSpPr txBox="1"/>
          <p:nvPr/>
        </p:nvSpPr>
        <p:spPr>
          <a:xfrm>
            <a:off x="3591306" y="5422392"/>
            <a:ext cx="2201418" cy="402336"/>
          </a:xfrm>
          <a:prstGeom prst="rect">
            <a:avLst/>
          </a:prstGeom>
          <a:noFill/>
          <a:ln/>
        </p:spPr>
        <p:txBody>
          <a:bodyPr wrap="square" lIns="0" tIns="0" rIns="0" bIns="0" rtlCol="0" anchor="ctr"/>
          <a:lstStyle/>
          <a:p>
            <a:pPr indent="0" marL="0">
              <a:buNone/>
            </a:pPr>
            <a:r>
              <a:rPr lang="en-US" sz="2200" b="1" dirty="0">
                <a:solidFill>
                  <a:srgbClr val="1479C4"/>
                </a:solidFill>
                <a:latin typeface="Calibri" pitchFamily="34" charset="0"/>
                <a:ea typeface="Calibri" pitchFamily="34" charset="-122"/>
                <a:cs typeface="Calibri" pitchFamily="34" charset="-120"/>
              </a:rPr>
              <a:t>20 m</a:t>
            </a:r>
            <a:endParaRPr lang="en-US" sz="2200" dirty="0"/>
          </a:p>
        </p:txBody>
      </p:sp>
      <p:sp>
        <p:nvSpPr>
          <p:cNvPr id="46" name="Text 38"/>
          <p:cNvSpPr txBox="1"/>
          <p:nvPr/>
        </p:nvSpPr>
        <p:spPr>
          <a:xfrm>
            <a:off x="3591306" y="5824728"/>
            <a:ext cx="2201418" cy="274320"/>
          </a:xfrm>
          <a:prstGeom prst="rect">
            <a:avLst/>
          </a:prstGeom>
          <a:noFill/>
          <a:ln/>
        </p:spPr>
        <p:txBody>
          <a:bodyPr wrap="square" lIns="0" tIns="0" rIns="0" bIns="0" rtlCol="0" anchor="ctr"/>
          <a:lstStyle/>
          <a:p>
            <a:pPr indent="0" marL="0">
              <a:buNone/>
            </a:pPr>
            <a:r>
              <a:rPr lang="en-US" sz="1200" dirty="0">
                <a:solidFill>
                  <a:srgbClr val="1F2D3D"/>
                </a:solidFill>
                <a:latin typeface="Calibri" pitchFamily="34" charset="0"/>
                <a:ea typeface="Calibri" pitchFamily="34" charset="-122"/>
                <a:cs typeface="Calibri" pitchFamily="34" charset="-120"/>
              </a:rPr>
              <a:t>uçuş irtifası</a:t>
            </a:r>
            <a:endParaRPr lang="en-US" sz="1200" dirty="0"/>
          </a:p>
        </p:txBody>
      </p:sp>
      <p:sp>
        <p:nvSpPr>
          <p:cNvPr id="47" name="Shape 39"/>
          <p:cNvSpPr/>
          <p:nvPr/>
        </p:nvSpPr>
        <p:spPr>
          <a:xfrm>
            <a:off x="6231636" y="5376672"/>
            <a:ext cx="2567178" cy="795528"/>
          </a:xfrm>
          <a:prstGeom prst="roundRect">
            <a:avLst>
              <a:gd name="adj" fmla="val 11494"/>
            </a:avLst>
          </a:prstGeom>
          <a:solidFill>
            <a:srgbClr val="EEF3F8"/>
          </a:solidFill>
          <a:ln w="6350">
            <a:solidFill>
              <a:srgbClr val="EEF3F8"/>
            </a:solidFill>
            <a:prstDash val="solid"/>
          </a:ln>
        </p:spPr>
      </p:sp>
      <p:sp>
        <p:nvSpPr>
          <p:cNvPr id="48" name="Text 40"/>
          <p:cNvSpPr txBox="1"/>
          <p:nvPr/>
        </p:nvSpPr>
        <p:spPr>
          <a:xfrm>
            <a:off x="6432804" y="5422392"/>
            <a:ext cx="2201418" cy="402336"/>
          </a:xfrm>
          <a:prstGeom prst="rect">
            <a:avLst/>
          </a:prstGeom>
          <a:noFill/>
          <a:ln/>
        </p:spPr>
        <p:txBody>
          <a:bodyPr wrap="square" lIns="0" tIns="0" rIns="0" bIns="0" rtlCol="0" anchor="ctr"/>
          <a:lstStyle/>
          <a:p>
            <a:pPr indent="0" marL="0">
              <a:buNone/>
            </a:pPr>
            <a:r>
              <a:rPr lang="en-US" sz="2200" b="1" dirty="0">
                <a:solidFill>
                  <a:srgbClr val="1479C4"/>
                </a:solidFill>
                <a:latin typeface="Calibri" pitchFamily="34" charset="0"/>
                <a:ea typeface="Calibri" pitchFamily="34" charset="-122"/>
                <a:cs typeface="Calibri" pitchFamily="34" charset="-120"/>
              </a:rPr>
              <a:t>≈3,5 mm</a:t>
            </a:r>
            <a:endParaRPr lang="en-US" sz="2200" dirty="0"/>
          </a:p>
        </p:txBody>
      </p:sp>
      <p:sp>
        <p:nvSpPr>
          <p:cNvPr id="49" name="Text 41"/>
          <p:cNvSpPr txBox="1"/>
          <p:nvPr/>
        </p:nvSpPr>
        <p:spPr>
          <a:xfrm>
            <a:off x="6432804" y="5824728"/>
            <a:ext cx="2201418" cy="274320"/>
          </a:xfrm>
          <a:prstGeom prst="rect">
            <a:avLst/>
          </a:prstGeom>
          <a:noFill/>
          <a:ln/>
        </p:spPr>
        <p:txBody>
          <a:bodyPr wrap="square" lIns="0" tIns="0" rIns="0" bIns="0" rtlCol="0" anchor="ctr"/>
          <a:lstStyle/>
          <a:p>
            <a:pPr indent="0" marL="0">
              <a:buNone/>
            </a:pPr>
            <a:r>
              <a:rPr lang="en-US" sz="1200" dirty="0">
                <a:solidFill>
                  <a:srgbClr val="1F2D3D"/>
                </a:solidFill>
                <a:latin typeface="Calibri" pitchFamily="34" charset="0"/>
                <a:ea typeface="Calibri" pitchFamily="34" charset="-122"/>
                <a:cs typeface="Calibri" pitchFamily="34" charset="-120"/>
              </a:rPr>
              <a:t>piksel başına yer çözünürlüğü</a:t>
            </a:r>
            <a:endParaRPr lang="en-US" sz="1200" dirty="0"/>
          </a:p>
        </p:txBody>
      </p:sp>
      <p:sp>
        <p:nvSpPr>
          <p:cNvPr id="50" name="Shape 42"/>
          <p:cNvSpPr/>
          <p:nvPr/>
        </p:nvSpPr>
        <p:spPr>
          <a:xfrm>
            <a:off x="9073134" y="5376672"/>
            <a:ext cx="2567178" cy="795528"/>
          </a:xfrm>
          <a:prstGeom prst="roundRect">
            <a:avLst>
              <a:gd name="adj" fmla="val 11494"/>
            </a:avLst>
          </a:prstGeom>
          <a:solidFill>
            <a:srgbClr val="EEF3F8"/>
          </a:solidFill>
          <a:ln w="6350">
            <a:solidFill>
              <a:srgbClr val="EEF3F8"/>
            </a:solidFill>
            <a:prstDash val="solid"/>
          </a:ln>
        </p:spPr>
      </p:sp>
      <p:sp>
        <p:nvSpPr>
          <p:cNvPr id="51" name="Text 43"/>
          <p:cNvSpPr txBox="1"/>
          <p:nvPr/>
        </p:nvSpPr>
        <p:spPr>
          <a:xfrm>
            <a:off x="9274302" y="5422392"/>
            <a:ext cx="2201418" cy="402336"/>
          </a:xfrm>
          <a:prstGeom prst="rect">
            <a:avLst/>
          </a:prstGeom>
          <a:noFill/>
          <a:ln/>
        </p:spPr>
        <p:txBody>
          <a:bodyPr wrap="square" lIns="0" tIns="0" rIns="0" bIns="0" rtlCol="0" anchor="ctr"/>
          <a:lstStyle/>
          <a:p>
            <a:pPr indent="0" marL="0">
              <a:buNone/>
            </a:pPr>
            <a:r>
              <a:rPr lang="en-US" sz="2200" b="1" dirty="0">
                <a:solidFill>
                  <a:srgbClr val="1479C4"/>
                </a:solidFill>
                <a:latin typeface="Calibri" pitchFamily="34" charset="0"/>
                <a:ea typeface="Calibri" pitchFamily="34" charset="-122"/>
                <a:cs typeface="Calibri" pitchFamily="34" charset="-120"/>
              </a:rPr>
              <a:t>≥3 cm</a:t>
            </a:r>
            <a:endParaRPr lang="en-US" sz="2200" dirty="0"/>
          </a:p>
        </p:txBody>
      </p:sp>
      <p:sp>
        <p:nvSpPr>
          <p:cNvPr id="52" name="Text 44"/>
          <p:cNvSpPr txBox="1"/>
          <p:nvPr/>
        </p:nvSpPr>
        <p:spPr>
          <a:xfrm>
            <a:off x="9274302" y="5824728"/>
            <a:ext cx="2201418" cy="274320"/>
          </a:xfrm>
          <a:prstGeom prst="rect">
            <a:avLst/>
          </a:prstGeom>
          <a:noFill/>
          <a:ln/>
        </p:spPr>
        <p:txBody>
          <a:bodyPr wrap="square" lIns="0" tIns="0" rIns="0" bIns="0" rtlCol="0" anchor="ctr"/>
          <a:lstStyle/>
          <a:p>
            <a:pPr indent="0" marL="0">
              <a:buNone/>
            </a:pPr>
            <a:r>
              <a:rPr lang="en-US" sz="1200" dirty="0">
                <a:solidFill>
                  <a:srgbClr val="1F2D3D"/>
                </a:solidFill>
                <a:latin typeface="Calibri" pitchFamily="34" charset="0"/>
                <a:ea typeface="Calibri" pitchFamily="34" charset="-122"/>
                <a:cs typeface="Calibri" pitchFamily="34" charset="-120"/>
              </a:rPr>
              <a:t>hedef nesne boyutu</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966960" cy="777240"/>
          </a:xfrm>
          <a:prstGeom prst="rect">
            <a:avLst/>
          </a:prstGeom>
          <a:noFill/>
          <a:ln/>
        </p:spPr>
        <p:txBody>
          <a:bodyPr wrap="square" lIns="0" tIns="0" rIns="0" bIns="0" rtlCol="0" anchor="ctr"/>
          <a:lstStyle/>
          <a:p>
            <a:pPr algn="l" indent="0" marL="0">
              <a:buNone/>
            </a:pPr>
            <a:r>
              <a:rPr lang="en-US" sz="3200" b="1" dirty="0">
                <a:solidFill>
                  <a:srgbClr val="0B1E33"/>
                </a:solidFill>
              </a:rPr>
              <a:t>V3 yetenekleri: toplama ve buz haritası, sınırlarıyla</a:t>
            </a:r>
            <a:endParaRPr lang="en-US" sz="3200" dirty="0"/>
          </a:p>
        </p:txBody>
      </p:sp>
      <p:sp>
        <p:nvSpPr>
          <p:cNvPr id="3" name="Shape 1"/>
          <p:cNvSpPr/>
          <p:nvPr/>
        </p:nvSpPr>
        <p:spPr>
          <a:xfrm>
            <a:off x="548640" y="1371600"/>
            <a:ext cx="5440680" cy="4160520"/>
          </a:xfrm>
          <a:prstGeom prst="roundRect">
            <a:avLst>
              <a:gd name="adj" fmla="val 2637"/>
            </a:avLst>
          </a:prstGeom>
          <a:solidFill>
            <a:srgbClr val="EEF3F8"/>
          </a:solidFill>
          <a:ln w="6350">
            <a:solidFill>
              <a:srgbClr val="EEF3F8"/>
            </a:solidFill>
            <a:prstDash val="solid"/>
          </a:ln>
        </p:spPr>
      </p:sp>
      <p:sp>
        <p:nvSpPr>
          <p:cNvPr id="4" name="Shape 2"/>
          <p:cNvSpPr/>
          <p:nvPr/>
        </p:nvSpPr>
        <p:spPr>
          <a:xfrm>
            <a:off x="822960" y="1600200"/>
            <a:ext cx="685800" cy="685800"/>
          </a:xfrm>
          <a:prstGeom prst="ellipse">
            <a:avLst/>
          </a:prstGeom>
          <a:solidFill>
            <a:srgbClr val="3E9A31"/>
          </a:solidFill>
          <a:ln w="6350">
            <a:solidFill>
              <a:srgbClr val="3E9A31"/>
            </a:solidFill>
            <a:prstDash val="solid"/>
          </a:ln>
        </p:spPr>
      </p:sp>
      <p:pic>
        <p:nvPicPr>
          <p:cNvPr id="5" name="Image 0" descr="preencoded.png">    </p:cNvPr>
          <p:cNvPicPr>
            <a:picLocks noChangeAspect="1"/>
          </p:cNvPicPr>
          <p:nvPr/>
        </p:nvPicPr>
        <p:blipFill>
          <a:blip r:embed="rId1"/>
          <a:stretch>
            <a:fillRect/>
          </a:stretch>
        </p:blipFill>
        <p:spPr>
          <a:xfrm>
            <a:off x="987552" y="1764792"/>
            <a:ext cx="356616" cy="356616"/>
          </a:xfrm>
          <a:prstGeom prst="rect">
            <a:avLst/>
          </a:prstGeom>
        </p:spPr>
      </p:pic>
      <p:sp>
        <p:nvSpPr>
          <p:cNvPr id="6" name="Text 3"/>
          <p:cNvSpPr txBox="1"/>
          <p:nvPr/>
        </p:nvSpPr>
        <p:spPr>
          <a:xfrm>
            <a:off x="1691640" y="1600200"/>
            <a:ext cx="2743200" cy="384048"/>
          </a:xfrm>
          <a:prstGeom prst="rect">
            <a:avLst/>
          </a:prstGeom>
          <a:noFill/>
          <a:ln/>
        </p:spPr>
        <p:txBody>
          <a:bodyPr wrap="square" lIns="0" tIns="0" rIns="0" bIns="0" rtlCol="0" anchor="t"/>
          <a:lstStyle/>
          <a:p>
            <a:pPr indent="0" marL="0">
              <a:buNone/>
            </a:pPr>
            <a:r>
              <a:rPr lang="en-US" sz="2000" b="1" dirty="0">
                <a:solidFill>
                  <a:srgbClr val="0B1E33"/>
                </a:solidFill>
                <a:latin typeface="Calibri" pitchFamily="34" charset="0"/>
                <a:ea typeface="Calibri" pitchFamily="34" charset="-122"/>
                <a:cs typeface="Calibri" pitchFamily="34" charset="-120"/>
              </a:rPr>
              <a:t>İşçi: FOD toplama</a:t>
            </a:r>
            <a:endParaRPr lang="en-US" sz="2000" dirty="0"/>
          </a:p>
        </p:txBody>
      </p:sp>
      <p:sp>
        <p:nvSpPr>
          <p:cNvPr id="7" name="Text 4"/>
          <p:cNvSpPr txBox="1"/>
          <p:nvPr/>
        </p:nvSpPr>
        <p:spPr>
          <a:xfrm>
            <a:off x="1691640" y="1984248"/>
            <a:ext cx="4114800" cy="292608"/>
          </a:xfrm>
          <a:prstGeom prst="rect">
            <a:avLst/>
          </a:prstGeom>
          <a:noFill/>
          <a:ln/>
        </p:spPr>
        <p:txBody>
          <a:bodyPr wrap="square" lIns="0" tIns="0" rIns="0" bIns="0" rtlCol="0" anchor="t"/>
          <a:lstStyle/>
          <a:p>
            <a:pPr indent="0" marL="0">
              <a:buNone/>
            </a:pPr>
            <a:r>
              <a:rPr lang="en-US" sz="1200" b="1" dirty="0">
                <a:solidFill>
                  <a:srgbClr val="3E9A31"/>
                </a:solidFill>
                <a:latin typeface="Calibri" pitchFamily="34" charset="0"/>
                <a:ea typeface="Calibri" pitchFamily="34" charset="-122"/>
                <a:cs typeface="Calibri" pitchFamily="34" charset="-120"/>
              </a:rPr>
              <a:t>kâşif bulur → insan karar verir → işçi toplar → kâşif doğrular</a:t>
            </a:r>
            <a:endParaRPr lang="en-US" sz="1200" dirty="0"/>
          </a:p>
        </p:txBody>
      </p:sp>
      <p:sp>
        <p:nvSpPr>
          <p:cNvPr id="8" name="Shape 5"/>
          <p:cNvSpPr/>
          <p:nvPr/>
        </p:nvSpPr>
        <p:spPr>
          <a:xfrm>
            <a:off x="4526280" y="1627632"/>
            <a:ext cx="1234440" cy="329184"/>
          </a:xfrm>
          <a:prstGeom prst="roundRect">
            <a:avLst>
              <a:gd name="adj" fmla="val 50000"/>
            </a:avLst>
          </a:prstGeom>
          <a:solidFill>
            <a:srgbClr val="3E9A31"/>
          </a:solidFill>
          <a:ln w="6350">
            <a:solidFill>
              <a:srgbClr val="3E9A31"/>
            </a:solidFill>
            <a:prstDash val="solid"/>
          </a:ln>
        </p:spPr>
      </p:sp>
      <p:sp>
        <p:nvSpPr>
          <p:cNvPr id="9" name="Text 6"/>
          <p:cNvSpPr txBox="1"/>
          <p:nvPr/>
        </p:nvSpPr>
        <p:spPr>
          <a:xfrm>
            <a:off x="4526280" y="162763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1 kg · ≤ 30 cm</a:t>
            </a:r>
            <a:endParaRPr lang="en-US" sz="1200" dirty="0"/>
          </a:p>
        </p:txBody>
      </p:sp>
      <p:sp>
        <p:nvSpPr>
          <p:cNvPr id="10" name="Text 7"/>
          <p:cNvSpPr txBox="1"/>
          <p:nvPr/>
        </p:nvSpPr>
        <p:spPr>
          <a:xfrm>
            <a:off x="822960" y="2423160"/>
            <a:ext cx="493776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2D3D"/>
                </a:solidFill>
                <a:latin typeface="Calibri" pitchFamily="34" charset="0"/>
                <a:ea typeface="Calibri" pitchFamily="34" charset="-122"/>
                <a:cs typeface="Calibri" pitchFamily="34" charset="-120"/>
              </a:rPr>
              <a:t>Piste inmez: nesnenin 4 m üstünde asılı kalır, vinç başlığı indirir</a:t>
            </a:r>
            <a:endParaRPr lang="en-US" sz="1400" dirty="0"/>
          </a:p>
          <a:p>
            <a:pPr marL="342900" indent="-342900">
              <a:spcAft>
                <a:spcPts val="500"/>
              </a:spcAft>
              <a:buSzPct val="100000"/>
              <a:buChar char="•"/>
            </a:pPr>
            <a:r>
              <a:rPr lang="en-US" sz="1400" dirty="0">
                <a:solidFill>
                  <a:srgbClr val="1F2D3D"/>
                </a:solidFill>
                <a:latin typeface="Calibri" pitchFamily="34" charset="0"/>
                <a:ea typeface="Calibri" pitchFamily="34" charset="-122"/>
                <a:cs typeface="Calibri" pitchFamily="34" charset="-120"/>
              </a:rPr>
              <a:t>Metalde EPM mıknatıs (güç kesilse de tutar), değilse kıskaç</a:t>
            </a:r>
            <a:endParaRPr lang="en-US" sz="1400" dirty="0"/>
          </a:p>
          <a:p>
            <a:pPr marL="342900" indent="-342900">
              <a:spcAft>
                <a:spcPts val="500"/>
              </a:spcAft>
              <a:buSzPct val="100000"/>
              <a:buChar char="•"/>
            </a:pPr>
            <a:r>
              <a:rPr lang="en-US" sz="1400" dirty="0">
                <a:solidFill>
                  <a:srgbClr val="1F2D3D"/>
                </a:solidFill>
                <a:latin typeface="Calibri" pitchFamily="34" charset="0"/>
                <a:ea typeface="Calibri" pitchFamily="34" charset="-122"/>
                <a:cs typeface="Calibri" pitchFamily="34" charset="-120"/>
              </a:rPr>
              <a:t>Petek B'deki FOD kutusuna teslim; sınıf, ağırlık, konum kaydı</a:t>
            </a:r>
            <a:endParaRPr lang="en-US" sz="1400" dirty="0"/>
          </a:p>
          <a:p>
            <a:pPr marL="342900" indent="-342900">
              <a:spcAft>
                <a:spcPts val="500"/>
              </a:spcAft>
              <a:buSzPct val="100000"/>
              <a:buChar char="•"/>
            </a:pPr>
            <a:r>
              <a:rPr lang="en-US" sz="1400" dirty="0">
                <a:solidFill>
                  <a:srgbClr val="1F2D3D"/>
                </a:solidFill>
                <a:latin typeface="Calibri" pitchFamily="34" charset="0"/>
                <a:ea typeface="Calibri" pitchFamily="34" charset="-122"/>
                <a:cs typeface="Calibri" pitchFamily="34" charset="-120"/>
              </a:rPr>
              <a:t>Ekibe kalır: ıslak, yapışık, sıvı, büyük keskin parça, hayvan kalıntısı</a:t>
            </a:r>
            <a:endParaRPr lang="en-US" sz="1400" dirty="0"/>
          </a:p>
        </p:txBody>
      </p:sp>
      <p:sp>
        <p:nvSpPr>
          <p:cNvPr id="11" name="Text 8"/>
          <p:cNvSpPr txBox="1"/>
          <p:nvPr/>
        </p:nvSpPr>
        <p:spPr>
          <a:xfrm>
            <a:off x="822960" y="4160520"/>
            <a:ext cx="4892040" cy="274320"/>
          </a:xfrm>
          <a:prstGeom prst="rect">
            <a:avLst/>
          </a:prstGeom>
          <a:noFill/>
          <a:ln/>
        </p:spPr>
        <p:txBody>
          <a:bodyPr wrap="square" lIns="0" tIns="0" rIns="0" bIns="0" rtlCol="0" anchor="t"/>
          <a:lstStyle/>
          <a:p>
            <a:pPr indent="0" marL="0">
              <a:buNone/>
            </a:pPr>
            <a:r>
              <a:rPr lang="en-US" sz="1200" b="1" dirty="0">
                <a:solidFill>
                  <a:srgbClr val="0B1E33"/>
                </a:solidFill>
                <a:latin typeface="Calibri" pitchFamily="34" charset="0"/>
                <a:ea typeface="Calibri" pitchFamily="34" charset="-122"/>
                <a:cs typeface="Calibri" pitchFamily="34" charset="-120"/>
              </a:rPr>
              <a:t>Yük bütçesi (M350 sınıfı, azami 2,7 kg)</a:t>
            </a:r>
            <a:endParaRPr lang="en-US" sz="1200" dirty="0"/>
          </a:p>
        </p:txBody>
      </p:sp>
      <p:sp>
        <p:nvSpPr>
          <p:cNvPr id="12" name="Shape 9"/>
          <p:cNvSpPr/>
          <p:nvPr/>
        </p:nvSpPr>
        <p:spPr>
          <a:xfrm>
            <a:off x="822960" y="4480560"/>
            <a:ext cx="2146808" cy="384048"/>
          </a:xfrm>
          <a:prstGeom prst="rect">
            <a:avLst/>
          </a:prstGeom>
          <a:solidFill>
            <a:srgbClr val="5B6B7B"/>
          </a:solidFill>
          <a:ln w="6350">
            <a:solidFill>
              <a:srgbClr val="5B6B7B"/>
            </a:solidFill>
            <a:prstDash val="solid"/>
          </a:ln>
        </p:spPr>
      </p:sp>
      <p:sp>
        <p:nvSpPr>
          <p:cNvPr id="13" name="Text 10"/>
          <p:cNvSpPr txBox="1"/>
          <p:nvPr/>
        </p:nvSpPr>
        <p:spPr>
          <a:xfrm>
            <a:off x="822960" y="4480560"/>
            <a:ext cx="214680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vinç + başlık ≈1,2</a:t>
            </a:r>
            <a:endParaRPr lang="en-US" sz="1200" dirty="0"/>
          </a:p>
        </p:txBody>
      </p:sp>
      <p:sp>
        <p:nvSpPr>
          <p:cNvPr id="14" name="Shape 11"/>
          <p:cNvSpPr/>
          <p:nvPr/>
        </p:nvSpPr>
        <p:spPr>
          <a:xfrm>
            <a:off x="2997200" y="4480560"/>
            <a:ext cx="1784435" cy="384048"/>
          </a:xfrm>
          <a:prstGeom prst="rect">
            <a:avLst/>
          </a:prstGeom>
          <a:solidFill>
            <a:srgbClr val="3E9A31"/>
          </a:solidFill>
          <a:ln w="6350">
            <a:solidFill>
              <a:srgbClr val="3E9A31"/>
            </a:solidFill>
            <a:prstDash val="solid"/>
          </a:ln>
        </p:spPr>
      </p:sp>
      <p:sp>
        <p:nvSpPr>
          <p:cNvPr id="15" name="Text 12"/>
          <p:cNvSpPr txBox="1"/>
          <p:nvPr/>
        </p:nvSpPr>
        <p:spPr>
          <a:xfrm>
            <a:off x="2997200" y="4480560"/>
            <a:ext cx="1784435"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nesne ≤ 1</a:t>
            </a:r>
            <a:endParaRPr lang="en-US" sz="1200" dirty="0"/>
          </a:p>
        </p:txBody>
      </p:sp>
      <p:sp>
        <p:nvSpPr>
          <p:cNvPr id="16" name="Shape 13"/>
          <p:cNvSpPr/>
          <p:nvPr/>
        </p:nvSpPr>
        <p:spPr>
          <a:xfrm>
            <a:off x="4809067" y="4480560"/>
            <a:ext cx="878501" cy="384048"/>
          </a:xfrm>
          <a:prstGeom prst="rect">
            <a:avLst/>
          </a:prstGeom>
          <a:solidFill>
            <a:srgbClr val="C9D3DD"/>
          </a:solidFill>
          <a:ln w="6350">
            <a:solidFill>
              <a:srgbClr val="C9D3DD"/>
            </a:solidFill>
            <a:prstDash val="solid"/>
          </a:ln>
        </p:spPr>
      </p:sp>
      <p:sp>
        <p:nvSpPr>
          <p:cNvPr id="17" name="Text 14"/>
          <p:cNvSpPr txBox="1"/>
          <p:nvPr/>
        </p:nvSpPr>
        <p:spPr>
          <a:xfrm>
            <a:off x="4809067" y="4480560"/>
            <a:ext cx="878501" cy="384048"/>
          </a:xfrm>
          <a:prstGeom prst="rect">
            <a:avLst/>
          </a:prstGeom>
          <a:noFill/>
          <a:ln/>
        </p:spPr>
        <p:txBody>
          <a:bodyPr wrap="square" lIns="0" tIns="0" rIns="0" bIns="0" rtlCol="0" anchor="ctr"/>
          <a:lstStyle/>
          <a:p>
            <a:pPr algn="ctr" indent="0" marL="0">
              <a:buNone/>
            </a:pPr>
            <a:r>
              <a:rPr lang="en-US" sz="1200" b="1" dirty="0">
                <a:solidFill>
                  <a:srgbClr val="0B1E33"/>
                </a:solidFill>
                <a:latin typeface="Calibri" pitchFamily="34" charset="0"/>
                <a:ea typeface="Calibri" pitchFamily="34" charset="-122"/>
                <a:cs typeface="Calibri" pitchFamily="34" charset="-120"/>
              </a:rPr>
              <a:t>pay</a:t>
            </a:r>
            <a:endParaRPr lang="en-US" sz="1200" dirty="0"/>
          </a:p>
        </p:txBody>
      </p:sp>
      <p:sp>
        <p:nvSpPr>
          <p:cNvPr id="18" name="Text 15"/>
          <p:cNvSpPr txBox="1"/>
          <p:nvPr/>
        </p:nvSpPr>
        <p:spPr>
          <a:xfrm>
            <a:off x="822960" y="4919472"/>
            <a:ext cx="4892040" cy="256032"/>
          </a:xfrm>
          <a:prstGeom prst="rect">
            <a:avLst/>
          </a:prstGeom>
          <a:noFill/>
          <a:ln/>
        </p:spPr>
        <p:txBody>
          <a:bodyPr wrap="square" lIns="0" tIns="0" rIns="0" bIns="0" rtlCol="0" anchor="t"/>
          <a:lstStyle/>
          <a:p>
            <a:pPr indent="0" marL="0">
              <a:buNone/>
            </a:pPr>
            <a:r>
              <a:rPr lang="en-US" sz="1100" dirty="0">
                <a:solidFill>
                  <a:srgbClr val="5B6B7B"/>
                </a:solidFill>
                <a:latin typeface="Calibri" pitchFamily="34" charset="0"/>
                <a:ea typeface="Calibri" pitchFamily="34" charset="-122"/>
                <a:cs typeface="Calibri" pitchFamily="34" charset="-120"/>
              </a:rPr>
              <a:t>kg · rüzgâr ≤ 8 m/s · yalnızca pist boşken</a:t>
            </a:r>
            <a:endParaRPr lang="en-US" sz="1100" dirty="0"/>
          </a:p>
        </p:txBody>
      </p:sp>
      <p:sp>
        <p:nvSpPr>
          <p:cNvPr id="19" name="Shape 16"/>
          <p:cNvSpPr/>
          <p:nvPr/>
        </p:nvSpPr>
        <p:spPr>
          <a:xfrm>
            <a:off x="6199632" y="1371600"/>
            <a:ext cx="5440680" cy="4160520"/>
          </a:xfrm>
          <a:prstGeom prst="roundRect">
            <a:avLst>
              <a:gd name="adj" fmla="val 2637"/>
            </a:avLst>
          </a:prstGeom>
          <a:solidFill>
            <a:srgbClr val="EEF3F8"/>
          </a:solidFill>
          <a:ln w="6350">
            <a:solidFill>
              <a:srgbClr val="EEF3F8"/>
            </a:solidFill>
            <a:prstDash val="solid"/>
          </a:ln>
        </p:spPr>
      </p:sp>
      <p:sp>
        <p:nvSpPr>
          <p:cNvPr id="20" name="Shape 17"/>
          <p:cNvSpPr/>
          <p:nvPr/>
        </p:nvSpPr>
        <p:spPr>
          <a:xfrm>
            <a:off x="6473952" y="1600200"/>
            <a:ext cx="685800" cy="685800"/>
          </a:xfrm>
          <a:prstGeom prst="ellipse">
            <a:avLst/>
          </a:prstGeom>
          <a:solidFill>
            <a:srgbClr val="7A4FB5"/>
          </a:solidFill>
          <a:ln w="6350">
            <a:solidFill>
              <a:srgbClr val="7A4FB5"/>
            </a:solidFill>
            <a:prstDash val="solid"/>
          </a:ln>
        </p:spPr>
      </p:sp>
      <p:pic>
        <p:nvPicPr>
          <p:cNvPr id="21" name="Image 1" descr="preencoded.png">    </p:cNvPr>
          <p:cNvPicPr>
            <a:picLocks noChangeAspect="1"/>
          </p:cNvPicPr>
          <p:nvPr/>
        </p:nvPicPr>
        <p:blipFill>
          <a:blip r:embed="rId2"/>
          <a:stretch>
            <a:fillRect/>
          </a:stretch>
        </p:blipFill>
        <p:spPr>
          <a:xfrm>
            <a:off x="6638544" y="1764792"/>
            <a:ext cx="356616" cy="356616"/>
          </a:xfrm>
          <a:prstGeom prst="rect">
            <a:avLst/>
          </a:prstGeom>
        </p:spPr>
      </p:pic>
      <p:sp>
        <p:nvSpPr>
          <p:cNvPr id="22" name="Text 18"/>
          <p:cNvSpPr txBox="1"/>
          <p:nvPr/>
        </p:nvSpPr>
        <p:spPr>
          <a:xfrm>
            <a:off x="7342632" y="1600200"/>
            <a:ext cx="2743200" cy="384048"/>
          </a:xfrm>
          <a:prstGeom prst="rect">
            <a:avLst/>
          </a:prstGeom>
          <a:noFill/>
          <a:ln/>
        </p:spPr>
        <p:txBody>
          <a:bodyPr wrap="square" lIns="0" tIns="0" rIns="0" bIns="0" rtlCol="0" anchor="t"/>
          <a:lstStyle/>
          <a:p>
            <a:pPr indent="0" marL="0">
              <a:buNone/>
            </a:pPr>
            <a:r>
              <a:rPr lang="en-US" sz="2000" b="1" dirty="0">
                <a:solidFill>
                  <a:srgbClr val="0B1E33"/>
                </a:solidFill>
                <a:latin typeface="Calibri" pitchFamily="34" charset="0"/>
                <a:ea typeface="Calibri" pitchFamily="34" charset="-122"/>
                <a:cs typeface="Calibri" pitchFamily="34" charset="-120"/>
              </a:rPr>
              <a:t>Bakıcı: buz haritası</a:t>
            </a:r>
            <a:endParaRPr lang="en-US" sz="2000" dirty="0"/>
          </a:p>
        </p:txBody>
      </p:sp>
      <p:sp>
        <p:nvSpPr>
          <p:cNvPr id="23" name="Text 19"/>
          <p:cNvSpPr txBox="1"/>
          <p:nvPr/>
        </p:nvSpPr>
        <p:spPr>
          <a:xfrm>
            <a:off x="7342632" y="1984248"/>
            <a:ext cx="4114800" cy="292608"/>
          </a:xfrm>
          <a:prstGeom prst="rect">
            <a:avLst/>
          </a:prstGeom>
          <a:noFill/>
          <a:ln/>
        </p:spPr>
        <p:txBody>
          <a:bodyPr wrap="square" lIns="0" tIns="0" rIns="0" bIns="0" rtlCol="0" anchor="t"/>
          <a:lstStyle/>
          <a:p>
            <a:pPr indent="0" marL="0">
              <a:buNone/>
            </a:pPr>
            <a:r>
              <a:rPr lang="en-US" sz="1200" b="1" dirty="0">
                <a:solidFill>
                  <a:srgbClr val="7A4FB5"/>
                </a:solidFill>
                <a:latin typeface="Calibri" pitchFamily="34" charset="0"/>
                <a:ea typeface="Calibri" pitchFamily="34" charset="-122"/>
                <a:cs typeface="Calibri" pitchFamily="34" charset="-120"/>
              </a:rPr>
              <a:t>işçinin ikinci rolü · yalnızca kış kovanında</a:t>
            </a:r>
            <a:endParaRPr lang="en-US" sz="1200" dirty="0"/>
          </a:p>
        </p:txBody>
      </p:sp>
      <p:sp>
        <p:nvSpPr>
          <p:cNvPr id="24" name="Shape 20"/>
          <p:cNvSpPr/>
          <p:nvPr/>
        </p:nvSpPr>
        <p:spPr>
          <a:xfrm>
            <a:off x="10177272" y="1627632"/>
            <a:ext cx="1234440" cy="329184"/>
          </a:xfrm>
          <a:prstGeom prst="roundRect">
            <a:avLst>
              <a:gd name="adj" fmla="val 50000"/>
            </a:avLst>
          </a:prstGeom>
          <a:solidFill>
            <a:srgbClr val="7A4FB5"/>
          </a:solidFill>
          <a:ln w="6350">
            <a:solidFill>
              <a:srgbClr val="7A4FB5"/>
            </a:solidFill>
            <a:prstDash val="solid"/>
          </a:ln>
        </p:spPr>
      </p:sp>
      <p:sp>
        <p:nvSpPr>
          <p:cNvPr id="25" name="Text 21"/>
          <p:cNvSpPr txBox="1"/>
          <p:nvPr/>
        </p:nvSpPr>
        <p:spPr>
          <a:xfrm>
            <a:off x="10177272" y="1627632"/>
            <a:ext cx="12344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TRL 3–4</a:t>
            </a:r>
            <a:endParaRPr lang="en-US" sz="1200" dirty="0"/>
          </a:p>
        </p:txBody>
      </p:sp>
      <p:sp>
        <p:nvSpPr>
          <p:cNvPr id="26" name="Text 22"/>
          <p:cNvSpPr txBox="1"/>
          <p:nvPr/>
        </p:nvSpPr>
        <p:spPr>
          <a:xfrm>
            <a:off x="6473952" y="2423160"/>
            <a:ext cx="4937760" cy="1280160"/>
          </a:xfrm>
          <a:prstGeom prst="rect">
            <a:avLst/>
          </a:prstGeom>
          <a:noFill/>
          <a:ln/>
        </p:spPr>
        <p:txBody>
          <a:bodyPr wrap="square" lIns="0" tIns="0" rIns="0" bIns="0" rtlCol="0" anchor="t"/>
          <a:lstStyle/>
          <a:p>
            <a:pPr indent="0" marL="0">
              <a:spcAft>
                <a:spcPts val="600"/>
              </a:spcAft>
              <a:buNone/>
            </a:pPr>
            <a:r>
              <a:rPr lang="en-US" sz="1400" b="1" dirty="0">
                <a:solidFill>
                  <a:srgbClr val="0B1E33"/>
                </a:solidFill>
                <a:latin typeface="Calibri" pitchFamily="34" charset="0"/>
                <a:ea typeface="Calibri" pitchFamily="34" charset="-122"/>
                <a:cs typeface="Calibri" pitchFamily="34" charset="-120"/>
              </a:rPr>
              <a:t>Yapar: </a:t>
            </a:r>
            <a:pPr indent="0" marL="0">
              <a:spcAft>
                <a:spcPts val="600"/>
              </a:spcAft>
              <a:buNone/>
            </a:pPr>
            <a:r>
              <a:rPr lang="en-US" sz="1400" dirty="0">
                <a:solidFill>
                  <a:srgbClr val="1F2D3D"/>
                </a:solidFill>
                <a:latin typeface="Calibri" pitchFamily="34" charset="0"/>
                <a:ea typeface="Calibri" pitchFamily="34" charset="-122"/>
                <a:cs typeface="Calibri" pitchFamily="34" charset="-120"/>
              </a:rPr>
              <a:t>park eden uçakta kanat, stabilizör ve gövde üstündeki kırağıyı haritalar; ekibin tabletine "püskürtme bölgeleri" düşer</a:t>
            </a:r>
            <a:endParaRPr lang="en-US" sz="1400" dirty="0"/>
          </a:p>
          <a:p>
            <a:pPr indent="0" marL="0">
              <a:spcAft>
                <a:spcPts val="600"/>
              </a:spcAft>
              <a:buNone/>
            </a:pPr>
            <a:r>
              <a:rPr lang="en-US" sz="1400" b="1" dirty="0">
                <a:solidFill>
                  <a:srgbClr val="C0392B"/>
                </a:solidFill>
                <a:latin typeface="Calibri" pitchFamily="34" charset="0"/>
                <a:ea typeface="Calibri" pitchFamily="34" charset="-122"/>
                <a:cs typeface="Calibri" pitchFamily="34" charset="-120"/>
              </a:rPr>
              <a:t>Yapmaz: </a:t>
            </a:r>
            <a:pPr indent="0" marL="0">
              <a:spcAft>
                <a:spcPts val="600"/>
              </a:spcAft>
              <a:buNone/>
            </a:pPr>
            <a:r>
              <a:rPr lang="en-US" sz="1400" dirty="0">
                <a:solidFill>
                  <a:srgbClr val="1F2D3D"/>
                </a:solidFill>
                <a:latin typeface="Calibri" pitchFamily="34" charset="0"/>
                <a:ea typeface="Calibri" pitchFamily="34" charset="-122"/>
                <a:cs typeface="Calibri" pitchFamily="34" charset="-120"/>
              </a:rPr>
              <a:t>sıvı sıkmaz; "uçak temiz" kararını vermez, karar kaptan ve ekibin</a:t>
            </a:r>
            <a:endParaRPr lang="en-US" sz="1400" dirty="0"/>
          </a:p>
        </p:txBody>
      </p:sp>
      <p:sp>
        <p:nvSpPr>
          <p:cNvPr id="27" name="Text 23"/>
          <p:cNvSpPr txBox="1"/>
          <p:nvPr/>
        </p:nvSpPr>
        <p:spPr>
          <a:xfrm>
            <a:off x="6473952" y="3767328"/>
            <a:ext cx="2743200" cy="274320"/>
          </a:xfrm>
          <a:prstGeom prst="rect">
            <a:avLst/>
          </a:prstGeom>
          <a:noFill/>
          <a:ln/>
        </p:spPr>
        <p:txBody>
          <a:bodyPr wrap="square" lIns="0" tIns="0" rIns="0" bIns="0" rtlCol="0" anchor="t"/>
          <a:lstStyle/>
          <a:p>
            <a:pPr indent="0" marL="0">
              <a:buNone/>
            </a:pPr>
            <a:r>
              <a:rPr lang="en-US" sz="1200" b="1" dirty="0">
                <a:solidFill>
                  <a:srgbClr val="0B1E33"/>
                </a:solidFill>
                <a:latin typeface="Calibri" pitchFamily="34" charset="0"/>
                <a:ea typeface="Calibri" pitchFamily="34" charset="-122"/>
                <a:cs typeface="Calibri" pitchFamily="34" charset="-120"/>
              </a:rPr>
              <a:t>Git / gitme</a:t>
            </a:r>
            <a:endParaRPr lang="en-US" sz="1200" dirty="0"/>
          </a:p>
        </p:txBody>
      </p:sp>
      <p:sp>
        <p:nvSpPr>
          <p:cNvPr id="28" name="Shape 24"/>
          <p:cNvSpPr/>
          <p:nvPr/>
        </p:nvSpPr>
        <p:spPr>
          <a:xfrm>
            <a:off x="6473952" y="4078224"/>
            <a:ext cx="4892040" cy="914"/>
          </a:xfrm>
          <a:prstGeom prst="line">
            <a:avLst/>
          </a:prstGeom>
          <a:noFill/>
          <a:ln w="9525">
            <a:solidFill>
              <a:srgbClr val="C9D3DD"/>
            </a:solidFill>
            <a:prstDash val="solid"/>
          </a:ln>
        </p:spPr>
      </p:sp>
      <p:sp>
        <p:nvSpPr>
          <p:cNvPr id="29" name="Text 25"/>
          <p:cNvSpPr txBox="1"/>
          <p:nvPr/>
        </p:nvSpPr>
        <p:spPr>
          <a:xfrm>
            <a:off x="6473952" y="4096512"/>
            <a:ext cx="3840480" cy="292608"/>
          </a:xfrm>
          <a:prstGeom prst="rect">
            <a:avLst/>
          </a:prstGeom>
          <a:noFill/>
          <a:ln/>
        </p:spPr>
        <p:txBody>
          <a:bodyPr wrap="square" lIns="0" tIns="0" rIns="0" bIns="0" rtlCol="0" anchor="ctr"/>
          <a:lstStyle/>
          <a:p>
            <a:pPr indent="0" marL="0">
              <a:buNone/>
            </a:pPr>
            <a:r>
              <a:rPr lang="en-US" sz="1300" dirty="0">
                <a:solidFill>
                  <a:srgbClr val="1F2D3D"/>
                </a:solidFill>
                <a:latin typeface="Calibri" pitchFamily="34" charset="0"/>
                <a:ea typeface="Calibri" pitchFamily="34" charset="-122"/>
                <a:cs typeface="Calibri" pitchFamily="34" charset="-120"/>
              </a:rPr>
              <a:t>METAR'da FZFG, FZDZ, FZRA, SN, PL</a:t>
            </a:r>
            <a:endParaRPr lang="en-US" sz="1300" dirty="0"/>
          </a:p>
        </p:txBody>
      </p:sp>
      <p:sp>
        <p:nvSpPr>
          <p:cNvPr id="30" name="Text 26"/>
          <p:cNvSpPr txBox="1"/>
          <p:nvPr/>
        </p:nvSpPr>
        <p:spPr>
          <a:xfrm>
            <a:off x="10314432" y="4096512"/>
            <a:ext cx="1051560" cy="292608"/>
          </a:xfrm>
          <a:prstGeom prst="rect">
            <a:avLst/>
          </a:prstGeom>
          <a:noFill/>
          <a:ln/>
        </p:spPr>
        <p:txBody>
          <a:bodyPr wrap="square" lIns="0" tIns="0" rIns="0" bIns="0" rtlCol="0" anchor="ctr"/>
          <a:lstStyle/>
          <a:p>
            <a:pPr algn="r" indent="0" marL="0">
              <a:buNone/>
            </a:pPr>
            <a:r>
              <a:rPr lang="en-US" sz="1300" b="1" dirty="0">
                <a:solidFill>
                  <a:srgbClr val="C0392B"/>
                </a:solidFill>
                <a:latin typeface="Calibri" pitchFamily="34" charset="0"/>
                <a:ea typeface="Calibri" pitchFamily="34" charset="-122"/>
                <a:cs typeface="Calibri" pitchFamily="34" charset="-120"/>
              </a:rPr>
              <a:t>uçmaz</a:t>
            </a:r>
            <a:endParaRPr lang="en-US" sz="1300" dirty="0"/>
          </a:p>
        </p:txBody>
      </p:sp>
      <p:sp>
        <p:nvSpPr>
          <p:cNvPr id="31" name="Shape 27"/>
          <p:cNvSpPr/>
          <p:nvPr/>
        </p:nvSpPr>
        <p:spPr>
          <a:xfrm>
            <a:off x="6473952" y="4407408"/>
            <a:ext cx="4892040" cy="914"/>
          </a:xfrm>
          <a:prstGeom prst="line">
            <a:avLst/>
          </a:prstGeom>
          <a:noFill/>
          <a:ln w="9525">
            <a:solidFill>
              <a:srgbClr val="C9D3DD"/>
            </a:solidFill>
            <a:prstDash val="solid"/>
          </a:ln>
        </p:spPr>
      </p:sp>
      <p:sp>
        <p:nvSpPr>
          <p:cNvPr id="32" name="Text 28"/>
          <p:cNvSpPr txBox="1"/>
          <p:nvPr/>
        </p:nvSpPr>
        <p:spPr>
          <a:xfrm>
            <a:off x="6473952" y="4425696"/>
            <a:ext cx="3840480" cy="292608"/>
          </a:xfrm>
          <a:prstGeom prst="rect">
            <a:avLst/>
          </a:prstGeom>
          <a:noFill/>
          <a:ln/>
        </p:spPr>
        <p:txBody>
          <a:bodyPr wrap="square" lIns="0" tIns="0" rIns="0" bIns="0" rtlCol="0" anchor="ctr"/>
          <a:lstStyle/>
          <a:p>
            <a:pPr indent="0" marL="0">
              <a:buNone/>
            </a:pPr>
            <a:r>
              <a:rPr lang="en-US" sz="1300" dirty="0">
                <a:solidFill>
                  <a:srgbClr val="1F2D3D"/>
                </a:solidFill>
                <a:latin typeface="Calibri" pitchFamily="34" charset="0"/>
                <a:ea typeface="Calibri" pitchFamily="34" charset="-122"/>
                <a:cs typeface="Calibri" pitchFamily="34" charset="-120"/>
              </a:rPr>
              <a:t>Sıcaklık ≥ –20 °C, uçuş ≤ 15 dk, rüzgâr ≤ 8 m/s</a:t>
            </a:r>
            <a:endParaRPr lang="en-US" sz="1300" dirty="0"/>
          </a:p>
        </p:txBody>
      </p:sp>
      <p:sp>
        <p:nvSpPr>
          <p:cNvPr id="33" name="Text 29"/>
          <p:cNvSpPr txBox="1"/>
          <p:nvPr/>
        </p:nvSpPr>
        <p:spPr>
          <a:xfrm>
            <a:off x="10314432" y="4425696"/>
            <a:ext cx="1051560" cy="292608"/>
          </a:xfrm>
          <a:prstGeom prst="rect">
            <a:avLst/>
          </a:prstGeom>
          <a:noFill/>
          <a:ln/>
        </p:spPr>
        <p:txBody>
          <a:bodyPr wrap="square" lIns="0" tIns="0" rIns="0" bIns="0" rtlCol="0" anchor="ctr"/>
          <a:lstStyle/>
          <a:p>
            <a:pPr algn="r" indent="0" marL="0">
              <a:buNone/>
            </a:pPr>
            <a:r>
              <a:rPr lang="en-US" sz="1300" b="1" dirty="0">
                <a:solidFill>
                  <a:srgbClr val="3E9A31"/>
                </a:solidFill>
                <a:latin typeface="Calibri" pitchFamily="34" charset="0"/>
                <a:ea typeface="Calibri" pitchFamily="34" charset="-122"/>
                <a:cs typeface="Calibri" pitchFamily="34" charset="-120"/>
              </a:rPr>
              <a:t>uçar</a:t>
            </a:r>
            <a:endParaRPr lang="en-US" sz="1300" dirty="0"/>
          </a:p>
        </p:txBody>
      </p:sp>
      <p:sp>
        <p:nvSpPr>
          <p:cNvPr id="34" name="Shape 30"/>
          <p:cNvSpPr/>
          <p:nvPr/>
        </p:nvSpPr>
        <p:spPr>
          <a:xfrm>
            <a:off x="6473952" y="4736592"/>
            <a:ext cx="4892040" cy="914"/>
          </a:xfrm>
          <a:prstGeom prst="line">
            <a:avLst/>
          </a:prstGeom>
          <a:noFill/>
          <a:ln w="9525">
            <a:solidFill>
              <a:srgbClr val="C9D3DD"/>
            </a:solidFill>
            <a:prstDash val="solid"/>
          </a:ln>
        </p:spPr>
      </p:sp>
      <p:sp>
        <p:nvSpPr>
          <p:cNvPr id="35" name="Text 31"/>
          <p:cNvSpPr txBox="1"/>
          <p:nvPr/>
        </p:nvSpPr>
        <p:spPr>
          <a:xfrm>
            <a:off x="6473952" y="4754880"/>
            <a:ext cx="3840480" cy="292608"/>
          </a:xfrm>
          <a:prstGeom prst="rect">
            <a:avLst/>
          </a:prstGeom>
          <a:noFill/>
          <a:ln/>
        </p:spPr>
        <p:txBody>
          <a:bodyPr wrap="square" lIns="0" tIns="0" rIns="0" bIns="0" rtlCol="0" anchor="ctr"/>
          <a:lstStyle/>
          <a:p>
            <a:pPr indent="0" marL="0">
              <a:buNone/>
            </a:pPr>
            <a:r>
              <a:rPr lang="en-US" sz="1300" dirty="0">
                <a:solidFill>
                  <a:srgbClr val="1F2D3D"/>
                </a:solidFill>
                <a:latin typeface="Calibri" pitchFamily="34" charset="0"/>
                <a:ea typeface="Calibri" pitchFamily="34" charset="-122"/>
                <a:cs typeface="Calibri" pitchFamily="34" charset="-120"/>
              </a:rPr>
              <a:t>Uçağın üzerinden geçmez · ≥ 6 m · ≤ 3 m/s</a:t>
            </a:r>
            <a:endParaRPr lang="en-US" sz="1300" dirty="0"/>
          </a:p>
        </p:txBody>
      </p:sp>
      <p:sp>
        <p:nvSpPr>
          <p:cNvPr id="36" name="Text 32"/>
          <p:cNvSpPr txBox="1"/>
          <p:nvPr/>
        </p:nvSpPr>
        <p:spPr>
          <a:xfrm>
            <a:off x="10314432" y="4754880"/>
            <a:ext cx="1051560" cy="292608"/>
          </a:xfrm>
          <a:prstGeom prst="rect">
            <a:avLst/>
          </a:prstGeom>
          <a:noFill/>
          <a:ln/>
        </p:spPr>
        <p:txBody>
          <a:bodyPr wrap="square" lIns="0" tIns="0" rIns="0" bIns="0" rtlCol="0" anchor="ctr"/>
          <a:lstStyle/>
          <a:p>
            <a:pPr algn="r" indent="0" marL="0">
              <a:buNone/>
            </a:pPr>
            <a:r>
              <a:rPr lang="en-US" sz="1300" b="1" dirty="0">
                <a:solidFill>
                  <a:srgbClr val="3E9A31"/>
                </a:solidFill>
                <a:latin typeface="Calibri" pitchFamily="34" charset="0"/>
                <a:ea typeface="Calibri" pitchFamily="34" charset="-122"/>
                <a:cs typeface="Calibri" pitchFamily="34" charset="-120"/>
              </a:rPr>
              <a:t>her zaman</a:t>
            </a:r>
            <a:endParaRPr lang="en-US" sz="1300" dirty="0"/>
          </a:p>
        </p:txBody>
      </p:sp>
      <p:sp>
        <p:nvSpPr>
          <p:cNvPr id="37" name="Text 33"/>
          <p:cNvSpPr txBox="1"/>
          <p:nvPr/>
        </p:nvSpPr>
        <p:spPr>
          <a:xfrm>
            <a:off x="6473952" y="5074920"/>
            <a:ext cx="4892040" cy="292608"/>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Sayı vermiyoruz: glikol tasarrufu pilotta ölçülecek</a:t>
            </a:r>
            <a:endParaRPr lang="en-US" sz="1200" dirty="0"/>
          </a:p>
        </p:txBody>
      </p:sp>
      <p:sp>
        <p:nvSpPr>
          <p:cNvPr id="38" name="Text 34"/>
          <p:cNvSpPr txBox="1"/>
          <p:nvPr/>
        </p:nvSpPr>
        <p:spPr>
          <a:xfrm>
            <a:off x="548640" y="5715000"/>
            <a:ext cx="11091672" cy="411480"/>
          </a:xfrm>
          <a:prstGeom prst="rect">
            <a:avLst/>
          </a:prstGeom>
          <a:noFill/>
          <a:ln/>
        </p:spPr>
        <p:txBody>
          <a:bodyPr wrap="square" lIns="0" tIns="0" rIns="0" bIns="0" rtlCol="0" anchor="ctr"/>
          <a:lstStyle/>
          <a:p>
            <a:pPr indent="0" marL="0">
              <a:buNone/>
            </a:pPr>
            <a:r>
              <a:rPr lang="en-US" sz="1400" b="1" dirty="0">
                <a:solidFill>
                  <a:srgbClr val="0B1E33"/>
                </a:solidFill>
                <a:latin typeface="Calibri" pitchFamily="34" charset="0"/>
                <a:ea typeface="Calibri" pitchFamily="34" charset="-122"/>
                <a:cs typeface="Calibri" pitchFamily="34" charset="-120"/>
              </a:rPr>
              <a:t>Hâlâ yapmadıklarımız: </a:t>
            </a:r>
            <a:pPr indent="0" marL="0">
              <a:buNone/>
            </a:pPr>
            <a:r>
              <a:rPr lang="en-US" sz="1400" dirty="0">
                <a:solidFill>
                  <a:srgbClr val="1F2D3D"/>
                </a:solidFill>
                <a:latin typeface="Calibri" pitchFamily="34" charset="0"/>
                <a:ea typeface="Calibri" pitchFamily="34" charset="-122"/>
                <a:cs typeface="Calibri" pitchFamily="34" charset="-120"/>
              </a:rPr>
              <a:t>drone'la sıvı püskürtme · glikol geri kazanımı · 1 kg'ı aşan nesne · "pist açık" ya da "uçak temiz" kararı</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966960" cy="777240"/>
          </a:xfrm>
          <a:prstGeom prst="rect">
            <a:avLst/>
          </a:prstGeom>
          <a:noFill/>
          <a:ln/>
        </p:spPr>
        <p:txBody>
          <a:bodyPr wrap="square" lIns="0" tIns="0" rIns="0" bIns="0" rtlCol="0" anchor="ctr"/>
          <a:lstStyle/>
          <a:p>
            <a:pPr algn="l" indent="0" marL="0">
              <a:buNone/>
            </a:pPr>
            <a:r>
              <a:rPr lang="en-US" sz="3200" b="1" dirty="0">
                <a:solidFill>
                  <a:srgbClr val="0B1E33"/>
                </a:solidFill>
              </a:rPr>
              <a:t>İlk gören kovan, karıştırmaya dayanıklı konum</a:t>
            </a:r>
            <a:endParaRPr lang="en-US" sz="3200" dirty="0"/>
          </a:p>
        </p:txBody>
      </p:sp>
      <p:sp>
        <p:nvSpPr>
          <p:cNvPr id="3" name="Text 1"/>
          <p:cNvSpPr txBox="1"/>
          <p:nvPr/>
        </p:nvSpPr>
        <p:spPr>
          <a:xfrm>
            <a:off x="548640" y="1325880"/>
            <a:ext cx="3657600" cy="274320"/>
          </a:xfrm>
          <a:prstGeom prst="rect">
            <a:avLst/>
          </a:prstGeom>
          <a:noFill/>
          <a:ln/>
        </p:spPr>
        <p:txBody>
          <a:bodyPr wrap="square" lIns="0" tIns="0" rIns="0" bIns="0" rtlCol="0" anchor="t"/>
          <a:lstStyle/>
          <a:p>
            <a:pPr indent="0" marL="0">
              <a:buNone/>
            </a:pPr>
            <a:r>
              <a:rPr lang="en-US" sz="1200" b="1" spc="100" kern="0" dirty="0">
                <a:solidFill>
                  <a:srgbClr val="C0392B"/>
                </a:solidFill>
                <a:latin typeface="Calibri" pitchFamily="34" charset="0"/>
                <a:ea typeface="Calibri" pitchFamily="34" charset="-122"/>
                <a:cs typeface="Calibri" pitchFamily="34" charset="-120"/>
              </a:rPr>
              <a:t>İLK FARK EDEN KOVAN</a:t>
            </a:r>
            <a:endParaRPr lang="en-US" sz="1200" dirty="0"/>
          </a:p>
        </p:txBody>
      </p:sp>
      <p:sp>
        <p:nvSpPr>
          <p:cNvPr id="4" name="Shape 2"/>
          <p:cNvSpPr/>
          <p:nvPr/>
        </p:nvSpPr>
        <p:spPr>
          <a:xfrm>
            <a:off x="548640" y="1691640"/>
            <a:ext cx="566928" cy="566928"/>
          </a:xfrm>
          <a:prstGeom prst="ellipse">
            <a:avLst/>
          </a:prstGeom>
          <a:solidFill>
            <a:srgbClr val="0B1E33"/>
          </a:solidFill>
          <a:ln w="6350">
            <a:solidFill>
              <a:srgbClr val="0B1E33"/>
            </a:solidFill>
            <a:prstDash val="solid"/>
          </a:ln>
        </p:spPr>
      </p:sp>
      <p:pic>
        <p:nvPicPr>
          <p:cNvPr id="5" name="Image 0" descr="preencoded.png">    </p:cNvPr>
          <p:cNvPicPr>
            <a:picLocks noChangeAspect="1"/>
          </p:cNvPicPr>
          <p:nvPr/>
        </p:nvPicPr>
        <p:blipFill>
          <a:blip r:embed="rId1"/>
          <a:stretch>
            <a:fillRect/>
          </a:stretch>
        </p:blipFill>
        <p:spPr>
          <a:xfrm>
            <a:off x="684703" y="1827703"/>
            <a:ext cx="294803" cy="294803"/>
          </a:xfrm>
          <a:prstGeom prst="rect">
            <a:avLst/>
          </a:prstGeom>
        </p:spPr>
      </p:pic>
      <p:sp>
        <p:nvSpPr>
          <p:cNvPr id="6" name="Text 3"/>
          <p:cNvSpPr txBox="1"/>
          <p:nvPr/>
        </p:nvSpPr>
        <p:spPr>
          <a:xfrm>
            <a:off x="1261872" y="1673352"/>
            <a:ext cx="2743200" cy="292608"/>
          </a:xfrm>
          <a:prstGeom prst="rect">
            <a:avLst/>
          </a:prstGeom>
          <a:noFill/>
          <a:ln/>
        </p:spPr>
        <p:txBody>
          <a:bodyPr wrap="square" lIns="0" tIns="0" rIns="0" bIns="0" rtlCol="0" anchor="t"/>
          <a:lstStyle/>
          <a:p>
            <a:pPr indent="0" marL="0">
              <a:buNone/>
            </a:pPr>
            <a:r>
              <a:rPr lang="en-US" sz="1500" b="1" dirty="0">
                <a:solidFill>
                  <a:srgbClr val="0B1E33"/>
                </a:solidFill>
                <a:latin typeface="Calibri" pitchFamily="34" charset="0"/>
                <a:ea typeface="Calibri" pitchFamily="34" charset="-122"/>
                <a:cs typeface="Calibri" pitchFamily="34" charset="-120"/>
              </a:rPr>
              <a:t>Nöbetçi fark eder</a:t>
            </a:r>
            <a:endParaRPr lang="en-US" sz="1500" dirty="0"/>
          </a:p>
        </p:txBody>
      </p:sp>
      <p:sp>
        <p:nvSpPr>
          <p:cNvPr id="7" name="Text 4"/>
          <p:cNvSpPr txBox="1"/>
          <p:nvPr/>
        </p:nvSpPr>
        <p:spPr>
          <a:xfrm>
            <a:off x="1261872" y="1965960"/>
            <a:ext cx="2834640" cy="274320"/>
          </a:xfrm>
          <a:prstGeom prst="rect">
            <a:avLst/>
          </a:prstGeom>
          <a:noFill/>
          <a:ln/>
        </p:spPr>
        <p:txBody>
          <a:bodyPr wrap="square" lIns="0" tIns="0" rIns="0" bIns="0" rtlCol="0" anchor="t"/>
          <a:lstStyle/>
          <a:p>
            <a:pPr indent="0" marL="0">
              <a:buNone/>
            </a:pPr>
            <a:r>
              <a:rPr lang="en-US" sz="1200" dirty="0">
                <a:solidFill>
                  <a:srgbClr val="1F2D3D"/>
                </a:solidFill>
                <a:latin typeface="Calibri" pitchFamily="34" charset="0"/>
                <a:ea typeface="Calibri" pitchFamily="34" charset="-122"/>
                <a:cs typeface="Calibri" pitchFamily="34" charset="-120"/>
              </a:rPr>
              <a:t>sabit termal + PTZ, her harekette</a:t>
            </a:r>
            <a:endParaRPr lang="en-US" sz="1200" dirty="0"/>
          </a:p>
        </p:txBody>
      </p:sp>
      <p:sp>
        <p:nvSpPr>
          <p:cNvPr id="8" name="Shape 5"/>
          <p:cNvSpPr/>
          <p:nvPr/>
        </p:nvSpPr>
        <p:spPr>
          <a:xfrm>
            <a:off x="832104" y="2295144"/>
            <a:ext cx="914" cy="164592"/>
          </a:xfrm>
          <a:prstGeom prst="line">
            <a:avLst/>
          </a:prstGeom>
          <a:noFill/>
          <a:ln w="15875">
            <a:solidFill>
              <a:srgbClr val="B8C4D0"/>
            </a:solidFill>
            <a:prstDash val="solid"/>
          </a:ln>
        </p:spPr>
      </p:sp>
      <p:sp>
        <p:nvSpPr>
          <p:cNvPr id="9" name="Shape 6"/>
          <p:cNvSpPr/>
          <p:nvPr/>
        </p:nvSpPr>
        <p:spPr>
          <a:xfrm>
            <a:off x="548640" y="2478024"/>
            <a:ext cx="566928" cy="566928"/>
          </a:xfrm>
          <a:prstGeom prst="ellipse">
            <a:avLst/>
          </a:prstGeom>
          <a:solidFill>
            <a:srgbClr val="C0392B"/>
          </a:solidFill>
          <a:ln w="6350">
            <a:solidFill>
              <a:srgbClr val="C0392B"/>
            </a:solidFill>
            <a:prstDash val="solid"/>
          </a:ln>
        </p:spPr>
      </p:sp>
      <p:pic>
        <p:nvPicPr>
          <p:cNvPr id="10" name="Image 1" descr="preencoded.png">    </p:cNvPr>
          <p:cNvPicPr>
            <a:picLocks noChangeAspect="1"/>
          </p:cNvPicPr>
          <p:nvPr/>
        </p:nvPicPr>
        <p:blipFill>
          <a:blip r:embed="rId2"/>
          <a:stretch>
            <a:fillRect/>
          </a:stretch>
        </p:blipFill>
        <p:spPr>
          <a:xfrm>
            <a:off x="684703" y="2614087"/>
            <a:ext cx="294803" cy="294803"/>
          </a:xfrm>
          <a:prstGeom prst="rect">
            <a:avLst/>
          </a:prstGeom>
        </p:spPr>
      </p:pic>
      <p:sp>
        <p:nvSpPr>
          <p:cNvPr id="11" name="Text 7"/>
          <p:cNvSpPr txBox="1"/>
          <p:nvPr/>
        </p:nvSpPr>
        <p:spPr>
          <a:xfrm>
            <a:off x="1261872" y="2459736"/>
            <a:ext cx="2743200" cy="292608"/>
          </a:xfrm>
          <a:prstGeom prst="rect">
            <a:avLst/>
          </a:prstGeom>
          <a:noFill/>
          <a:ln/>
        </p:spPr>
        <p:txBody>
          <a:bodyPr wrap="square" lIns="0" tIns="0" rIns="0" bIns="0" rtlCol="0" anchor="t"/>
          <a:lstStyle/>
          <a:p>
            <a:pPr indent="0" marL="0">
              <a:buNone/>
            </a:pPr>
            <a:r>
              <a:rPr lang="en-US" sz="1500" b="1" dirty="0">
                <a:solidFill>
                  <a:srgbClr val="0B1E33"/>
                </a:solidFill>
                <a:latin typeface="Calibri" pitchFamily="34" charset="0"/>
                <a:ea typeface="Calibri" pitchFamily="34" charset="-122"/>
                <a:cs typeface="Calibri" pitchFamily="34" charset="-120"/>
              </a:rPr>
              <a:t>Kule uyarılır</a:t>
            </a:r>
            <a:endParaRPr lang="en-US" sz="1500" dirty="0"/>
          </a:p>
        </p:txBody>
      </p:sp>
      <p:sp>
        <p:nvSpPr>
          <p:cNvPr id="12" name="Text 8"/>
          <p:cNvSpPr txBox="1"/>
          <p:nvPr/>
        </p:nvSpPr>
        <p:spPr>
          <a:xfrm>
            <a:off x="1261872" y="2752344"/>
            <a:ext cx="2834640" cy="274320"/>
          </a:xfrm>
          <a:prstGeom prst="rect">
            <a:avLst/>
          </a:prstGeom>
          <a:noFill/>
          <a:ln/>
        </p:spPr>
        <p:txBody>
          <a:bodyPr wrap="square" lIns="0" tIns="0" rIns="0" bIns="0" rtlCol="0" anchor="t"/>
          <a:lstStyle/>
          <a:p>
            <a:pPr indent="0" marL="0">
              <a:buNone/>
            </a:pPr>
            <a:r>
              <a:rPr lang="en-US" sz="1200" dirty="0">
                <a:solidFill>
                  <a:srgbClr val="1F2D3D"/>
                </a:solidFill>
                <a:latin typeface="Calibri" pitchFamily="34" charset="0"/>
                <a:ea typeface="Calibri" pitchFamily="34" charset="-122"/>
                <a:cs typeface="Calibri" pitchFamily="34" charset="-120"/>
              </a:rPr>
              <a:t>hedef ≤ 10 sn (pilotta ölçülecek)</a:t>
            </a:r>
            <a:endParaRPr lang="en-US" sz="1200" dirty="0"/>
          </a:p>
        </p:txBody>
      </p:sp>
      <p:sp>
        <p:nvSpPr>
          <p:cNvPr id="13" name="Shape 9"/>
          <p:cNvSpPr/>
          <p:nvPr/>
        </p:nvSpPr>
        <p:spPr>
          <a:xfrm>
            <a:off x="832104" y="3081528"/>
            <a:ext cx="914" cy="164592"/>
          </a:xfrm>
          <a:prstGeom prst="line">
            <a:avLst/>
          </a:prstGeom>
          <a:noFill/>
          <a:ln w="15875">
            <a:solidFill>
              <a:srgbClr val="B8C4D0"/>
            </a:solidFill>
            <a:prstDash val="solid"/>
          </a:ln>
        </p:spPr>
      </p:sp>
      <p:sp>
        <p:nvSpPr>
          <p:cNvPr id="14" name="Shape 10"/>
          <p:cNvSpPr/>
          <p:nvPr/>
        </p:nvSpPr>
        <p:spPr>
          <a:xfrm>
            <a:off x="548640" y="3264408"/>
            <a:ext cx="566928" cy="566928"/>
          </a:xfrm>
          <a:prstGeom prst="ellipse">
            <a:avLst/>
          </a:prstGeom>
          <a:solidFill>
            <a:srgbClr val="0B1E33"/>
          </a:solidFill>
          <a:ln w="6350">
            <a:solidFill>
              <a:srgbClr val="0B1E33"/>
            </a:solidFill>
            <a:prstDash val="solid"/>
          </a:ln>
        </p:spPr>
      </p:sp>
      <p:pic>
        <p:nvPicPr>
          <p:cNvPr id="15" name="Image 2" descr="preencoded.png">    </p:cNvPr>
          <p:cNvPicPr>
            <a:picLocks noChangeAspect="1"/>
          </p:cNvPicPr>
          <p:nvPr/>
        </p:nvPicPr>
        <p:blipFill>
          <a:blip r:embed="rId3"/>
          <a:stretch>
            <a:fillRect/>
          </a:stretch>
        </p:blipFill>
        <p:spPr>
          <a:xfrm>
            <a:off x="684703" y="3400471"/>
            <a:ext cx="294803" cy="294803"/>
          </a:xfrm>
          <a:prstGeom prst="rect">
            <a:avLst/>
          </a:prstGeom>
        </p:spPr>
      </p:pic>
      <p:sp>
        <p:nvSpPr>
          <p:cNvPr id="16" name="Text 11"/>
          <p:cNvSpPr txBox="1"/>
          <p:nvPr/>
        </p:nvSpPr>
        <p:spPr>
          <a:xfrm>
            <a:off x="1261872" y="3246120"/>
            <a:ext cx="2743200" cy="292608"/>
          </a:xfrm>
          <a:prstGeom prst="rect">
            <a:avLst/>
          </a:prstGeom>
          <a:noFill/>
          <a:ln/>
        </p:spPr>
        <p:txBody>
          <a:bodyPr wrap="square" lIns="0" tIns="0" rIns="0" bIns="0" rtlCol="0" anchor="t"/>
          <a:lstStyle/>
          <a:p>
            <a:pPr indent="0" marL="0">
              <a:buNone/>
            </a:pPr>
            <a:r>
              <a:rPr lang="en-US" sz="1500" b="1" dirty="0">
                <a:solidFill>
                  <a:srgbClr val="0B1E33"/>
                </a:solidFill>
                <a:latin typeface="Calibri" pitchFamily="34" charset="0"/>
                <a:ea typeface="Calibri" pitchFamily="34" charset="-122"/>
                <a:cs typeface="Calibri" pitchFamily="34" charset="-120"/>
              </a:rPr>
              <a:t>Kule onaylar</a:t>
            </a:r>
            <a:endParaRPr lang="en-US" sz="1500" dirty="0"/>
          </a:p>
        </p:txBody>
      </p:sp>
      <p:sp>
        <p:nvSpPr>
          <p:cNvPr id="17" name="Text 12"/>
          <p:cNvSpPr txBox="1"/>
          <p:nvPr/>
        </p:nvSpPr>
        <p:spPr>
          <a:xfrm>
            <a:off x="1261872" y="3538728"/>
            <a:ext cx="2834640" cy="274320"/>
          </a:xfrm>
          <a:prstGeom prst="rect">
            <a:avLst/>
          </a:prstGeom>
          <a:noFill/>
          <a:ln/>
        </p:spPr>
        <p:txBody>
          <a:bodyPr wrap="square" lIns="0" tIns="0" rIns="0" bIns="0" rtlCol="0" anchor="t"/>
          <a:lstStyle/>
          <a:p>
            <a:pPr indent="0" marL="0">
              <a:buNone/>
            </a:pPr>
            <a:r>
              <a:rPr lang="en-US" sz="1200" dirty="0">
                <a:solidFill>
                  <a:srgbClr val="1F2D3D"/>
                </a:solidFill>
                <a:latin typeface="Calibri" pitchFamily="34" charset="0"/>
                <a:ea typeface="Calibri" pitchFamily="34" charset="-122"/>
                <a:cs typeface="Calibri" pitchFamily="34" charset="-120"/>
              </a:rPr>
              <a:t>en yakın uygun drone ≈60 sn'de kalkar</a:t>
            </a:r>
            <a:endParaRPr lang="en-US" sz="1200" dirty="0"/>
          </a:p>
        </p:txBody>
      </p:sp>
      <p:sp>
        <p:nvSpPr>
          <p:cNvPr id="18" name="Shape 13"/>
          <p:cNvSpPr/>
          <p:nvPr/>
        </p:nvSpPr>
        <p:spPr>
          <a:xfrm>
            <a:off x="832104" y="3867912"/>
            <a:ext cx="914" cy="164592"/>
          </a:xfrm>
          <a:prstGeom prst="line">
            <a:avLst/>
          </a:prstGeom>
          <a:noFill/>
          <a:ln w="15875">
            <a:solidFill>
              <a:srgbClr val="B8C4D0"/>
            </a:solidFill>
            <a:prstDash val="solid"/>
          </a:ln>
        </p:spPr>
      </p:sp>
      <p:sp>
        <p:nvSpPr>
          <p:cNvPr id="19" name="Shape 14"/>
          <p:cNvSpPr/>
          <p:nvPr/>
        </p:nvSpPr>
        <p:spPr>
          <a:xfrm>
            <a:off x="548640" y="4050792"/>
            <a:ext cx="566928" cy="566928"/>
          </a:xfrm>
          <a:prstGeom prst="ellipse">
            <a:avLst/>
          </a:prstGeom>
          <a:solidFill>
            <a:srgbClr val="C0392B"/>
          </a:solidFill>
          <a:ln w="6350">
            <a:solidFill>
              <a:srgbClr val="C0392B"/>
            </a:solidFill>
            <a:prstDash val="solid"/>
          </a:ln>
        </p:spPr>
      </p:sp>
      <p:pic>
        <p:nvPicPr>
          <p:cNvPr id="20" name="Image 3" descr="preencoded.png">    </p:cNvPr>
          <p:cNvPicPr>
            <a:picLocks noChangeAspect="1"/>
          </p:cNvPicPr>
          <p:nvPr/>
        </p:nvPicPr>
        <p:blipFill>
          <a:blip r:embed="rId4"/>
          <a:stretch>
            <a:fillRect/>
          </a:stretch>
        </p:blipFill>
        <p:spPr>
          <a:xfrm>
            <a:off x="684703" y="4186855"/>
            <a:ext cx="294803" cy="294803"/>
          </a:xfrm>
          <a:prstGeom prst="rect">
            <a:avLst/>
          </a:prstGeom>
        </p:spPr>
      </p:pic>
      <p:sp>
        <p:nvSpPr>
          <p:cNvPr id="21" name="Text 15"/>
          <p:cNvSpPr txBox="1"/>
          <p:nvPr/>
        </p:nvSpPr>
        <p:spPr>
          <a:xfrm>
            <a:off x="1261872" y="4032504"/>
            <a:ext cx="2743200" cy="292608"/>
          </a:xfrm>
          <a:prstGeom prst="rect">
            <a:avLst/>
          </a:prstGeom>
          <a:noFill/>
          <a:ln/>
        </p:spPr>
        <p:txBody>
          <a:bodyPr wrap="square" lIns="0" tIns="0" rIns="0" bIns="0" rtlCol="0" anchor="t"/>
          <a:lstStyle/>
          <a:p>
            <a:pPr indent="0" marL="0">
              <a:buNone/>
            </a:pPr>
            <a:r>
              <a:rPr lang="en-US" sz="1500" b="1" dirty="0">
                <a:solidFill>
                  <a:srgbClr val="0B1E33"/>
                </a:solidFill>
                <a:latin typeface="Calibri" pitchFamily="34" charset="0"/>
                <a:ea typeface="Calibri" pitchFamily="34" charset="-122"/>
                <a:cs typeface="Calibri" pitchFamily="34" charset="-120"/>
              </a:rPr>
              <a:t>Ekibe termal görüntü</a:t>
            </a:r>
            <a:endParaRPr lang="en-US" sz="1500" dirty="0"/>
          </a:p>
        </p:txBody>
      </p:sp>
      <p:sp>
        <p:nvSpPr>
          <p:cNvPr id="22" name="Text 16"/>
          <p:cNvSpPr txBox="1"/>
          <p:nvPr/>
        </p:nvSpPr>
        <p:spPr>
          <a:xfrm>
            <a:off x="1261872" y="4325112"/>
            <a:ext cx="2834640" cy="274320"/>
          </a:xfrm>
          <a:prstGeom prst="rect">
            <a:avLst/>
          </a:prstGeom>
          <a:noFill/>
          <a:ln/>
        </p:spPr>
        <p:txBody>
          <a:bodyPr wrap="square" lIns="0" tIns="0" rIns="0" bIns="0" rtlCol="0" anchor="t"/>
          <a:lstStyle/>
          <a:p>
            <a:pPr indent="0" marL="0">
              <a:buNone/>
            </a:pPr>
            <a:r>
              <a:rPr lang="en-US" sz="1200" dirty="0">
                <a:solidFill>
                  <a:srgbClr val="1F2D3D"/>
                </a:solidFill>
                <a:latin typeface="Calibri" pitchFamily="34" charset="0"/>
                <a:ea typeface="Calibri" pitchFamily="34" charset="-122"/>
                <a:cs typeface="Calibri" pitchFamily="34" charset="-120"/>
              </a:rPr>
              <a:t>konum, kişi sayımı, itfaiye ve sağlık</a:t>
            </a:r>
            <a:endParaRPr lang="en-US" sz="1200" dirty="0"/>
          </a:p>
        </p:txBody>
      </p:sp>
      <p:sp>
        <p:nvSpPr>
          <p:cNvPr id="23" name="Shape 17"/>
          <p:cNvSpPr/>
          <p:nvPr/>
        </p:nvSpPr>
        <p:spPr>
          <a:xfrm>
            <a:off x="548640" y="4892040"/>
            <a:ext cx="3611880" cy="1234440"/>
          </a:xfrm>
          <a:prstGeom prst="roundRect">
            <a:avLst>
              <a:gd name="adj" fmla="val 7407"/>
            </a:avLst>
          </a:prstGeom>
          <a:solidFill>
            <a:srgbClr val="F7E1DE"/>
          </a:solidFill>
          <a:ln w="6350">
            <a:solidFill>
              <a:srgbClr val="F7E1DE"/>
            </a:solidFill>
            <a:prstDash val="solid"/>
          </a:ln>
        </p:spPr>
      </p:sp>
      <p:sp>
        <p:nvSpPr>
          <p:cNvPr id="24" name="Text 18"/>
          <p:cNvSpPr txBox="1"/>
          <p:nvPr/>
        </p:nvSpPr>
        <p:spPr>
          <a:xfrm>
            <a:off x="731520" y="4956048"/>
            <a:ext cx="3291840" cy="1097280"/>
          </a:xfrm>
          <a:prstGeom prst="rect">
            <a:avLst/>
          </a:prstGeom>
          <a:noFill/>
          <a:ln/>
        </p:spPr>
        <p:txBody>
          <a:bodyPr wrap="square" lIns="0" tIns="0" rIns="0" bIns="0"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ICAO: </a:t>
            </a:r>
            <a:pPr indent="0" marL="0">
              <a:buNone/>
            </a:pPr>
            <a:r>
              <a:rPr lang="en-US" sz="1400" dirty="0">
                <a:solidFill>
                  <a:srgbClr val="1F2D3D"/>
                </a:solidFill>
                <a:latin typeface="Calibri" pitchFamily="34" charset="0"/>
                <a:ea typeface="Calibri" pitchFamily="34" charset="-122"/>
                <a:cs typeface="Calibri" pitchFamily="34" charset="-120"/>
              </a:rPr>
              <a:t>itfaiye pistin her noktasına 3 dk'da ulaşmayı hedefler. İddiamız önce ulaşmak değil, ilk görmek.</a:t>
            </a:r>
            <a:endParaRPr lang="en-US" sz="1400" dirty="0"/>
          </a:p>
        </p:txBody>
      </p:sp>
      <p:sp>
        <p:nvSpPr>
          <p:cNvPr id="25" name="Text 19"/>
          <p:cNvSpPr txBox="1"/>
          <p:nvPr/>
        </p:nvSpPr>
        <p:spPr>
          <a:xfrm>
            <a:off x="4434840" y="1325880"/>
            <a:ext cx="3520440" cy="274320"/>
          </a:xfrm>
          <a:prstGeom prst="rect">
            <a:avLst/>
          </a:prstGeom>
          <a:noFill/>
          <a:ln/>
        </p:spPr>
        <p:txBody>
          <a:bodyPr wrap="square" lIns="0" tIns="0" rIns="0" bIns="0" rtlCol="0" anchor="t"/>
          <a:lstStyle/>
          <a:p>
            <a:pPr indent="0" marL="0">
              <a:buNone/>
            </a:pPr>
            <a:r>
              <a:rPr lang="en-US" sz="1200" b="1" spc="100" kern="0" dirty="0">
                <a:solidFill>
                  <a:srgbClr val="0B1E33"/>
                </a:solidFill>
                <a:latin typeface="Calibri" pitchFamily="34" charset="0"/>
                <a:ea typeface="Calibri" pitchFamily="34" charset="-122"/>
                <a:cs typeface="Calibri" pitchFamily="34" charset="-120"/>
              </a:rPr>
              <a:t>12 SENARYO</a:t>
            </a:r>
            <a:endParaRPr lang="en-US" sz="1200" dirty="0"/>
          </a:p>
        </p:txBody>
      </p:sp>
      <p:sp>
        <p:nvSpPr>
          <p:cNvPr id="26" name="Shape 20"/>
          <p:cNvSpPr/>
          <p:nvPr/>
        </p:nvSpPr>
        <p:spPr>
          <a:xfrm>
            <a:off x="4434840" y="1691640"/>
            <a:ext cx="1705356" cy="548640"/>
          </a:xfrm>
          <a:prstGeom prst="roundRect">
            <a:avLst>
              <a:gd name="adj" fmla="val 13333"/>
            </a:avLst>
          </a:prstGeom>
          <a:solidFill>
            <a:srgbClr val="EEF3F8"/>
          </a:solidFill>
          <a:ln w="6350">
            <a:solidFill>
              <a:srgbClr val="EEF3F8"/>
            </a:solidFill>
            <a:prstDash val="solid"/>
          </a:ln>
        </p:spPr>
      </p:sp>
      <p:sp>
        <p:nvSpPr>
          <p:cNvPr id="27" name="Text 21"/>
          <p:cNvSpPr txBox="1"/>
          <p:nvPr/>
        </p:nvSpPr>
        <p:spPr>
          <a:xfrm>
            <a:off x="4544568" y="1691640"/>
            <a:ext cx="1522476" cy="548640"/>
          </a:xfrm>
          <a:prstGeom prst="rect">
            <a:avLst/>
          </a:prstGeom>
          <a:noFill/>
          <a:ln/>
        </p:spPr>
        <p:txBody>
          <a:bodyPr wrap="square" lIns="0" tIns="0" rIns="0" bIns="0" rtlCol="0" anchor="ctr"/>
          <a:lstStyle/>
          <a:p>
            <a:pPr indent="0" marL="0">
              <a:buNone/>
            </a:pPr>
            <a:r>
              <a:rPr lang="en-US" sz="1300" b="1" dirty="0">
                <a:solidFill>
                  <a:srgbClr val="0B1E33"/>
                </a:solidFill>
                <a:latin typeface="Calibri" pitchFamily="34" charset="0"/>
                <a:ea typeface="Calibri" pitchFamily="34" charset="-122"/>
                <a:cs typeface="Calibri" pitchFamily="34" charset="-120"/>
              </a:rPr>
              <a:t>Fren / motor yangını</a:t>
            </a:r>
            <a:endParaRPr lang="en-US" sz="1300" dirty="0"/>
          </a:p>
        </p:txBody>
      </p:sp>
      <p:sp>
        <p:nvSpPr>
          <p:cNvPr id="28" name="Shape 22"/>
          <p:cNvSpPr/>
          <p:nvPr/>
        </p:nvSpPr>
        <p:spPr>
          <a:xfrm>
            <a:off x="6249924" y="1691640"/>
            <a:ext cx="1705356" cy="548640"/>
          </a:xfrm>
          <a:prstGeom prst="roundRect">
            <a:avLst>
              <a:gd name="adj" fmla="val 13333"/>
            </a:avLst>
          </a:prstGeom>
          <a:solidFill>
            <a:srgbClr val="EEF3F8"/>
          </a:solidFill>
          <a:ln w="6350">
            <a:solidFill>
              <a:srgbClr val="EEF3F8"/>
            </a:solidFill>
            <a:prstDash val="solid"/>
          </a:ln>
        </p:spPr>
      </p:sp>
      <p:sp>
        <p:nvSpPr>
          <p:cNvPr id="29" name="Text 23"/>
          <p:cNvSpPr txBox="1"/>
          <p:nvPr/>
        </p:nvSpPr>
        <p:spPr>
          <a:xfrm>
            <a:off x="6359652" y="1691640"/>
            <a:ext cx="1522476" cy="548640"/>
          </a:xfrm>
          <a:prstGeom prst="rect">
            <a:avLst/>
          </a:prstGeom>
          <a:noFill/>
          <a:ln/>
        </p:spPr>
        <p:txBody>
          <a:bodyPr wrap="square" lIns="0" tIns="0" rIns="0" bIns="0" rtlCol="0" anchor="ctr"/>
          <a:lstStyle/>
          <a:p>
            <a:pPr indent="0" marL="0">
              <a:buNone/>
            </a:pPr>
            <a:r>
              <a:rPr lang="en-US" sz="1300" b="1" dirty="0">
                <a:solidFill>
                  <a:srgbClr val="0B1E33"/>
                </a:solidFill>
                <a:latin typeface="Calibri" pitchFamily="34" charset="0"/>
                <a:ea typeface="Calibri" pitchFamily="34" charset="-122"/>
                <a:cs typeface="Calibri" pitchFamily="34" charset="-120"/>
              </a:rPr>
              <a:t>Pist dışına çıkma</a:t>
            </a:r>
            <a:endParaRPr lang="en-US" sz="1300" dirty="0"/>
          </a:p>
        </p:txBody>
      </p:sp>
      <p:sp>
        <p:nvSpPr>
          <p:cNvPr id="30" name="Shape 24"/>
          <p:cNvSpPr/>
          <p:nvPr/>
        </p:nvSpPr>
        <p:spPr>
          <a:xfrm>
            <a:off x="4434840" y="2350008"/>
            <a:ext cx="1705356" cy="548640"/>
          </a:xfrm>
          <a:prstGeom prst="roundRect">
            <a:avLst>
              <a:gd name="adj" fmla="val 13333"/>
            </a:avLst>
          </a:prstGeom>
          <a:solidFill>
            <a:srgbClr val="EEF3F8"/>
          </a:solidFill>
          <a:ln w="6350">
            <a:solidFill>
              <a:srgbClr val="EEF3F8"/>
            </a:solidFill>
            <a:prstDash val="solid"/>
          </a:ln>
        </p:spPr>
      </p:sp>
      <p:sp>
        <p:nvSpPr>
          <p:cNvPr id="31" name="Text 25"/>
          <p:cNvSpPr txBox="1"/>
          <p:nvPr/>
        </p:nvSpPr>
        <p:spPr>
          <a:xfrm>
            <a:off x="4544568" y="2350008"/>
            <a:ext cx="1522476" cy="548640"/>
          </a:xfrm>
          <a:prstGeom prst="rect">
            <a:avLst/>
          </a:prstGeom>
          <a:noFill/>
          <a:ln/>
        </p:spPr>
        <p:txBody>
          <a:bodyPr wrap="square" lIns="0" tIns="0" rIns="0" bIns="0" rtlCol="0" anchor="ctr"/>
          <a:lstStyle/>
          <a:p>
            <a:pPr indent="0" marL="0">
              <a:buNone/>
            </a:pPr>
            <a:r>
              <a:rPr lang="en-US" sz="1300" b="1" dirty="0">
                <a:solidFill>
                  <a:srgbClr val="0B1E33"/>
                </a:solidFill>
                <a:latin typeface="Calibri" pitchFamily="34" charset="0"/>
                <a:ea typeface="Calibri" pitchFamily="34" charset="-122"/>
                <a:cs typeface="Calibri" pitchFamily="34" charset="-120"/>
              </a:rPr>
              <a:t>Lastik patlaması</a:t>
            </a:r>
            <a:endParaRPr lang="en-US" sz="1300" dirty="0"/>
          </a:p>
        </p:txBody>
      </p:sp>
      <p:sp>
        <p:nvSpPr>
          <p:cNvPr id="32" name="Shape 26"/>
          <p:cNvSpPr/>
          <p:nvPr/>
        </p:nvSpPr>
        <p:spPr>
          <a:xfrm>
            <a:off x="6249924" y="2350008"/>
            <a:ext cx="1705356" cy="548640"/>
          </a:xfrm>
          <a:prstGeom prst="roundRect">
            <a:avLst>
              <a:gd name="adj" fmla="val 13333"/>
            </a:avLst>
          </a:prstGeom>
          <a:solidFill>
            <a:srgbClr val="EEF3F8"/>
          </a:solidFill>
          <a:ln w="6350">
            <a:solidFill>
              <a:srgbClr val="EEF3F8"/>
            </a:solidFill>
            <a:prstDash val="solid"/>
          </a:ln>
        </p:spPr>
      </p:sp>
      <p:sp>
        <p:nvSpPr>
          <p:cNvPr id="33" name="Text 27"/>
          <p:cNvSpPr txBox="1"/>
          <p:nvPr/>
        </p:nvSpPr>
        <p:spPr>
          <a:xfrm>
            <a:off x="6359652" y="2350008"/>
            <a:ext cx="1522476" cy="548640"/>
          </a:xfrm>
          <a:prstGeom prst="rect">
            <a:avLst/>
          </a:prstGeom>
          <a:noFill/>
          <a:ln/>
        </p:spPr>
        <p:txBody>
          <a:bodyPr wrap="square" lIns="0" tIns="0" rIns="0" bIns="0" rtlCol="0" anchor="ctr"/>
          <a:lstStyle/>
          <a:p>
            <a:pPr indent="0" marL="0">
              <a:buNone/>
            </a:pPr>
            <a:r>
              <a:rPr lang="en-US" sz="1300" b="1" dirty="0">
                <a:solidFill>
                  <a:srgbClr val="0B1E33"/>
                </a:solidFill>
                <a:latin typeface="Calibri" pitchFamily="34" charset="0"/>
                <a:ea typeface="Calibri" pitchFamily="34" charset="-122"/>
                <a:cs typeface="Calibri" pitchFamily="34" charset="-120"/>
              </a:rPr>
              <a:t>Kuş çarpması</a:t>
            </a:r>
            <a:endParaRPr lang="en-US" sz="1300" dirty="0"/>
          </a:p>
        </p:txBody>
      </p:sp>
      <p:sp>
        <p:nvSpPr>
          <p:cNvPr id="34" name="Shape 28"/>
          <p:cNvSpPr/>
          <p:nvPr/>
        </p:nvSpPr>
        <p:spPr>
          <a:xfrm>
            <a:off x="4434840" y="3008376"/>
            <a:ext cx="1705356" cy="548640"/>
          </a:xfrm>
          <a:prstGeom prst="roundRect">
            <a:avLst>
              <a:gd name="adj" fmla="val 13333"/>
            </a:avLst>
          </a:prstGeom>
          <a:solidFill>
            <a:srgbClr val="EEF3F8"/>
          </a:solidFill>
          <a:ln w="6350">
            <a:solidFill>
              <a:srgbClr val="EEF3F8"/>
            </a:solidFill>
            <a:prstDash val="solid"/>
          </a:ln>
        </p:spPr>
      </p:sp>
      <p:sp>
        <p:nvSpPr>
          <p:cNvPr id="35" name="Text 29"/>
          <p:cNvSpPr txBox="1"/>
          <p:nvPr/>
        </p:nvSpPr>
        <p:spPr>
          <a:xfrm>
            <a:off x="4544568" y="3008376"/>
            <a:ext cx="1522476" cy="548640"/>
          </a:xfrm>
          <a:prstGeom prst="rect">
            <a:avLst/>
          </a:prstGeom>
          <a:noFill/>
          <a:ln/>
        </p:spPr>
        <p:txBody>
          <a:bodyPr wrap="square" lIns="0" tIns="0" rIns="0" bIns="0" rtlCol="0" anchor="ctr"/>
          <a:lstStyle/>
          <a:p>
            <a:pPr indent="0" marL="0">
              <a:buNone/>
            </a:pPr>
            <a:r>
              <a:rPr lang="en-US" sz="1300" b="1" dirty="0">
                <a:solidFill>
                  <a:srgbClr val="0B1E33"/>
                </a:solidFill>
                <a:latin typeface="Calibri" pitchFamily="34" charset="0"/>
                <a:ea typeface="Calibri" pitchFamily="34" charset="-122"/>
                <a:cs typeface="Calibri" pitchFamily="34" charset="-120"/>
              </a:rPr>
              <a:t>Yakıt / hidrolik sızıntı</a:t>
            </a:r>
            <a:endParaRPr lang="en-US" sz="1300" dirty="0"/>
          </a:p>
        </p:txBody>
      </p:sp>
      <p:sp>
        <p:nvSpPr>
          <p:cNvPr id="36" name="Shape 30"/>
          <p:cNvSpPr/>
          <p:nvPr/>
        </p:nvSpPr>
        <p:spPr>
          <a:xfrm>
            <a:off x="6249924" y="3008376"/>
            <a:ext cx="1705356" cy="548640"/>
          </a:xfrm>
          <a:prstGeom prst="roundRect">
            <a:avLst>
              <a:gd name="adj" fmla="val 13333"/>
            </a:avLst>
          </a:prstGeom>
          <a:solidFill>
            <a:srgbClr val="EEF3F8"/>
          </a:solidFill>
          <a:ln w="6350">
            <a:solidFill>
              <a:srgbClr val="EEF3F8"/>
            </a:solidFill>
            <a:prstDash val="solid"/>
          </a:ln>
        </p:spPr>
      </p:sp>
      <p:sp>
        <p:nvSpPr>
          <p:cNvPr id="37" name="Text 31"/>
          <p:cNvSpPr txBox="1"/>
          <p:nvPr/>
        </p:nvSpPr>
        <p:spPr>
          <a:xfrm>
            <a:off x="6359652" y="3008376"/>
            <a:ext cx="1522476" cy="548640"/>
          </a:xfrm>
          <a:prstGeom prst="rect">
            <a:avLst/>
          </a:prstGeom>
          <a:noFill/>
          <a:ln/>
        </p:spPr>
        <p:txBody>
          <a:bodyPr wrap="square" lIns="0" tIns="0" rIns="0" bIns="0" rtlCol="0" anchor="ctr"/>
          <a:lstStyle/>
          <a:p>
            <a:pPr indent="0" marL="0">
              <a:buNone/>
            </a:pPr>
            <a:r>
              <a:rPr lang="en-US" sz="1300" b="1" dirty="0">
                <a:solidFill>
                  <a:srgbClr val="0B1E33"/>
                </a:solidFill>
                <a:latin typeface="Calibri" pitchFamily="34" charset="0"/>
                <a:ea typeface="Calibri" pitchFamily="34" charset="-122"/>
                <a:cs typeface="Calibri" pitchFamily="34" charset="-120"/>
              </a:rPr>
              <a:t>Çitten izinsiz giriş</a:t>
            </a:r>
            <a:endParaRPr lang="en-US" sz="1300" dirty="0"/>
          </a:p>
        </p:txBody>
      </p:sp>
      <p:sp>
        <p:nvSpPr>
          <p:cNvPr id="38" name="Shape 32"/>
          <p:cNvSpPr/>
          <p:nvPr/>
        </p:nvSpPr>
        <p:spPr>
          <a:xfrm>
            <a:off x="4434840" y="3666744"/>
            <a:ext cx="1705356" cy="548640"/>
          </a:xfrm>
          <a:prstGeom prst="roundRect">
            <a:avLst>
              <a:gd name="adj" fmla="val 13333"/>
            </a:avLst>
          </a:prstGeom>
          <a:solidFill>
            <a:srgbClr val="EEF3F8"/>
          </a:solidFill>
          <a:ln w="6350">
            <a:solidFill>
              <a:srgbClr val="EEF3F8"/>
            </a:solidFill>
            <a:prstDash val="solid"/>
          </a:ln>
        </p:spPr>
      </p:sp>
      <p:sp>
        <p:nvSpPr>
          <p:cNvPr id="39" name="Text 33"/>
          <p:cNvSpPr txBox="1"/>
          <p:nvPr/>
        </p:nvSpPr>
        <p:spPr>
          <a:xfrm>
            <a:off x="4544568" y="3666744"/>
            <a:ext cx="1522476" cy="548640"/>
          </a:xfrm>
          <a:prstGeom prst="rect">
            <a:avLst/>
          </a:prstGeom>
          <a:noFill/>
          <a:ln/>
        </p:spPr>
        <p:txBody>
          <a:bodyPr wrap="square" lIns="0" tIns="0" rIns="0" bIns="0" rtlCol="0" anchor="ctr"/>
          <a:lstStyle/>
          <a:p>
            <a:pPr indent="0" marL="0">
              <a:buNone/>
            </a:pPr>
            <a:r>
              <a:rPr lang="en-US" sz="1300" b="1" dirty="0">
                <a:solidFill>
                  <a:srgbClr val="0B1E33"/>
                </a:solidFill>
                <a:latin typeface="Calibri" pitchFamily="34" charset="0"/>
                <a:ea typeface="Calibri" pitchFamily="34" charset="-122"/>
                <a:cs typeface="Calibri" pitchFamily="34" charset="-120"/>
              </a:rPr>
              <a:t>İzinsiz drone*</a:t>
            </a:r>
            <a:endParaRPr lang="en-US" sz="1300" dirty="0"/>
          </a:p>
        </p:txBody>
      </p:sp>
      <p:sp>
        <p:nvSpPr>
          <p:cNvPr id="40" name="Shape 34"/>
          <p:cNvSpPr/>
          <p:nvPr/>
        </p:nvSpPr>
        <p:spPr>
          <a:xfrm>
            <a:off x="6249924" y="3666744"/>
            <a:ext cx="1705356" cy="548640"/>
          </a:xfrm>
          <a:prstGeom prst="roundRect">
            <a:avLst>
              <a:gd name="adj" fmla="val 13333"/>
            </a:avLst>
          </a:prstGeom>
          <a:solidFill>
            <a:srgbClr val="EEF3F8"/>
          </a:solidFill>
          <a:ln w="6350">
            <a:solidFill>
              <a:srgbClr val="EEF3F8"/>
            </a:solidFill>
            <a:prstDash val="solid"/>
          </a:ln>
        </p:spPr>
      </p:sp>
      <p:sp>
        <p:nvSpPr>
          <p:cNvPr id="41" name="Text 35"/>
          <p:cNvSpPr txBox="1"/>
          <p:nvPr/>
        </p:nvSpPr>
        <p:spPr>
          <a:xfrm>
            <a:off x="6359652" y="3666744"/>
            <a:ext cx="1522476" cy="548640"/>
          </a:xfrm>
          <a:prstGeom prst="rect">
            <a:avLst/>
          </a:prstGeom>
          <a:noFill/>
          <a:ln/>
        </p:spPr>
        <p:txBody>
          <a:bodyPr wrap="square" lIns="0" tIns="0" rIns="0" bIns="0" rtlCol="0" anchor="ctr"/>
          <a:lstStyle/>
          <a:p>
            <a:pPr indent="0" marL="0">
              <a:buNone/>
            </a:pPr>
            <a:r>
              <a:rPr lang="en-US" sz="1300" b="1" dirty="0">
                <a:solidFill>
                  <a:srgbClr val="0B1E33"/>
                </a:solidFill>
                <a:latin typeface="Calibri" pitchFamily="34" charset="0"/>
                <a:ea typeface="Calibri" pitchFamily="34" charset="-122"/>
                <a:cs typeface="Calibri" pitchFamily="34" charset="-120"/>
              </a:rPr>
              <a:t>Deprem sonrası pist</a:t>
            </a:r>
            <a:endParaRPr lang="en-US" sz="1300" dirty="0"/>
          </a:p>
        </p:txBody>
      </p:sp>
      <p:sp>
        <p:nvSpPr>
          <p:cNvPr id="42" name="Shape 36"/>
          <p:cNvSpPr/>
          <p:nvPr/>
        </p:nvSpPr>
        <p:spPr>
          <a:xfrm>
            <a:off x="4434840" y="4325112"/>
            <a:ext cx="1705356" cy="548640"/>
          </a:xfrm>
          <a:prstGeom prst="roundRect">
            <a:avLst>
              <a:gd name="adj" fmla="val 13333"/>
            </a:avLst>
          </a:prstGeom>
          <a:solidFill>
            <a:srgbClr val="EEF3F8"/>
          </a:solidFill>
          <a:ln w="6350">
            <a:solidFill>
              <a:srgbClr val="EEF3F8"/>
            </a:solidFill>
            <a:prstDash val="solid"/>
          </a:ln>
        </p:spPr>
      </p:sp>
      <p:sp>
        <p:nvSpPr>
          <p:cNvPr id="43" name="Text 37"/>
          <p:cNvSpPr txBox="1"/>
          <p:nvPr/>
        </p:nvSpPr>
        <p:spPr>
          <a:xfrm>
            <a:off x="4544568" y="4325112"/>
            <a:ext cx="1522476" cy="548640"/>
          </a:xfrm>
          <a:prstGeom prst="rect">
            <a:avLst/>
          </a:prstGeom>
          <a:noFill/>
          <a:ln/>
        </p:spPr>
        <p:txBody>
          <a:bodyPr wrap="square" lIns="0" tIns="0" rIns="0" bIns="0" rtlCol="0" anchor="ctr"/>
          <a:lstStyle/>
          <a:p>
            <a:pPr indent="0" marL="0">
              <a:buNone/>
            </a:pPr>
            <a:r>
              <a:rPr lang="en-US" sz="1300" b="1" dirty="0">
                <a:solidFill>
                  <a:srgbClr val="0B1E33"/>
                </a:solidFill>
                <a:latin typeface="Calibri" pitchFamily="34" charset="0"/>
                <a:ea typeface="Calibri" pitchFamily="34" charset="-122"/>
                <a:cs typeface="Calibri" pitchFamily="34" charset="-120"/>
              </a:rPr>
              <a:t>Şebeke kesintisi</a:t>
            </a:r>
            <a:endParaRPr lang="en-US" sz="1300" dirty="0"/>
          </a:p>
        </p:txBody>
      </p:sp>
      <p:sp>
        <p:nvSpPr>
          <p:cNvPr id="44" name="Shape 38"/>
          <p:cNvSpPr/>
          <p:nvPr/>
        </p:nvSpPr>
        <p:spPr>
          <a:xfrm>
            <a:off x="6249924" y="4325112"/>
            <a:ext cx="1705356" cy="548640"/>
          </a:xfrm>
          <a:prstGeom prst="roundRect">
            <a:avLst>
              <a:gd name="adj" fmla="val 13333"/>
            </a:avLst>
          </a:prstGeom>
          <a:solidFill>
            <a:srgbClr val="EEF3F8"/>
          </a:solidFill>
          <a:ln w="6350">
            <a:solidFill>
              <a:srgbClr val="EEF3F8"/>
            </a:solidFill>
            <a:prstDash val="solid"/>
          </a:ln>
        </p:spPr>
      </p:sp>
      <p:sp>
        <p:nvSpPr>
          <p:cNvPr id="45" name="Text 39"/>
          <p:cNvSpPr txBox="1"/>
          <p:nvPr/>
        </p:nvSpPr>
        <p:spPr>
          <a:xfrm>
            <a:off x="6359652" y="4325112"/>
            <a:ext cx="1522476" cy="548640"/>
          </a:xfrm>
          <a:prstGeom prst="rect">
            <a:avLst/>
          </a:prstGeom>
          <a:noFill/>
          <a:ln/>
        </p:spPr>
        <p:txBody>
          <a:bodyPr wrap="square" lIns="0" tIns="0" rIns="0" bIns="0" rtlCol="0" anchor="ctr"/>
          <a:lstStyle/>
          <a:p>
            <a:pPr indent="0" marL="0">
              <a:buNone/>
            </a:pPr>
            <a:r>
              <a:rPr lang="en-US" sz="1300" b="1" dirty="0">
                <a:solidFill>
                  <a:srgbClr val="0B1E33"/>
                </a:solidFill>
                <a:latin typeface="Calibri" pitchFamily="34" charset="0"/>
                <a:ea typeface="Calibri" pitchFamily="34" charset="-122"/>
                <a:cs typeface="Calibri" pitchFamily="34" charset="-120"/>
              </a:rPr>
              <a:t>Çevrede yangın, duman</a:t>
            </a:r>
            <a:endParaRPr lang="en-US" sz="1300" dirty="0"/>
          </a:p>
        </p:txBody>
      </p:sp>
      <p:sp>
        <p:nvSpPr>
          <p:cNvPr id="46" name="Shape 40"/>
          <p:cNvSpPr/>
          <p:nvPr/>
        </p:nvSpPr>
        <p:spPr>
          <a:xfrm>
            <a:off x="4434840" y="4983480"/>
            <a:ext cx="1705356" cy="548640"/>
          </a:xfrm>
          <a:prstGeom prst="roundRect">
            <a:avLst>
              <a:gd name="adj" fmla="val 13333"/>
            </a:avLst>
          </a:prstGeom>
          <a:solidFill>
            <a:srgbClr val="EEF3F8"/>
          </a:solidFill>
          <a:ln w="6350">
            <a:solidFill>
              <a:srgbClr val="EEF3F8"/>
            </a:solidFill>
            <a:prstDash val="solid"/>
          </a:ln>
        </p:spPr>
      </p:sp>
      <p:sp>
        <p:nvSpPr>
          <p:cNvPr id="47" name="Text 41"/>
          <p:cNvSpPr txBox="1"/>
          <p:nvPr/>
        </p:nvSpPr>
        <p:spPr>
          <a:xfrm>
            <a:off x="4544568" y="4983480"/>
            <a:ext cx="1522476" cy="548640"/>
          </a:xfrm>
          <a:prstGeom prst="rect">
            <a:avLst/>
          </a:prstGeom>
          <a:noFill/>
          <a:ln/>
        </p:spPr>
        <p:txBody>
          <a:bodyPr wrap="square" lIns="0" tIns="0" rIns="0" bIns="0" rtlCol="0" anchor="ctr"/>
          <a:lstStyle/>
          <a:p>
            <a:pPr indent="0" marL="0">
              <a:buNone/>
            </a:pPr>
            <a:r>
              <a:rPr lang="en-US" sz="1300" b="1" dirty="0">
                <a:solidFill>
                  <a:srgbClr val="0B1E33"/>
                </a:solidFill>
                <a:latin typeface="Calibri" pitchFamily="34" charset="0"/>
                <a:ea typeface="Calibri" pitchFamily="34" charset="-122"/>
                <a:cs typeface="Calibri" pitchFamily="34" charset="-120"/>
              </a:rPr>
              <a:t>Gece kayıp kişi</a:t>
            </a:r>
            <a:endParaRPr lang="en-US" sz="1300" dirty="0"/>
          </a:p>
        </p:txBody>
      </p:sp>
      <p:sp>
        <p:nvSpPr>
          <p:cNvPr id="48" name="Shape 42"/>
          <p:cNvSpPr/>
          <p:nvPr/>
        </p:nvSpPr>
        <p:spPr>
          <a:xfrm>
            <a:off x="6249924" y="4983480"/>
            <a:ext cx="1705356" cy="548640"/>
          </a:xfrm>
          <a:prstGeom prst="roundRect">
            <a:avLst>
              <a:gd name="adj" fmla="val 13333"/>
            </a:avLst>
          </a:prstGeom>
          <a:solidFill>
            <a:srgbClr val="EEF3F8"/>
          </a:solidFill>
          <a:ln w="6350">
            <a:solidFill>
              <a:srgbClr val="EEF3F8"/>
            </a:solidFill>
            <a:prstDash val="solid"/>
          </a:ln>
        </p:spPr>
      </p:sp>
      <p:sp>
        <p:nvSpPr>
          <p:cNvPr id="49" name="Text 43"/>
          <p:cNvSpPr txBox="1"/>
          <p:nvPr/>
        </p:nvSpPr>
        <p:spPr>
          <a:xfrm>
            <a:off x="6359652" y="4983480"/>
            <a:ext cx="1522476" cy="548640"/>
          </a:xfrm>
          <a:prstGeom prst="rect">
            <a:avLst/>
          </a:prstGeom>
          <a:noFill/>
          <a:ln/>
        </p:spPr>
        <p:txBody>
          <a:bodyPr wrap="square" lIns="0" tIns="0" rIns="0" bIns="0" rtlCol="0" anchor="ctr"/>
          <a:lstStyle/>
          <a:p>
            <a:pPr indent="0" marL="0">
              <a:buNone/>
            </a:pPr>
            <a:r>
              <a:rPr lang="en-US" sz="1300" b="1" dirty="0">
                <a:solidFill>
                  <a:srgbClr val="0B1E33"/>
                </a:solidFill>
                <a:latin typeface="Calibri" pitchFamily="34" charset="0"/>
                <a:ea typeface="Calibri" pitchFamily="34" charset="-122"/>
                <a:cs typeface="Calibri" pitchFamily="34" charset="-120"/>
              </a:rPr>
              <a:t>Acil iniş beklentisi</a:t>
            </a:r>
            <a:endParaRPr lang="en-US" sz="1300" dirty="0"/>
          </a:p>
        </p:txBody>
      </p:sp>
      <p:sp>
        <p:nvSpPr>
          <p:cNvPr id="50" name="Text 44"/>
          <p:cNvSpPr txBox="1"/>
          <p:nvPr/>
        </p:nvSpPr>
        <p:spPr>
          <a:xfrm>
            <a:off x="4434840" y="5669280"/>
            <a:ext cx="3520440" cy="457200"/>
          </a:xfrm>
          <a:prstGeom prst="rect">
            <a:avLst/>
          </a:prstGeom>
          <a:noFill/>
          <a:ln/>
        </p:spPr>
        <p:txBody>
          <a:bodyPr wrap="square" lIns="0" tIns="0" rIns="0" bIns="0" rtlCol="0" anchor="t"/>
          <a:lstStyle/>
          <a:p>
            <a:pPr indent="0" marL="0">
              <a:buNone/>
            </a:pPr>
            <a:r>
              <a:rPr lang="en-US" sz="1100" dirty="0">
                <a:solidFill>
                  <a:srgbClr val="5B6B7B"/>
                </a:solidFill>
                <a:latin typeface="Calibri" pitchFamily="34" charset="0"/>
                <a:ea typeface="Calibri" pitchFamily="34" charset="-122"/>
                <a:cs typeface="Calibri" pitchFamily="34" charset="-120"/>
              </a:rPr>
              <a:t>* izinsiz drone'a müdahale etmeyiz; konum ve yönü kuleye bildiririz</a:t>
            </a:r>
            <a:endParaRPr lang="en-US" sz="1100" dirty="0"/>
          </a:p>
        </p:txBody>
      </p:sp>
      <p:sp>
        <p:nvSpPr>
          <p:cNvPr id="51" name="Shape 45"/>
          <p:cNvSpPr/>
          <p:nvPr/>
        </p:nvSpPr>
        <p:spPr>
          <a:xfrm>
            <a:off x="8229600" y="1325880"/>
            <a:ext cx="3410712" cy="4800600"/>
          </a:xfrm>
          <a:prstGeom prst="roundRect">
            <a:avLst>
              <a:gd name="adj" fmla="val 3217"/>
            </a:avLst>
          </a:prstGeom>
          <a:solidFill>
            <a:srgbClr val="0B1E33"/>
          </a:solidFill>
          <a:ln w="6350">
            <a:solidFill>
              <a:srgbClr val="0B1E33"/>
            </a:solidFill>
            <a:prstDash val="solid"/>
          </a:ln>
        </p:spPr>
      </p:sp>
      <p:sp>
        <p:nvSpPr>
          <p:cNvPr id="52" name="Shape 46"/>
          <p:cNvSpPr/>
          <p:nvPr/>
        </p:nvSpPr>
        <p:spPr>
          <a:xfrm>
            <a:off x="8458200" y="1508760"/>
            <a:ext cx="548640" cy="548640"/>
          </a:xfrm>
          <a:prstGeom prst="ellipse">
            <a:avLst/>
          </a:prstGeom>
          <a:solidFill>
            <a:srgbClr val="E8A317"/>
          </a:solidFill>
          <a:ln w="6350">
            <a:solidFill>
              <a:srgbClr val="E8A317"/>
            </a:solidFill>
            <a:prstDash val="solid"/>
          </a:ln>
        </p:spPr>
      </p:sp>
      <p:pic>
        <p:nvPicPr>
          <p:cNvPr id="53" name="Image 4" descr="preencoded.png">    </p:cNvPr>
          <p:cNvPicPr>
            <a:picLocks noChangeAspect="1"/>
          </p:cNvPicPr>
          <p:nvPr/>
        </p:nvPicPr>
        <p:blipFill>
          <a:blip r:embed="rId5"/>
          <a:stretch>
            <a:fillRect/>
          </a:stretch>
        </p:blipFill>
        <p:spPr>
          <a:xfrm>
            <a:off x="8589874" y="1640434"/>
            <a:ext cx="285293" cy="285293"/>
          </a:xfrm>
          <a:prstGeom prst="rect">
            <a:avLst/>
          </a:prstGeom>
        </p:spPr>
      </p:pic>
      <p:sp>
        <p:nvSpPr>
          <p:cNvPr id="54" name="Text 47"/>
          <p:cNvSpPr txBox="1"/>
          <p:nvPr/>
        </p:nvSpPr>
        <p:spPr>
          <a:xfrm>
            <a:off x="9125712" y="1481328"/>
            <a:ext cx="2404872" cy="329184"/>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Karıştırma ve aldatma</a:t>
            </a:r>
            <a:endParaRPr lang="en-US" sz="1600" dirty="0"/>
          </a:p>
        </p:txBody>
      </p:sp>
      <p:sp>
        <p:nvSpPr>
          <p:cNvPr id="55" name="Text 48"/>
          <p:cNvSpPr txBox="1"/>
          <p:nvPr/>
        </p:nvSpPr>
        <p:spPr>
          <a:xfrm>
            <a:off x="9125712" y="1792224"/>
            <a:ext cx="2404872" cy="256032"/>
          </a:xfrm>
          <a:prstGeom prst="rect">
            <a:avLst/>
          </a:prstGeom>
          <a:noFill/>
          <a:ln/>
        </p:spPr>
        <p:txBody>
          <a:bodyPr wrap="square" lIns="0" tIns="0" rIns="0" bIns="0" rtlCol="0" anchor="t"/>
          <a:lstStyle/>
          <a:p>
            <a:pPr indent="0" marL="0">
              <a:buNone/>
            </a:pPr>
            <a:r>
              <a:rPr lang="en-US" sz="1200" dirty="0">
                <a:solidFill>
                  <a:srgbClr val="EEF3F8"/>
                </a:solidFill>
                <a:latin typeface="Calibri" pitchFamily="34" charset="0"/>
                <a:ea typeface="Calibri" pitchFamily="34" charset="-122"/>
                <a:cs typeface="Calibri" pitchFamily="34" charset="-120"/>
              </a:rPr>
              <a:t>güvenli konum</a:t>
            </a:r>
            <a:endParaRPr lang="en-US" sz="1200" dirty="0"/>
          </a:p>
        </p:txBody>
      </p:sp>
      <p:sp>
        <p:nvSpPr>
          <p:cNvPr id="56" name="Text 49"/>
          <p:cNvSpPr txBox="1"/>
          <p:nvPr/>
        </p:nvSpPr>
        <p:spPr>
          <a:xfrm>
            <a:off x="8458200" y="2240280"/>
            <a:ext cx="2999232" cy="27432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00" dirty="0">
                <a:solidFill>
                  <a:srgbClr val="FFFFFF"/>
                </a:solidFill>
                <a:latin typeface="Calibri" pitchFamily="34" charset="0"/>
                <a:ea typeface="Calibri" pitchFamily="34" charset="-122"/>
                <a:cs typeface="Calibri" pitchFamily="34" charset="-120"/>
              </a:rPr>
              <a:t>RF/GNSS izleme: bozuksa kalkış yok</a:t>
            </a:r>
            <a:endParaRPr lang="en-US" sz="1300" dirty="0"/>
          </a:p>
          <a:p>
            <a:pPr marL="342900" indent="-342900">
              <a:spcAft>
                <a:spcPts val="600"/>
              </a:spcAft>
              <a:buSzPct val="100000"/>
              <a:buFont typeface="+mj-lt"/>
              <a:buAutoNum type="arabicPeriod" startAt="1"/>
            </a:pPr>
            <a:r>
              <a:rPr lang="en-US" sz="1300" dirty="0">
                <a:solidFill>
                  <a:srgbClr val="FFFFFF"/>
                </a:solidFill>
                <a:latin typeface="Calibri" pitchFamily="34" charset="0"/>
                <a:ea typeface="Calibri" pitchFamily="34" charset="-122"/>
                <a:cs typeface="Calibri" pitchFamily="34" charset="-120"/>
              </a:rPr>
              <a:t>Çok kaynaklı konum: GNSS L1/L5 · RTK · görsel · ≈40 UWB · IMU</a:t>
            </a:r>
            <a:endParaRPr lang="en-US" sz="1300" dirty="0"/>
          </a:p>
          <a:p>
            <a:pPr marL="342900" indent="-342900">
              <a:spcAft>
                <a:spcPts val="600"/>
              </a:spcAft>
              <a:buSzPct val="100000"/>
              <a:buFont typeface="+mj-lt"/>
              <a:buAutoNum type="arabicPeriod" startAt="1"/>
            </a:pPr>
            <a:r>
              <a:rPr lang="en-US" sz="1300" dirty="0">
                <a:solidFill>
                  <a:srgbClr val="FFFFFF"/>
                </a:solidFill>
                <a:latin typeface="Calibri" pitchFamily="34" charset="0"/>
                <a:ea typeface="Calibri" pitchFamily="34" charset="-122"/>
                <a:cs typeface="Calibri" pitchFamily="34" charset="-120"/>
              </a:rPr>
              <a:t>Şifreli, frekans atlamalı bağlantı; yedek LTE/5G; eve dönüş</a:t>
            </a:r>
            <a:endParaRPr lang="en-US" sz="1300" dirty="0"/>
          </a:p>
          <a:p>
            <a:pPr marL="342900" indent="-342900">
              <a:spcAft>
                <a:spcPts val="600"/>
              </a:spcAft>
              <a:buSzPct val="100000"/>
              <a:buFont typeface="+mj-lt"/>
              <a:buAutoNum type="arabicPeriod" startAt="1"/>
            </a:pPr>
            <a:r>
              <a:rPr lang="en-US" sz="1300" dirty="0">
                <a:solidFill>
                  <a:srgbClr val="FFFFFF"/>
                </a:solidFill>
                <a:latin typeface="Calibri" pitchFamily="34" charset="0"/>
                <a:ea typeface="Calibri" pitchFamily="34" charset="-122"/>
                <a:cs typeface="Calibri" pitchFamily="34" charset="-120"/>
              </a:rPr>
              <a:t>BTK ve askerî koordinasyon: "dost" listesi</a:t>
            </a:r>
            <a:endParaRPr lang="en-US" sz="1300" dirty="0"/>
          </a:p>
          <a:p>
            <a:pPr marL="342900" indent="-342900">
              <a:spcAft>
                <a:spcPts val="600"/>
              </a:spcAft>
              <a:buSzPct val="100000"/>
              <a:buFont typeface="+mj-lt"/>
              <a:buAutoNum type="arabicPeriod" startAt="1"/>
            </a:pPr>
            <a:r>
              <a:rPr lang="en-US" sz="1300" dirty="0">
                <a:solidFill>
                  <a:srgbClr val="FFFFFF"/>
                </a:solidFill>
                <a:latin typeface="Calibri" pitchFamily="34" charset="0"/>
                <a:ea typeface="Calibri" pitchFamily="34" charset="-122"/>
                <a:cs typeface="Calibri" pitchFamily="34" charset="-120"/>
              </a:rPr>
              <a:t>Karıştırıcı yok: yasal değil</a:t>
            </a:r>
            <a:endParaRPr lang="en-US" sz="1300" dirty="0"/>
          </a:p>
        </p:txBody>
      </p:sp>
      <p:sp>
        <p:nvSpPr>
          <p:cNvPr id="57" name="Text 50"/>
          <p:cNvSpPr txBox="1"/>
          <p:nvPr/>
        </p:nvSpPr>
        <p:spPr>
          <a:xfrm>
            <a:off x="8458200" y="5138928"/>
            <a:ext cx="2999232" cy="868680"/>
          </a:xfrm>
          <a:prstGeom prst="rect">
            <a:avLst/>
          </a:prstGeom>
          <a:noFill/>
          <a:ln/>
        </p:spPr>
        <p:txBody>
          <a:bodyPr wrap="square" lIns="0" tIns="0" rIns="0" bIns="0" rtlCol="0" anchor="t"/>
          <a:lstStyle/>
          <a:p>
            <a:pPr indent="0" marL="0">
              <a:buNone/>
            </a:pPr>
            <a:r>
              <a:rPr lang="en-US" sz="1200" b="1" dirty="0">
                <a:solidFill>
                  <a:srgbClr val="E8A317"/>
                </a:solidFill>
                <a:latin typeface="Calibri" pitchFamily="34" charset="0"/>
                <a:ea typeface="Calibri" pitchFamily="34" charset="-122"/>
                <a:cs typeface="Calibri" pitchFamily="34" charset="-120"/>
              </a:rPr>
              <a:t>EASA SIB 2022-02: Akdeniz'de karıştırma ve aldatma artışı; Ankara FIR son 30 günde ilk sırada (14 Ekim 2026)</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966960" cy="777240"/>
          </a:xfrm>
          <a:prstGeom prst="rect">
            <a:avLst/>
          </a:prstGeom>
          <a:noFill/>
          <a:ln/>
        </p:spPr>
        <p:txBody>
          <a:bodyPr wrap="square" lIns="0" tIns="0" rIns="0" bIns="0" rtlCol="0" anchor="ctr"/>
          <a:lstStyle/>
          <a:p>
            <a:pPr algn="l" indent="0" marL="0">
              <a:buNone/>
            </a:pPr>
            <a:r>
              <a:rPr lang="en-US" sz="3200" b="1" dirty="0">
                <a:solidFill>
                  <a:srgbClr val="0B1E33"/>
                </a:solidFill>
              </a:rPr>
              <a:t>Kast bazlı planlama: drone ile uçak hiç karşılaşmaz</a:t>
            </a:r>
            <a:endParaRPr lang="en-US" sz="3200" dirty="0"/>
          </a:p>
        </p:txBody>
      </p:sp>
      <p:sp>
        <p:nvSpPr>
          <p:cNvPr id="3" name="Shape 1"/>
          <p:cNvSpPr/>
          <p:nvPr/>
        </p:nvSpPr>
        <p:spPr>
          <a:xfrm>
            <a:off x="3437867" y="1985209"/>
            <a:ext cx="84728" cy="2838475"/>
          </a:xfrm>
          <a:prstGeom prst="rect">
            <a:avLst/>
          </a:prstGeom>
          <a:solidFill>
            <a:srgbClr val="F7E1DE"/>
          </a:solidFill>
          <a:ln w="12700">
            <a:solidFill>
              <a:srgbClr val="F7E1DE"/>
            </a:solidFill>
            <a:prstDash val="solid"/>
          </a:ln>
        </p:spPr>
      </p:sp>
      <p:sp>
        <p:nvSpPr>
          <p:cNvPr id="4" name="Shape 2"/>
          <p:cNvSpPr/>
          <p:nvPr/>
        </p:nvSpPr>
        <p:spPr>
          <a:xfrm>
            <a:off x="3819143" y="1985209"/>
            <a:ext cx="84728" cy="2838475"/>
          </a:xfrm>
          <a:prstGeom prst="rect">
            <a:avLst/>
          </a:prstGeom>
          <a:solidFill>
            <a:srgbClr val="F7E1DE"/>
          </a:solidFill>
          <a:ln w="12700">
            <a:solidFill>
              <a:srgbClr val="F7E1DE"/>
            </a:solidFill>
            <a:prstDash val="solid"/>
          </a:ln>
        </p:spPr>
      </p:sp>
      <p:sp>
        <p:nvSpPr>
          <p:cNvPr id="5" name="Shape 3"/>
          <p:cNvSpPr/>
          <p:nvPr/>
        </p:nvSpPr>
        <p:spPr>
          <a:xfrm>
            <a:off x="9284102" y="1985209"/>
            <a:ext cx="84728" cy="2838475"/>
          </a:xfrm>
          <a:prstGeom prst="rect">
            <a:avLst/>
          </a:prstGeom>
          <a:solidFill>
            <a:srgbClr val="F7E1DE"/>
          </a:solidFill>
          <a:ln w="12700">
            <a:solidFill>
              <a:srgbClr val="F7E1DE"/>
            </a:solidFill>
            <a:prstDash val="solid"/>
          </a:ln>
        </p:spPr>
      </p:sp>
      <p:sp>
        <p:nvSpPr>
          <p:cNvPr id="6" name="Shape 4"/>
          <p:cNvSpPr/>
          <p:nvPr/>
        </p:nvSpPr>
        <p:spPr>
          <a:xfrm>
            <a:off x="9665378" y="1985209"/>
            <a:ext cx="84728" cy="2838475"/>
          </a:xfrm>
          <a:prstGeom prst="rect">
            <a:avLst/>
          </a:prstGeom>
          <a:solidFill>
            <a:srgbClr val="F7E1DE"/>
          </a:solidFill>
          <a:ln w="12700">
            <a:solidFill>
              <a:srgbClr val="F7E1DE"/>
            </a:solidFill>
            <a:prstDash val="solid"/>
          </a:ln>
        </p:spPr>
      </p:sp>
      <p:sp>
        <p:nvSpPr>
          <p:cNvPr id="7" name="Text 5"/>
          <p:cNvSpPr txBox="1"/>
          <p:nvPr/>
        </p:nvSpPr>
        <p:spPr>
          <a:xfrm>
            <a:off x="548640" y="1736343"/>
            <a:ext cx="1719209" cy="244017"/>
          </a:xfrm>
          <a:prstGeom prst="rect">
            <a:avLst/>
          </a:prstGeom>
          <a:noFill/>
          <a:ln/>
        </p:spPr>
        <p:txBody>
          <a:bodyPr wrap="square" lIns="0" tIns="0" rIns="0" bIns="0" rtlCol="0" anchor="t"/>
          <a:lstStyle/>
          <a:p>
            <a:pPr algn="r" indent="0" marL="0">
              <a:buNone/>
            </a:pPr>
            <a:r>
              <a:rPr lang="en-US" sz="1440" b="1" dirty="0">
                <a:solidFill>
                  <a:srgbClr val="0B1E33"/>
                </a:solidFill>
                <a:latin typeface="Calibri" pitchFamily="34" charset="0"/>
                <a:ea typeface="Calibri" pitchFamily="34" charset="-122"/>
                <a:cs typeface="Calibri" pitchFamily="34" charset="-120"/>
              </a:rPr>
              <a:t>Ticari hareket</a:t>
            </a:r>
            <a:endParaRPr lang="en-US" sz="1440" dirty="0"/>
          </a:p>
        </p:txBody>
      </p:sp>
      <p:sp>
        <p:nvSpPr>
          <p:cNvPr id="8" name="Text 6"/>
          <p:cNvSpPr txBox="1"/>
          <p:nvPr/>
        </p:nvSpPr>
        <p:spPr>
          <a:xfrm>
            <a:off x="548640" y="1980360"/>
            <a:ext cx="1719209" cy="221833"/>
          </a:xfrm>
          <a:prstGeom prst="rect">
            <a:avLst/>
          </a:prstGeom>
          <a:noFill/>
          <a:ln/>
        </p:spPr>
        <p:txBody>
          <a:bodyPr wrap="square" lIns="0" tIns="0" rIns="0" bIns="0" rtlCol="0" anchor="t"/>
          <a:lstStyle/>
          <a:p>
            <a:pPr algn="r" indent="0" marL="0">
              <a:buNone/>
            </a:pPr>
            <a:r>
              <a:rPr lang="en-US" sz="1137" dirty="0">
                <a:solidFill>
                  <a:srgbClr val="5B6B7B"/>
                </a:solidFill>
                <a:latin typeface="Calibri" pitchFamily="34" charset="0"/>
                <a:ea typeface="Calibri" pitchFamily="34" charset="-122"/>
                <a:cs typeface="Calibri" pitchFamily="34" charset="-120"/>
              </a:rPr>
              <a:t>temsili tarife</a:t>
            </a:r>
            <a:endParaRPr lang="en-US" sz="1137" dirty="0"/>
          </a:p>
        </p:txBody>
      </p:sp>
      <p:sp>
        <p:nvSpPr>
          <p:cNvPr id="9" name="Text 7"/>
          <p:cNvSpPr txBox="1"/>
          <p:nvPr/>
        </p:nvSpPr>
        <p:spPr>
          <a:xfrm>
            <a:off x="548640" y="2277005"/>
            <a:ext cx="1719209" cy="244017"/>
          </a:xfrm>
          <a:prstGeom prst="rect">
            <a:avLst/>
          </a:prstGeom>
          <a:noFill/>
          <a:ln/>
        </p:spPr>
        <p:txBody>
          <a:bodyPr wrap="square" lIns="0" tIns="0" rIns="0" bIns="0" rtlCol="0" anchor="t"/>
          <a:lstStyle/>
          <a:p>
            <a:pPr algn="r" indent="0" marL="0">
              <a:buNone/>
            </a:pPr>
            <a:r>
              <a:rPr lang="en-US" sz="1440" b="1" dirty="0">
                <a:solidFill>
                  <a:srgbClr val="1479C4"/>
                </a:solidFill>
                <a:latin typeface="Calibri" pitchFamily="34" charset="0"/>
                <a:ea typeface="Calibri" pitchFamily="34" charset="-122"/>
                <a:cs typeface="Calibri" pitchFamily="34" charset="-120"/>
              </a:rPr>
              <a:t>Kâşif ×2</a:t>
            </a:r>
            <a:endParaRPr lang="en-US" sz="1440" dirty="0"/>
          </a:p>
        </p:txBody>
      </p:sp>
      <p:sp>
        <p:nvSpPr>
          <p:cNvPr id="10" name="Text 8"/>
          <p:cNvSpPr txBox="1"/>
          <p:nvPr/>
        </p:nvSpPr>
        <p:spPr>
          <a:xfrm>
            <a:off x="548640" y="2521021"/>
            <a:ext cx="1719209" cy="221833"/>
          </a:xfrm>
          <a:prstGeom prst="rect">
            <a:avLst/>
          </a:prstGeom>
          <a:noFill/>
          <a:ln/>
        </p:spPr>
        <p:txBody>
          <a:bodyPr wrap="square" lIns="0" tIns="0" rIns="0" bIns="0" rtlCol="0" anchor="t"/>
          <a:lstStyle/>
          <a:p>
            <a:pPr algn="r" indent="0" marL="0">
              <a:buNone/>
            </a:pPr>
            <a:r>
              <a:rPr lang="en-US" sz="1137" dirty="0">
                <a:solidFill>
                  <a:srgbClr val="5B6B7B"/>
                </a:solidFill>
                <a:latin typeface="Calibri" pitchFamily="34" charset="0"/>
                <a:ea typeface="Calibri" pitchFamily="34" charset="-122"/>
                <a:cs typeface="Calibri" pitchFamily="34" charset="-120"/>
              </a:rPr>
              <a:t>FOD, açılış, pist sağlığı</a:t>
            </a:r>
            <a:endParaRPr lang="en-US" sz="1137" dirty="0"/>
          </a:p>
        </p:txBody>
      </p:sp>
      <p:sp>
        <p:nvSpPr>
          <p:cNvPr id="11" name="Shape 9"/>
          <p:cNvSpPr/>
          <p:nvPr/>
        </p:nvSpPr>
        <p:spPr>
          <a:xfrm>
            <a:off x="2378766" y="2498838"/>
            <a:ext cx="9150629" cy="914"/>
          </a:xfrm>
          <a:prstGeom prst="line">
            <a:avLst/>
          </a:prstGeom>
          <a:noFill/>
          <a:ln w="15875">
            <a:solidFill>
              <a:srgbClr val="DDE3EA"/>
            </a:solidFill>
            <a:prstDash val="solid"/>
          </a:ln>
        </p:spPr>
      </p:sp>
      <p:sp>
        <p:nvSpPr>
          <p:cNvPr id="12" name="Text 10"/>
          <p:cNvSpPr txBox="1"/>
          <p:nvPr/>
        </p:nvSpPr>
        <p:spPr>
          <a:xfrm>
            <a:off x="548640" y="2817666"/>
            <a:ext cx="1719209" cy="244017"/>
          </a:xfrm>
          <a:prstGeom prst="rect">
            <a:avLst/>
          </a:prstGeom>
          <a:noFill/>
          <a:ln/>
        </p:spPr>
        <p:txBody>
          <a:bodyPr wrap="square" lIns="0" tIns="0" rIns="0" bIns="0" rtlCol="0" anchor="t"/>
          <a:lstStyle/>
          <a:p>
            <a:pPr algn="r" indent="0" marL="0">
              <a:buNone/>
            </a:pPr>
            <a:r>
              <a:rPr lang="en-US" sz="1440" b="1" dirty="0">
                <a:solidFill>
                  <a:srgbClr val="E8A317"/>
                </a:solidFill>
                <a:latin typeface="Calibri" pitchFamily="34" charset="0"/>
                <a:ea typeface="Calibri" pitchFamily="34" charset="-122"/>
                <a:cs typeface="Calibri" pitchFamily="34" charset="-120"/>
              </a:rPr>
              <a:t>Bekçi</a:t>
            </a:r>
            <a:endParaRPr lang="en-US" sz="1440" dirty="0"/>
          </a:p>
        </p:txBody>
      </p:sp>
      <p:sp>
        <p:nvSpPr>
          <p:cNvPr id="13" name="Text 11"/>
          <p:cNvSpPr txBox="1"/>
          <p:nvPr/>
        </p:nvSpPr>
        <p:spPr>
          <a:xfrm>
            <a:off x="548640" y="3061683"/>
            <a:ext cx="1719209" cy="221833"/>
          </a:xfrm>
          <a:prstGeom prst="rect">
            <a:avLst/>
          </a:prstGeom>
          <a:noFill/>
          <a:ln/>
        </p:spPr>
        <p:txBody>
          <a:bodyPr wrap="square" lIns="0" tIns="0" rIns="0" bIns="0" rtlCol="0" anchor="t"/>
          <a:lstStyle/>
          <a:p>
            <a:pPr algn="r" indent="0" marL="0">
              <a:buNone/>
            </a:pPr>
            <a:r>
              <a:rPr lang="en-US" sz="1137" dirty="0">
                <a:solidFill>
                  <a:srgbClr val="5B6B7B"/>
                </a:solidFill>
                <a:latin typeface="Calibri" pitchFamily="34" charset="0"/>
                <a:ea typeface="Calibri" pitchFamily="34" charset="-122"/>
                <a:cs typeface="Calibri" pitchFamily="34" charset="-120"/>
              </a:rPr>
              <a:t>yaban hayatı, çit</a:t>
            </a:r>
            <a:endParaRPr lang="en-US" sz="1137" dirty="0"/>
          </a:p>
        </p:txBody>
      </p:sp>
      <p:sp>
        <p:nvSpPr>
          <p:cNvPr id="14" name="Shape 12"/>
          <p:cNvSpPr/>
          <p:nvPr/>
        </p:nvSpPr>
        <p:spPr>
          <a:xfrm>
            <a:off x="2378766" y="3039500"/>
            <a:ext cx="9150629" cy="914"/>
          </a:xfrm>
          <a:prstGeom prst="line">
            <a:avLst/>
          </a:prstGeom>
          <a:noFill/>
          <a:ln w="15875">
            <a:solidFill>
              <a:srgbClr val="DDE3EA"/>
            </a:solidFill>
            <a:prstDash val="solid"/>
          </a:ln>
        </p:spPr>
      </p:sp>
      <p:sp>
        <p:nvSpPr>
          <p:cNvPr id="15" name="Text 13"/>
          <p:cNvSpPr txBox="1"/>
          <p:nvPr/>
        </p:nvSpPr>
        <p:spPr>
          <a:xfrm>
            <a:off x="548640" y="3358328"/>
            <a:ext cx="1719209" cy="244017"/>
          </a:xfrm>
          <a:prstGeom prst="rect">
            <a:avLst/>
          </a:prstGeom>
          <a:noFill/>
          <a:ln/>
        </p:spPr>
        <p:txBody>
          <a:bodyPr wrap="square" lIns="0" tIns="0" rIns="0" bIns="0" rtlCol="0" anchor="t"/>
          <a:lstStyle/>
          <a:p>
            <a:pPr algn="r" indent="0" marL="0">
              <a:buNone/>
            </a:pPr>
            <a:r>
              <a:rPr lang="en-US" sz="1440" b="1" dirty="0">
                <a:solidFill>
                  <a:srgbClr val="3E9A31"/>
                </a:solidFill>
                <a:latin typeface="Calibri" pitchFamily="34" charset="0"/>
                <a:ea typeface="Calibri" pitchFamily="34" charset="-122"/>
                <a:cs typeface="Calibri" pitchFamily="34" charset="-120"/>
              </a:rPr>
              <a:t>İşçi</a:t>
            </a:r>
            <a:endParaRPr lang="en-US" sz="1440" dirty="0"/>
          </a:p>
        </p:txBody>
      </p:sp>
      <p:sp>
        <p:nvSpPr>
          <p:cNvPr id="16" name="Text 14"/>
          <p:cNvSpPr txBox="1"/>
          <p:nvPr/>
        </p:nvSpPr>
        <p:spPr>
          <a:xfrm>
            <a:off x="548640" y="3602345"/>
            <a:ext cx="1719209" cy="221833"/>
          </a:xfrm>
          <a:prstGeom prst="rect">
            <a:avLst/>
          </a:prstGeom>
          <a:noFill/>
          <a:ln/>
        </p:spPr>
        <p:txBody>
          <a:bodyPr wrap="square" lIns="0" tIns="0" rIns="0" bIns="0" rtlCol="0" anchor="t"/>
          <a:lstStyle/>
          <a:p>
            <a:pPr algn="r" indent="0" marL="0">
              <a:buNone/>
            </a:pPr>
            <a:r>
              <a:rPr lang="en-US" sz="1137" dirty="0">
                <a:solidFill>
                  <a:srgbClr val="5B6B7B"/>
                </a:solidFill>
                <a:latin typeface="Calibri" pitchFamily="34" charset="0"/>
                <a:ea typeface="Calibri" pitchFamily="34" charset="-122"/>
                <a:cs typeface="Calibri" pitchFamily="34" charset="-120"/>
              </a:rPr>
              <a:t>toplama (gerektiğinde)</a:t>
            </a:r>
            <a:endParaRPr lang="en-US" sz="1137" dirty="0"/>
          </a:p>
        </p:txBody>
      </p:sp>
      <p:sp>
        <p:nvSpPr>
          <p:cNvPr id="17" name="Shape 15"/>
          <p:cNvSpPr/>
          <p:nvPr/>
        </p:nvSpPr>
        <p:spPr>
          <a:xfrm>
            <a:off x="2378766" y="3580162"/>
            <a:ext cx="9150629" cy="914"/>
          </a:xfrm>
          <a:prstGeom prst="line">
            <a:avLst/>
          </a:prstGeom>
          <a:noFill/>
          <a:ln w="15875">
            <a:solidFill>
              <a:srgbClr val="DDE3EA"/>
            </a:solidFill>
            <a:prstDash val="solid"/>
          </a:ln>
        </p:spPr>
      </p:sp>
      <p:sp>
        <p:nvSpPr>
          <p:cNvPr id="18" name="Text 16"/>
          <p:cNvSpPr txBox="1"/>
          <p:nvPr/>
        </p:nvSpPr>
        <p:spPr>
          <a:xfrm>
            <a:off x="548640" y="3898990"/>
            <a:ext cx="1719209" cy="244017"/>
          </a:xfrm>
          <a:prstGeom prst="rect">
            <a:avLst/>
          </a:prstGeom>
          <a:noFill/>
          <a:ln/>
        </p:spPr>
        <p:txBody>
          <a:bodyPr wrap="square" lIns="0" tIns="0" rIns="0" bIns="0" rtlCol="0" anchor="t"/>
          <a:lstStyle/>
          <a:p>
            <a:pPr algn="r" indent="0" marL="0">
              <a:buNone/>
            </a:pPr>
            <a:r>
              <a:rPr lang="en-US" sz="1440" b="1" dirty="0">
                <a:solidFill>
                  <a:srgbClr val="7A4FB5"/>
                </a:solidFill>
                <a:latin typeface="Calibri" pitchFamily="34" charset="0"/>
                <a:ea typeface="Calibri" pitchFamily="34" charset="-122"/>
                <a:cs typeface="Calibri" pitchFamily="34" charset="-120"/>
              </a:rPr>
              <a:t>Bakıcı</a:t>
            </a:r>
            <a:endParaRPr lang="en-US" sz="1440" dirty="0"/>
          </a:p>
        </p:txBody>
      </p:sp>
      <p:sp>
        <p:nvSpPr>
          <p:cNvPr id="19" name="Text 17"/>
          <p:cNvSpPr txBox="1"/>
          <p:nvPr/>
        </p:nvSpPr>
        <p:spPr>
          <a:xfrm>
            <a:off x="548640" y="4143007"/>
            <a:ext cx="1719209" cy="221833"/>
          </a:xfrm>
          <a:prstGeom prst="rect">
            <a:avLst/>
          </a:prstGeom>
          <a:noFill/>
          <a:ln/>
        </p:spPr>
        <p:txBody>
          <a:bodyPr wrap="square" lIns="0" tIns="0" rIns="0" bIns="0" rtlCol="0" anchor="t"/>
          <a:lstStyle/>
          <a:p>
            <a:pPr algn="r" indent="0" marL="0">
              <a:buNone/>
            </a:pPr>
            <a:r>
              <a:rPr lang="en-US" sz="1137" dirty="0">
                <a:solidFill>
                  <a:srgbClr val="5B6B7B"/>
                </a:solidFill>
                <a:latin typeface="Calibri" pitchFamily="34" charset="0"/>
                <a:ea typeface="Calibri" pitchFamily="34" charset="-122"/>
                <a:cs typeface="Calibri" pitchFamily="34" charset="-120"/>
              </a:rPr>
              <a:t>buz haritası (kış kovanı)</a:t>
            </a:r>
            <a:endParaRPr lang="en-US" sz="1137" dirty="0"/>
          </a:p>
        </p:txBody>
      </p:sp>
      <p:sp>
        <p:nvSpPr>
          <p:cNvPr id="20" name="Shape 18"/>
          <p:cNvSpPr/>
          <p:nvPr/>
        </p:nvSpPr>
        <p:spPr>
          <a:xfrm>
            <a:off x="2378766" y="4120824"/>
            <a:ext cx="9150629" cy="914"/>
          </a:xfrm>
          <a:prstGeom prst="line">
            <a:avLst/>
          </a:prstGeom>
          <a:noFill/>
          <a:ln w="15875">
            <a:solidFill>
              <a:srgbClr val="DDE3EA"/>
            </a:solidFill>
            <a:prstDash val="solid"/>
          </a:ln>
        </p:spPr>
      </p:sp>
      <p:sp>
        <p:nvSpPr>
          <p:cNvPr id="21" name="Text 19"/>
          <p:cNvSpPr txBox="1"/>
          <p:nvPr/>
        </p:nvSpPr>
        <p:spPr>
          <a:xfrm>
            <a:off x="548640" y="4439652"/>
            <a:ext cx="1719209" cy="244017"/>
          </a:xfrm>
          <a:prstGeom prst="rect">
            <a:avLst/>
          </a:prstGeom>
          <a:noFill/>
          <a:ln/>
        </p:spPr>
        <p:txBody>
          <a:bodyPr wrap="square" lIns="0" tIns="0" rIns="0" bIns="0" rtlCol="0" anchor="t"/>
          <a:lstStyle/>
          <a:p>
            <a:pPr algn="r" indent="0" marL="0">
              <a:buNone/>
            </a:pPr>
            <a:r>
              <a:rPr lang="en-US" sz="1440" b="1" dirty="0">
                <a:solidFill>
                  <a:srgbClr val="0B1E33"/>
                </a:solidFill>
                <a:latin typeface="Calibri" pitchFamily="34" charset="0"/>
                <a:ea typeface="Calibri" pitchFamily="34" charset="-122"/>
                <a:cs typeface="Calibri" pitchFamily="34" charset="-120"/>
              </a:rPr>
              <a:t>Nöbetçi</a:t>
            </a:r>
            <a:endParaRPr lang="en-US" sz="1440" dirty="0"/>
          </a:p>
        </p:txBody>
      </p:sp>
      <p:sp>
        <p:nvSpPr>
          <p:cNvPr id="22" name="Text 20"/>
          <p:cNvSpPr txBox="1"/>
          <p:nvPr/>
        </p:nvSpPr>
        <p:spPr>
          <a:xfrm>
            <a:off x="548640" y="4683669"/>
            <a:ext cx="1719209" cy="221833"/>
          </a:xfrm>
          <a:prstGeom prst="rect">
            <a:avLst/>
          </a:prstGeom>
          <a:noFill/>
          <a:ln/>
        </p:spPr>
        <p:txBody>
          <a:bodyPr wrap="square" lIns="0" tIns="0" rIns="0" bIns="0" rtlCol="0" anchor="t"/>
          <a:lstStyle/>
          <a:p>
            <a:pPr algn="r" indent="0" marL="0">
              <a:buNone/>
            </a:pPr>
            <a:r>
              <a:rPr lang="en-US" sz="1137" dirty="0">
                <a:solidFill>
                  <a:srgbClr val="5B6B7B"/>
                </a:solidFill>
                <a:latin typeface="Calibri" pitchFamily="34" charset="0"/>
                <a:ea typeface="Calibri" pitchFamily="34" charset="-122"/>
                <a:cs typeface="Calibri" pitchFamily="34" charset="-120"/>
              </a:rPr>
              <a:t>her harekette izler</a:t>
            </a:r>
            <a:endParaRPr lang="en-US" sz="1137" dirty="0"/>
          </a:p>
        </p:txBody>
      </p:sp>
      <p:sp>
        <p:nvSpPr>
          <p:cNvPr id="23" name="Shape 21"/>
          <p:cNvSpPr/>
          <p:nvPr/>
        </p:nvSpPr>
        <p:spPr>
          <a:xfrm>
            <a:off x="2378766" y="4661485"/>
            <a:ext cx="9150629" cy="914"/>
          </a:xfrm>
          <a:prstGeom prst="line">
            <a:avLst/>
          </a:prstGeom>
          <a:noFill/>
          <a:ln w="15875">
            <a:solidFill>
              <a:srgbClr val="DDE3EA"/>
            </a:solidFill>
            <a:prstDash val="solid"/>
          </a:ln>
        </p:spPr>
      </p:sp>
      <p:sp>
        <p:nvSpPr>
          <p:cNvPr id="24" name="Shape 22"/>
          <p:cNvSpPr/>
          <p:nvPr/>
        </p:nvSpPr>
        <p:spPr>
          <a:xfrm>
            <a:off x="2378766" y="5042733"/>
            <a:ext cx="9150629" cy="914"/>
          </a:xfrm>
          <a:prstGeom prst="line">
            <a:avLst/>
          </a:prstGeom>
          <a:noFill/>
          <a:ln w="9525">
            <a:solidFill>
              <a:srgbClr val="B8C4D0"/>
            </a:solidFill>
            <a:prstDash val="solid"/>
          </a:ln>
        </p:spPr>
      </p:sp>
      <p:sp>
        <p:nvSpPr>
          <p:cNvPr id="25" name="Text 23"/>
          <p:cNvSpPr txBox="1"/>
          <p:nvPr/>
        </p:nvSpPr>
        <p:spPr>
          <a:xfrm>
            <a:off x="2046016" y="5098191"/>
            <a:ext cx="665500" cy="221833"/>
          </a:xfrm>
          <a:prstGeom prst="rect">
            <a:avLst/>
          </a:prstGeom>
          <a:noFill/>
          <a:ln/>
        </p:spPr>
        <p:txBody>
          <a:bodyPr wrap="square" lIns="0" tIns="0" rIns="0" bIns="0" rtlCol="0" anchor="t"/>
          <a:lstStyle/>
          <a:p>
            <a:pPr algn="ctr" indent="0" marL="0">
              <a:buNone/>
            </a:pPr>
            <a:r>
              <a:rPr lang="en-US" sz="1137" dirty="0">
                <a:solidFill>
                  <a:srgbClr val="5B6B7B"/>
                </a:solidFill>
                <a:latin typeface="Calibri" pitchFamily="34" charset="0"/>
                <a:ea typeface="Calibri" pitchFamily="34" charset="-122"/>
                <a:cs typeface="Calibri" pitchFamily="34" charset="-120"/>
              </a:rPr>
              <a:t>06:00</a:t>
            </a:r>
            <a:endParaRPr lang="en-US" sz="1137" dirty="0"/>
          </a:p>
        </p:txBody>
      </p:sp>
      <p:sp>
        <p:nvSpPr>
          <p:cNvPr id="26" name="Text 24"/>
          <p:cNvSpPr txBox="1"/>
          <p:nvPr/>
        </p:nvSpPr>
        <p:spPr>
          <a:xfrm>
            <a:off x="3062752" y="5098191"/>
            <a:ext cx="665500" cy="221833"/>
          </a:xfrm>
          <a:prstGeom prst="rect">
            <a:avLst/>
          </a:prstGeom>
          <a:noFill/>
          <a:ln/>
        </p:spPr>
        <p:txBody>
          <a:bodyPr wrap="square" lIns="0" tIns="0" rIns="0" bIns="0" rtlCol="0" anchor="t"/>
          <a:lstStyle/>
          <a:p>
            <a:pPr algn="ctr" indent="0" marL="0">
              <a:buNone/>
            </a:pPr>
            <a:r>
              <a:rPr lang="en-US" sz="1137" dirty="0">
                <a:solidFill>
                  <a:srgbClr val="5B6B7B"/>
                </a:solidFill>
                <a:latin typeface="Calibri" pitchFamily="34" charset="0"/>
                <a:ea typeface="Calibri" pitchFamily="34" charset="-122"/>
                <a:cs typeface="Calibri" pitchFamily="34" charset="-120"/>
              </a:rPr>
              <a:t>08:00</a:t>
            </a:r>
            <a:endParaRPr lang="en-US" sz="1137" dirty="0"/>
          </a:p>
        </p:txBody>
      </p:sp>
      <p:sp>
        <p:nvSpPr>
          <p:cNvPr id="27" name="Text 25"/>
          <p:cNvSpPr txBox="1"/>
          <p:nvPr/>
        </p:nvSpPr>
        <p:spPr>
          <a:xfrm>
            <a:off x="4079489" y="5098191"/>
            <a:ext cx="665500" cy="221833"/>
          </a:xfrm>
          <a:prstGeom prst="rect">
            <a:avLst/>
          </a:prstGeom>
          <a:noFill/>
          <a:ln/>
        </p:spPr>
        <p:txBody>
          <a:bodyPr wrap="square" lIns="0" tIns="0" rIns="0" bIns="0" rtlCol="0" anchor="t"/>
          <a:lstStyle/>
          <a:p>
            <a:pPr algn="ctr" indent="0" marL="0">
              <a:buNone/>
            </a:pPr>
            <a:r>
              <a:rPr lang="en-US" sz="1137" dirty="0">
                <a:solidFill>
                  <a:srgbClr val="5B6B7B"/>
                </a:solidFill>
                <a:latin typeface="Calibri" pitchFamily="34" charset="0"/>
                <a:ea typeface="Calibri" pitchFamily="34" charset="-122"/>
                <a:cs typeface="Calibri" pitchFamily="34" charset="-120"/>
              </a:rPr>
              <a:t>10:00</a:t>
            </a:r>
            <a:endParaRPr lang="en-US" sz="1137" dirty="0"/>
          </a:p>
        </p:txBody>
      </p:sp>
      <p:sp>
        <p:nvSpPr>
          <p:cNvPr id="28" name="Text 26"/>
          <p:cNvSpPr txBox="1"/>
          <p:nvPr/>
        </p:nvSpPr>
        <p:spPr>
          <a:xfrm>
            <a:off x="5096226" y="5098191"/>
            <a:ext cx="665500" cy="221833"/>
          </a:xfrm>
          <a:prstGeom prst="rect">
            <a:avLst/>
          </a:prstGeom>
          <a:noFill/>
          <a:ln/>
        </p:spPr>
        <p:txBody>
          <a:bodyPr wrap="square" lIns="0" tIns="0" rIns="0" bIns="0" rtlCol="0" anchor="t"/>
          <a:lstStyle/>
          <a:p>
            <a:pPr algn="ctr" indent="0" marL="0">
              <a:buNone/>
            </a:pPr>
            <a:r>
              <a:rPr lang="en-US" sz="1137" dirty="0">
                <a:solidFill>
                  <a:srgbClr val="5B6B7B"/>
                </a:solidFill>
                <a:latin typeface="Calibri" pitchFamily="34" charset="0"/>
                <a:ea typeface="Calibri" pitchFamily="34" charset="-122"/>
                <a:cs typeface="Calibri" pitchFamily="34" charset="-120"/>
              </a:rPr>
              <a:t>12:00</a:t>
            </a:r>
            <a:endParaRPr lang="en-US" sz="1137" dirty="0"/>
          </a:p>
        </p:txBody>
      </p:sp>
      <p:sp>
        <p:nvSpPr>
          <p:cNvPr id="29" name="Text 27"/>
          <p:cNvSpPr txBox="1"/>
          <p:nvPr/>
        </p:nvSpPr>
        <p:spPr>
          <a:xfrm>
            <a:off x="6112962" y="5098191"/>
            <a:ext cx="665500" cy="221833"/>
          </a:xfrm>
          <a:prstGeom prst="rect">
            <a:avLst/>
          </a:prstGeom>
          <a:noFill/>
          <a:ln/>
        </p:spPr>
        <p:txBody>
          <a:bodyPr wrap="square" lIns="0" tIns="0" rIns="0" bIns="0" rtlCol="0" anchor="t"/>
          <a:lstStyle/>
          <a:p>
            <a:pPr algn="ctr" indent="0" marL="0">
              <a:buNone/>
            </a:pPr>
            <a:r>
              <a:rPr lang="en-US" sz="1137" dirty="0">
                <a:solidFill>
                  <a:srgbClr val="5B6B7B"/>
                </a:solidFill>
                <a:latin typeface="Calibri" pitchFamily="34" charset="0"/>
                <a:ea typeface="Calibri" pitchFamily="34" charset="-122"/>
                <a:cs typeface="Calibri" pitchFamily="34" charset="-120"/>
              </a:rPr>
              <a:t>14:00</a:t>
            </a:r>
            <a:endParaRPr lang="en-US" sz="1137" dirty="0"/>
          </a:p>
        </p:txBody>
      </p:sp>
      <p:sp>
        <p:nvSpPr>
          <p:cNvPr id="30" name="Text 28"/>
          <p:cNvSpPr txBox="1"/>
          <p:nvPr/>
        </p:nvSpPr>
        <p:spPr>
          <a:xfrm>
            <a:off x="7129699" y="5098191"/>
            <a:ext cx="665500" cy="221833"/>
          </a:xfrm>
          <a:prstGeom prst="rect">
            <a:avLst/>
          </a:prstGeom>
          <a:noFill/>
          <a:ln/>
        </p:spPr>
        <p:txBody>
          <a:bodyPr wrap="square" lIns="0" tIns="0" rIns="0" bIns="0" rtlCol="0" anchor="t"/>
          <a:lstStyle/>
          <a:p>
            <a:pPr algn="ctr" indent="0" marL="0">
              <a:buNone/>
            </a:pPr>
            <a:r>
              <a:rPr lang="en-US" sz="1137" dirty="0">
                <a:solidFill>
                  <a:srgbClr val="5B6B7B"/>
                </a:solidFill>
                <a:latin typeface="Calibri" pitchFamily="34" charset="0"/>
                <a:ea typeface="Calibri" pitchFamily="34" charset="-122"/>
                <a:cs typeface="Calibri" pitchFamily="34" charset="-120"/>
              </a:rPr>
              <a:t>16:00</a:t>
            </a:r>
            <a:endParaRPr lang="en-US" sz="1137" dirty="0"/>
          </a:p>
        </p:txBody>
      </p:sp>
      <p:sp>
        <p:nvSpPr>
          <p:cNvPr id="31" name="Text 29"/>
          <p:cNvSpPr txBox="1"/>
          <p:nvPr/>
        </p:nvSpPr>
        <p:spPr>
          <a:xfrm>
            <a:off x="8146435" y="5098191"/>
            <a:ext cx="665500" cy="221833"/>
          </a:xfrm>
          <a:prstGeom prst="rect">
            <a:avLst/>
          </a:prstGeom>
          <a:noFill/>
          <a:ln/>
        </p:spPr>
        <p:txBody>
          <a:bodyPr wrap="square" lIns="0" tIns="0" rIns="0" bIns="0" rtlCol="0" anchor="t"/>
          <a:lstStyle/>
          <a:p>
            <a:pPr algn="ctr" indent="0" marL="0">
              <a:buNone/>
            </a:pPr>
            <a:r>
              <a:rPr lang="en-US" sz="1137" dirty="0">
                <a:solidFill>
                  <a:srgbClr val="5B6B7B"/>
                </a:solidFill>
                <a:latin typeface="Calibri" pitchFamily="34" charset="0"/>
                <a:ea typeface="Calibri" pitchFamily="34" charset="-122"/>
                <a:cs typeface="Calibri" pitchFamily="34" charset="-120"/>
              </a:rPr>
              <a:t>18:00</a:t>
            </a:r>
            <a:endParaRPr lang="en-US" sz="1137" dirty="0"/>
          </a:p>
        </p:txBody>
      </p:sp>
      <p:sp>
        <p:nvSpPr>
          <p:cNvPr id="32" name="Text 30"/>
          <p:cNvSpPr txBox="1"/>
          <p:nvPr/>
        </p:nvSpPr>
        <p:spPr>
          <a:xfrm>
            <a:off x="9163172" y="5098191"/>
            <a:ext cx="665500" cy="221833"/>
          </a:xfrm>
          <a:prstGeom prst="rect">
            <a:avLst/>
          </a:prstGeom>
          <a:noFill/>
          <a:ln/>
        </p:spPr>
        <p:txBody>
          <a:bodyPr wrap="square" lIns="0" tIns="0" rIns="0" bIns="0" rtlCol="0" anchor="t"/>
          <a:lstStyle/>
          <a:p>
            <a:pPr algn="ctr" indent="0" marL="0">
              <a:buNone/>
            </a:pPr>
            <a:r>
              <a:rPr lang="en-US" sz="1137" dirty="0">
                <a:solidFill>
                  <a:srgbClr val="5B6B7B"/>
                </a:solidFill>
                <a:latin typeface="Calibri" pitchFamily="34" charset="0"/>
                <a:ea typeface="Calibri" pitchFamily="34" charset="-122"/>
                <a:cs typeface="Calibri" pitchFamily="34" charset="-120"/>
              </a:rPr>
              <a:t>20:00</a:t>
            </a:r>
            <a:endParaRPr lang="en-US" sz="1137" dirty="0"/>
          </a:p>
        </p:txBody>
      </p:sp>
      <p:sp>
        <p:nvSpPr>
          <p:cNvPr id="33" name="Text 31"/>
          <p:cNvSpPr txBox="1"/>
          <p:nvPr/>
        </p:nvSpPr>
        <p:spPr>
          <a:xfrm>
            <a:off x="10179909" y="5098191"/>
            <a:ext cx="665500" cy="221833"/>
          </a:xfrm>
          <a:prstGeom prst="rect">
            <a:avLst/>
          </a:prstGeom>
          <a:noFill/>
          <a:ln/>
        </p:spPr>
        <p:txBody>
          <a:bodyPr wrap="square" lIns="0" tIns="0" rIns="0" bIns="0" rtlCol="0" anchor="t"/>
          <a:lstStyle/>
          <a:p>
            <a:pPr algn="ctr" indent="0" marL="0">
              <a:buNone/>
            </a:pPr>
            <a:r>
              <a:rPr lang="en-US" sz="1137" dirty="0">
                <a:solidFill>
                  <a:srgbClr val="5B6B7B"/>
                </a:solidFill>
                <a:latin typeface="Calibri" pitchFamily="34" charset="0"/>
                <a:ea typeface="Calibri" pitchFamily="34" charset="-122"/>
                <a:cs typeface="Calibri" pitchFamily="34" charset="-120"/>
              </a:rPr>
              <a:t>22:00</a:t>
            </a:r>
            <a:endParaRPr lang="en-US" sz="1137" dirty="0"/>
          </a:p>
        </p:txBody>
      </p:sp>
      <p:sp>
        <p:nvSpPr>
          <p:cNvPr id="34" name="Text 32"/>
          <p:cNvSpPr txBox="1"/>
          <p:nvPr/>
        </p:nvSpPr>
        <p:spPr>
          <a:xfrm>
            <a:off x="11196645" y="5098191"/>
            <a:ext cx="665500" cy="221833"/>
          </a:xfrm>
          <a:prstGeom prst="rect">
            <a:avLst/>
          </a:prstGeom>
          <a:noFill/>
          <a:ln/>
        </p:spPr>
        <p:txBody>
          <a:bodyPr wrap="square" lIns="0" tIns="0" rIns="0" bIns="0" rtlCol="0" anchor="t"/>
          <a:lstStyle/>
          <a:p>
            <a:pPr algn="ctr" indent="0" marL="0">
              <a:buNone/>
            </a:pPr>
            <a:r>
              <a:rPr lang="en-US" sz="1137" dirty="0">
                <a:solidFill>
                  <a:srgbClr val="5B6B7B"/>
                </a:solidFill>
                <a:latin typeface="Calibri" pitchFamily="34" charset="0"/>
                <a:ea typeface="Calibri" pitchFamily="34" charset="-122"/>
                <a:cs typeface="Calibri" pitchFamily="34" charset="-120"/>
              </a:rPr>
              <a:t>24:00</a:t>
            </a:r>
            <a:endParaRPr lang="en-US" sz="1137" dirty="0"/>
          </a:p>
        </p:txBody>
      </p:sp>
      <p:sp>
        <p:nvSpPr>
          <p:cNvPr id="35" name="Shape 33"/>
          <p:cNvSpPr/>
          <p:nvPr/>
        </p:nvSpPr>
        <p:spPr>
          <a:xfrm rot="10800000">
            <a:off x="3402589" y="1880534"/>
            <a:ext cx="155283" cy="155283"/>
          </a:xfrm>
          <a:prstGeom prst="triangle">
            <a:avLst/>
          </a:prstGeom>
          <a:solidFill>
            <a:srgbClr val="0B1E33"/>
          </a:solidFill>
          <a:ln w="6350">
            <a:solidFill>
              <a:srgbClr val="0B1E33"/>
            </a:solidFill>
            <a:prstDash val="solid"/>
          </a:ln>
        </p:spPr>
      </p:sp>
      <p:sp>
        <p:nvSpPr>
          <p:cNvPr id="36" name="Text 34"/>
          <p:cNvSpPr txBox="1"/>
          <p:nvPr/>
        </p:nvSpPr>
        <p:spPr>
          <a:xfrm>
            <a:off x="2348880" y="1581059"/>
            <a:ext cx="1153534" cy="199650"/>
          </a:xfrm>
          <a:prstGeom prst="rect">
            <a:avLst/>
          </a:prstGeom>
          <a:noFill/>
          <a:ln/>
        </p:spPr>
        <p:txBody>
          <a:bodyPr wrap="square" lIns="0" tIns="0" rIns="0" bIns="0" rtlCol="0" anchor="t"/>
          <a:lstStyle/>
          <a:p>
            <a:pPr algn="r" indent="0" marL="0">
              <a:buNone/>
            </a:pPr>
            <a:r>
              <a:rPr lang="en-US" sz="1137" dirty="0">
                <a:solidFill>
                  <a:srgbClr val="0B1E33"/>
                </a:solidFill>
                <a:latin typeface="Calibri" pitchFamily="34" charset="0"/>
                <a:ea typeface="Calibri" pitchFamily="34" charset="-122"/>
                <a:cs typeface="Calibri" pitchFamily="34" charset="-120"/>
              </a:rPr>
              <a:t>Geliş 08:10</a:t>
            </a:r>
            <a:endParaRPr lang="en-US" sz="1137" dirty="0"/>
          </a:p>
        </p:txBody>
      </p:sp>
      <p:sp>
        <p:nvSpPr>
          <p:cNvPr id="37" name="Shape 35"/>
          <p:cNvSpPr/>
          <p:nvPr/>
        </p:nvSpPr>
        <p:spPr>
          <a:xfrm>
            <a:off x="3783865" y="1880534"/>
            <a:ext cx="155283" cy="155283"/>
          </a:xfrm>
          <a:prstGeom prst="triangle">
            <a:avLst/>
          </a:prstGeom>
          <a:solidFill>
            <a:srgbClr val="0B1E33"/>
          </a:solidFill>
          <a:ln w="6350">
            <a:solidFill>
              <a:srgbClr val="0B1E33"/>
            </a:solidFill>
            <a:prstDash val="solid"/>
          </a:ln>
        </p:spPr>
      </p:sp>
      <p:sp>
        <p:nvSpPr>
          <p:cNvPr id="38" name="Text 36"/>
          <p:cNvSpPr txBox="1"/>
          <p:nvPr/>
        </p:nvSpPr>
        <p:spPr>
          <a:xfrm>
            <a:off x="3839323" y="1581059"/>
            <a:ext cx="1153534" cy="199650"/>
          </a:xfrm>
          <a:prstGeom prst="rect">
            <a:avLst/>
          </a:prstGeom>
          <a:noFill/>
          <a:ln/>
        </p:spPr>
        <p:txBody>
          <a:bodyPr wrap="square" lIns="0" tIns="0" rIns="0" bIns="0" rtlCol="0" anchor="t"/>
          <a:lstStyle/>
          <a:p>
            <a:pPr algn="l" indent="0" marL="0">
              <a:buNone/>
            </a:pPr>
            <a:r>
              <a:rPr lang="en-US" sz="1137" dirty="0">
                <a:solidFill>
                  <a:srgbClr val="0B1E33"/>
                </a:solidFill>
                <a:latin typeface="Calibri" pitchFamily="34" charset="0"/>
                <a:ea typeface="Calibri" pitchFamily="34" charset="-122"/>
                <a:cs typeface="Calibri" pitchFamily="34" charset="-120"/>
              </a:rPr>
              <a:t>Kalkış 08:55</a:t>
            </a:r>
            <a:endParaRPr lang="en-US" sz="1137" dirty="0"/>
          </a:p>
        </p:txBody>
      </p:sp>
      <p:sp>
        <p:nvSpPr>
          <p:cNvPr id="39" name="Shape 37"/>
          <p:cNvSpPr/>
          <p:nvPr/>
        </p:nvSpPr>
        <p:spPr>
          <a:xfrm rot="10800000">
            <a:off x="9248824" y="1880534"/>
            <a:ext cx="155283" cy="155283"/>
          </a:xfrm>
          <a:prstGeom prst="triangle">
            <a:avLst/>
          </a:prstGeom>
          <a:solidFill>
            <a:srgbClr val="0B1E33"/>
          </a:solidFill>
          <a:ln w="6350">
            <a:solidFill>
              <a:srgbClr val="0B1E33"/>
            </a:solidFill>
            <a:prstDash val="solid"/>
          </a:ln>
        </p:spPr>
      </p:sp>
      <p:sp>
        <p:nvSpPr>
          <p:cNvPr id="40" name="Text 38"/>
          <p:cNvSpPr txBox="1"/>
          <p:nvPr/>
        </p:nvSpPr>
        <p:spPr>
          <a:xfrm>
            <a:off x="8195115" y="1581059"/>
            <a:ext cx="1153534" cy="199650"/>
          </a:xfrm>
          <a:prstGeom prst="rect">
            <a:avLst/>
          </a:prstGeom>
          <a:noFill/>
          <a:ln/>
        </p:spPr>
        <p:txBody>
          <a:bodyPr wrap="square" lIns="0" tIns="0" rIns="0" bIns="0" rtlCol="0" anchor="t"/>
          <a:lstStyle/>
          <a:p>
            <a:pPr algn="r" indent="0" marL="0">
              <a:buNone/>
            </a:pPr>
            <a:r>
              <a:rPr lang="en-US" sz="1137" dirty="0">
                <a:solidFill>
                  <a:srgbClr val="0B1E33"/>
                </a:solidFill>
                <a:latin typeface="Calibri" pitchFamily="34" charset="0"/>
                <a:ea typeface="Calibri" pitchFamily="34" charset="-122"/>
                <a:cs typeface="Calibri" pitchFamily="34" charset="-120"/>
              </a:rPr>
              <a:t>Geliş 19:40</a:t>
            </a:r>
            <a:endParaRPr lang="en-US" sz="1137" dirty="0"/>
          </a:p>
        </p:txBody>
      </p:sp>
      <p:sp>
        <p:nvSpPr>
          <p:cNvPr id="41" name="Shape 39"/>
          <p:cNvSpPr/>
          <p:nvPr/>
        </p:nvSpPr>
        <p:spPr>
          <a:xfrm>
            <a:off x="9630101" y="1880534"/>
            <a:ext cx="155283" cy="155283"/>
          </a:xfrm>
          <a:prstGeom prst="triangle">
            <a:avLst/>
          </a:prstGeom>
          <a:solidFill>
            <a:srgbClr val="0B1E33"/>
          </a:solidFill>
          <a:ln w="6350">
            <a:solidFill>
              <a:srgbClr val="0B1E33"/>
            </a:solidFill>
            <a:prstDash val="solid"/>
          </a:ln>
        </p:spPr>
      </p:sp>
      <p:sp>
        <p:nvSpPr>
          <p:cNvPr id="42" name="Text 40"/>
          <p:cNvSpPr txBox="1"/>
          <p:nvPr/>
        </p:nvSpPr>
        <p:spPr>
          <a:xfrm>
            <a:off x="9685559" y="1581059"/>
            <a:ext cx="1153534" cy="199650"/>
          </a:xfrm>
          <a:prstGeom prst="rect">
            <a:avLst/>
          </a:prstGeom>
          <a:noFill/>
          <a:ln/>
        </p:spPr>
        <p:txBody>
          <a:bodyPr wrap="square" lIns="0" tIns="0" rIns="0" bIns="0" rtlCol="0" anchor="t"/>
          <a:lstStyle/>
          <a:p>
            <a:pPr algn="l" indent="0" marL="0">
              <a:buNone/>
            </a:pPr>
            <a:r>
              <a:rPr lang="en-US" sz="1137" dirty="0">
                <a:solidFill>
                  <a:srgbClr val="0B1E33"/>
                </a:solidFill>
                <a:latin typeface="Calibri" pitchFamily="34" charset="0"/>
                <a:ea typeface="Calibri" pitchFamily="34" charset="-122"/>
                <a:cs typeface="Calibri" pitchFamily="34" charset="-120"/>
              </a:rPr>
              <a:t>Kalkış 20:25</a:t>
            </a:r>
            <a:endParaRPr lang="en-US" sz="1137" dirty="0"/>
          </a:p>
        </p:txBody>
      </p:sp>
      <p:sp>
        <p:nvSpPr>
          <p:cNvPr id="43" name="Shape 41"/>
          <p:cNvSpPr/>
          <p:nvPr/>
        </p:nvSpPr>
        <p:spPr>
          <a:xfrm>
            <a:off x="2590586" y="2410105"/>
            <a:ext cx="101674" cy="177467"/>
          </a:xfrm>
          <a:prstGeom prst="rect">
            <a:avLst/>
          </a:prstGeom>
          <a:solidFill>
            <a:srgbClr val="1479C4"/>
          </a:solidFill>
          <a:ln w="9525">
            <a:solidFill>
              <a:srgbClr val="1479C4"/>
            </a:solidFill>
            <a:prstDash val="solid"/>
          </a:ln>
        </p:spPr>
      </p:sp>
      <p:sp>
        <p:nvSpPr>
          <p:cNvPr id="44" name="Text 42"/>
          <p:cNvSpPr txBox="1"/>
          <p:nvPr/>
        </p:nvSpPr>
        <p:spPr>
          <a:xfrm>
            <a:off x="2036002" y="2609755"/>
            <a:ext cx="1210841" cy="199650"/>
          </a:xfrm>
          <a:prstGeom prst="rect">
            <a:avLst/>
          </a:prstGeom>
          <a:noFill/>
          <a:ln/>
        </p:spPr>
        <p:txBody>
          <a:bodyPr wrap="square" lIns="0" tIns="0" rIns="0" bIns="0" rtlCol="0" anchor="t"/>
          <a:lstStyle/>
          <a:p>
            <a:pPr algn="ctr" indent="0" marL="0">
              <a:buNone/>
            </a:pPr>
            <a:r>
              <a:rPr lang="en-US" sz="1061" dirty="0">
                <a:solidFill>
                  <a:srgbClr val="5B6B7B"/>
                </a:solidFill>
                <a:latin typeface="Calibri" pitchFamily="34" charset="0"/>
                <a:ea typeface="Calibri" pitchFamily="34" charset="-122"/>
                <a:cs typeface="Calibri" pitchFamily="34" charset="-120"/>
              </a:rPr>
              <a:t>açılış</a:t>
            </a:r>
            <a:endParaRPr lang="en-US" sz="1061" dirty="0"/>
          </a:p>
        </p:txBody>
      </p:sp>
      <p:sp>
        <p:nvSpPr>
          <p:cNvPr id="45" name="Shape 43"/>
          <p:cNvSpPr/>
          <p:nvPr/>
        </p:nvSpPr>
        <p:spPr>
          <a:xfrm>
            <a:off x="3336193" y="2410105"/>
            <a:ext cx="101674" cy="177467"/>
          </a:xfrm>
          <a:prstGeom prst="rect">
            <a:avLst/>
          </a:prstGeom>
          <a:solidFill>
            <a:srgbClr val="1479C4"/>
          </a:solidFill>
          <a:ln w="9525">
            <a:solidFill>
              <a:srgbClr val="1479C4"/>
            </a:solidFill>
            <a:prstDash val="solid"/>
          </a:ln>
        </p:spPr>
      </p:sp>
      <p:sp>
        <p:nvSpPr>
          <p:cNvPr id="46" name="Shape 44"/>
          <p:cNvSpPr/>
          <p:nvPr/>
        </p:nvSpPr>
        <p:spPr>
          <a:xfrm>
            <a:off x="3717469" y="2410105"/>
            <a:ext cx="101674" cy="177467"/>
          </a:xfrm>
          <a:prstGeom prst="rect">
            <a:avLst/>
          </a:prstGeom>
          <a:solidFill>
            <a:srgbClr val="1479C4"/>
          </a:solidFill>
          <a:ln w="9525">
            <a:solidFill>
              <a:srgbClr val="1479C4"/>
            </a:solidFill>
            <a:prstDash val="solid"/>
          </a:ln>
        </p:spPr>
      </p:sp>
      <p:sp>
        <p:nvSpPr>
          <p:cNvPr id="47" name="Shape 45"/>
          <p:cNvSpPr/>
          <p:nvPr/>
        </p:nvSpPr>
        <p:spPr>
          <a:xfrm>
            <a:off x="3903871" y="2410105"/>
            <a:ext cx="101674" cy="177467"/>
          </a:xfrm>
          <a:prstGeom prst="rect">
            <a:avLst/>
          </a:prstGeom>
          <a:solidFill>
            <a:srgbClr val="1479C4"/>
          </a:solidFill>
          <a:ln w="9525">
            <a:solidFill>
              <a:srgbClr val="1479C4"/>
            </a:solidFill>
            <a:prstDash val="solid"/>
          </a:ln>
        </p:spPr>
      </p:sp>
      <p:sp>
        <p:nvSpPr>
          <p:cNvPr id="48" name="Text 46"/>
          <p:cNvSpPr txBox="1"/>
          <p:nvPr/>
        </p:nvSpPr>
        <p:spPr>
          <a:xfrm>
            <a:off x="3349287" y="2609755"/>
            <a:ext cx="1210841" cy="199650"/>
          </a:xfrm>
          <a:prstGeom prst="rect">
            <a:avLst/>
          </a:prstGeom>
          <a:noFill/>
          <a:ln/>
        </p:spPr>
        <p:txBody>
          <a:bodyPr wrap="square" lIns="0" tIns="0" rIns="0" bIns="0" rtlCol="0" anchor="t"/>
          <a:lstStyle/>
          <a:p>
            <a:pPr algn="ctr" indent="0" marL="0">
              <a:buNone/>
            </a:pPr>
            <a:r>
              <a:rPr lang="en-US" sz="1061" dirty="0">
                <a:solidFill>
                  <a:srgbClr val="5B6B7B"/>
                </a:solidFill>
                <a:latin typeface="Calibri" pitchFamily="34" charset="0"/>
                <a:ea typeface="Calibri" pitchFamily="34" charset="-122"/>
                <a:cs typeface="Calibri" pitchFamily="34" charset="-120"/>
              </a:rPr>
              <a:t>hareket sonrası</a:t>
            </a:r>
            <a:endParaRPr lang="en-US" sz="1061" dirty="0"/>
          </a:p>
        </p:txBody>
      </p:sp>
      <p:sp>
        <p:nvSpPr>
          <p:cNvPr id="49" name="Shape 47"/>
          <p:cNvSpPr/>
          <p:nvPr/>
        </p:nvSpPr>
        <p:spPr>
          <a:xfrm>
            <a:off x="6191528" y="2410105"/>
            <a:ext cx="508368" cy="177467"/>
          </a:xfrm>
          <a:prstGeom prst="rect">
            <a:avLst/>
          </a:prstGeom>
          <a:solidFill>
            <a:srgbClr val="1479C4"/>
          </a:solidFill>
          <a:ln w="9525">
            <a:solidFill>
              <a:srgbClr val="1479C4"/>
            </a:solidFill>
            <a:prstDash val="solid"/>
          </a:ln>
        </p:spPr>
      </p:sp>
      <p:sp>
        <p:nvSpPr>
          <p:cNvPr id="50" name="Text 48"/>
          <p:cNvSpPr txBox="1"/>
          <p:nvPr/>
        </p:nvSpPr>
        <p:spPr>
          <a:xfrm>
            <a:off x="5636945" y="2609755"/>
            <a:ext cx="1617536" cy="199650"/>
          </a:xfrm>
          <a:prstGeom prst="rect">
            <a:avLst/>
          </a:prstGeom>
          <a:noFill/>
          <a:ln/>
        </p:spPr>
        <p:txBody>
          <a:bodyPr wrap="square" lIns="0" tIns="0" rIns="0" bIns="0" rtlCol="0" anchor="t"/>
          <a:lstStyle/>
          <a:p>
            <a:pPr algn="ctr" indent="0" marL="0">
              <a:buNone/>
            </a:pPr>
            <a:r>
              <a:rPr lang="en-US" sz="1061" dirty="0">
                <a:solidFill>
                  <a:srgbClr val="5B6B7B"/>
                </a:solidFill>
                <a:latin typeface="Calibri" pitchFamily="34" charset="0"/>
                <a:ea typeface="Calibri" pitchFamily="34" charset="-122"/>
                <a:cs typeface="Calibri" pitchFamily="34" charset="-120"/>
              </a:rPr>
              <a:t>pist sağlığı (haftada 1)</a:t>
            </a:r>
            <a:endParaRPr lang="en-US" sz="1061" dirty="0"/>
          </a:p>
        </p:txBody>
      </p:sp>
      <p:sp>
        <p:nvSpPr>
          <p:cNvPr id="51" name="Shape 49"/>
          <p:cNvSpPr/>
          <p:nvPr/>
        </p:nvSpPr>
        <p:spPr>
          <a:xfrm>
            <a:off x="9182428" y="2410105"/>
            <a:ext cx="101674" cy="177467"/>
          </a:xfrm>
          <a:prstGeom prst="rect">
            <a:avLst/>
          </a:prstGeom>
          <a:solidFill>
            <a:srgbClr val="1479C4"/>
          </a:solidFill>
          <a:ln w="9525">
            <a:solidFill>
              <a:srgbClr val="1479C4"/>
            </a:solidFill>
            <a:prstDash val="solid"/>
          </a:ln>
        </p:spPr>
      </p:sp>
      <p:sp>
        <p:nvSpPr>
          <p:cNvPr id="52" name="Shape 50"/>
          <p:cNvSpPr/>
          <p:nvPr/>
        </p:nvSpPr>
        <p:spPr>
          <a:xfrm>
            <a:off x="9563705" y="2410105"/>
            <a:ext cx="101674" cy="177467"/>
          </a:xfrm>
          <a:prstGeom prst="rect">
            <a:avLst/>
          </a:prstGeom>
          <a:solidFill>
            <a:srgbClr val="1479C4"/>
          </a:solidFill>
          <a:ln w="9525">
            <a:solidFill>
              <a:srgbClr val="1479C4"/>
            </a:solidFill>
            <a:prstDash val="solid"/>
          </a:ln>
        </p:spPr>
      </p:sp>
      <p:sp>
        <p:nvSpPr>
          <p:cNvPr id="53" name="Text 51"/>
          <p:cNvSpPr txBox="1"/>
          <p:nvPr/>
        </p:nvSpPr>
        <p:spPr>
          <a:xfrm>
            <a:off x="4666423" y="2166088"/>
            <a:ext cx="5102169" cy="199650"/>
          </a:xfrm>
          <a:prstGeom prst="rect">
            <a:avLst/>
          </a:prstGeom>
          <a:noFill/>
          <a:ln/>
        </p:spPr>
        <p:txBody>
          <a:bodyPr wrap="square" lIns="0" tIns="0" rIns="0" bIns="0" rtlCol="0" anchor="t"/>
          <a:lstStyle/>
          <a:p>
            <a:pPr indent="0" marL="0">
              <a:buNone/>
            </a:pPr>
            <a:r>
              <a:rPr lang="en-US" sz="1061" dirty="0">
                <a:solidFill>
                  <a:srgbClr val="1479C4"/>
                </a:solidFill>
                <a:latin typeface="Calibri" pitchFamily="34" charset="0"/>
                <a:ea typeface="Calibri" pitchFamily="34" charset="-122"/>
                <a:cs typeface="Calibri" pitchFamily="34" charset="-120"/>
              </a:rPr>
              <a:t>her hareketten ≈15 dk önce tarama → kuleye temiz pist raporu</a:t>
            </a:r>
            <a:endParaRPr lang="en-US" sz="1061" dirty="0"/>
          </a:p>
        </p:txBody>
      </p:sp>
      <p:sp>
        <p:nvSpPr>
          <p:cNvPr id="54" name="Shape 52"/>
          <p:cNvSpPr/>
          <p:nvPr/>
        </p:nvSpPr>
        <p:spPr>
          <a:xfrm>
            <a:off x="2548222" y="2950767"/>
            <a:ext cx="211820" cy="177467"/>
          </a:xfrm>
          <a:prstGeom prst="rect">
            <a:avLst/>
          </a:prstGeom>
          <a:solidFill>
            <a:srgbClr val="E8A317"/>
          </a:solidFill>
          <a:ln w="9525">
            <a:solidFill>
              <a:srgbClr val="E8A317"/>
            </a:solidFill>
            <a:prstDash val="solid"/>
          </a:ln>
        </p:spPr>
      </p:sp>
      <p:sp>
        <p:nvSpPr>
          <p:cNvPr id="55" name="Text 53"/>
          <p:cNvSpPr txBox="1"/>
          <p:nvPr/>
        </p:nvSpPr>
        <p:spPr>
          <a:xfrm>
            <a:off x="1993638" y="3150417"/>
            <a:ext cx="1320987" cy="199650"/>
          </a:xfrm>
          <a:prstGeom prst="rect">
            <a:avLst/>
          </a:prstGeom>
          <a:noFill/>
          <a:ln/>
        </p:spPr>
        <p:txBody>
          <a:bodyPr wrap="square" lIns="0" tIns="0" rIns="0" bIns="0" rtlCol="0" anchor="t"/>
          <a:lstStyle/>
          <a:p>
            <a:pPr algn="ctr" indent="0" marL="0">
              <a:buNone/>
            </a:pPr>
            <a:r>
              <a:rPr lang="en-US" sz="1061" dirty="0">
                <a:solidFill>
                  <a:srgbClr val="5B6B7B"/>
                </a:solidFill>
                <a:latin typeface="Calibri" pitchFamily="34" charset="0"/>
                <a:ea typeface="Calibri" pitchFamily="34" charset="-122"/>
                <a:cs typeface="Calibri" pitchFamily="34" charset="-120"/>
              </a:rPr>
              <a:t>şafak</a:t>
            </a:r>
            <a:endParaRPr lang="en-US" sz="1061" dirty="0"/>
          </a:p>
        </p:txBody>
      </p:sp>
      <p:sp>
        <p:nvSpPr>
          <p:cNvPr id="56" name="Shape 54"/>
          <p:cNvSpPr/>
          <p:nvPr/>
        </p:nvSpPr>
        <p:spPr>
          <a:xfrm>
            <a:off x="4666423" y="2950767"/>
            <a:ext cx="296548" cy="177467"/>
          </a:xfrm>
          <a:prstGeom prst="rect">
            <a:avLst/>
          </a:prstGeom>
          <a:solidFill>
            <a:srgbClr val="E8A317"/>
          </a:solidFill>
          <a:ln w="9525">
            <a:solidFill>
              <a:srgbClr val="E8A317"/>
            </a:solidFill>
            <a:prstDash val="solid"/>
          </a:ln>
        </p:spPr>
      </p:sp>
      <p:sp>
        <p:nvSpPr>
          <p:cNvPr id="57" name="Text 55"/>
          <p:cNvSpPr txBox="1"/>
          <p:nvPr/>
        </p:nvSpPr>
        <p:spPr>
          <a:xfrm>
            <a:off x="4111840" y="3150417"/>
            <a:ext cx="1405715" cy="199650"/>
          </a:xfrm>
          <a:prstGeom prst="rect">
            <a:avLst/>
          </a:prstGeom>
          <a:noFill/>
          <a:ln/>
        </p:spPr>
        <p:txBody>
          <a:bodyPr wrap="square" lIns="0" tIns="0" rIns="0" bIns="0" rtlCol="0" anchor="t"/>
          <a:lstStyle/>
          <a:p>
            <a:pPr algn="ctr" indent="0" marL="0">
              <a:buNone/>
            </a:pPr>
            <a:r>
              <a:rPr lang="en-US" sz="1061" dirty="0">
                <a:solidFill>
                  <a:srgbClr val="5B6B7B"/>
                </a:solidFill>
                <a:latin typeface="Calibri" pitchFamily="34" charset="0"/>
                <a:ea typeface="Calibri" pitchFamily="34" charset="-122"/>
                <a:cs typeface="Calibri" pitchFamily="34" charset="-120"/>
              </a:rPr>
              <a:t>çit devriyesi</a:t>
            </a:r>
            <a:endParaRPr lang="en-US" sz="1061" dirty="0"/>
          </a:p>
        </p:txBody>
      </p:sp>
      <p:sp>
        <p:nvSpPr>
          <p:cNvPr id="58" name="Shape 56"/>
          <p:cNvSpPr/>
          <p:nvPr/>
        </p:nvSpPr>
        <p:spPr>
          <a:xfrm>
            <a:off x="5937344" y="2950767"/>
            <a:ext cx="169456" cy="177467"/>
          </a:xfrm>
          <a:prstGeom prst="rect">
            <a:avLst/>
          </a:prstGeom>
          <a:solidFill>
            <a:srgbClr val="E8A317"/>
          </a:solidFill>
          <a:ln w="9525">
            <a:solidFill>
              <a:srgbClr val="E8A317"/>
            </a:solidFill>
            <a:prstDash val="solid"/>
          </a:ln>
        </p:spPr>
      </p:sp>
      <p:sp>
        <p:nvSpPr>
          <p:cNvPr id="59" name="Text 57"/>
          <p:cNvSpPr txBox="1"/>
          <p:nvPr/>
        </p:nvSpPr>
        <p:spPr>
          <a:xfrm>
            <a:off x="5382760" y="3150417"/>
            <a:ext cx="1278623" cy="199650"/>
          </a:xfrm>
          <a:prstGeom prst="rect">
            <a:avLst/>
          </a:prstGeom>
          <a:noFill/>
          <a:ln/>
        </p:spPr>
        <p:txBody>
          <a:bodyPr wrap="square" lIns="0" tIns="0" rIns="0" bIns="0" rtlCol="0" anchor="t"/>
          <a:lstStyle/>
          <a:p>
            <a:pPr algn="ctr" indent="0" marL="0">
              <a:buNone/>
            </a:pPr>
            <a:r>
              <a:rPr lang="en-US" sz="1061" dirty="0">
                <a:solidFill>
                  <a:srgbClr val="5B6B7B"/>
                </a:solidFill>
                <a:latin typeface="Calibri" pitchFamily="34" charset="0"/>
                <a:ea typeface="Calibri" pitchFamily="34" charset="-122"/>
                <a:cs typeface="Calibri" pitchFamily="34" charset="-120"/>
              </a:rPr>
              <a:t>uyarı üzerine</a:t>
            </a:r>
            <a:endParaRPr lang="en-US" sz="1061" dirty="0"/>
          </a:p>
        </p:txBody>
      </p:sp>
      <p:sp>
        <p:nvSpPr>
          <p:cNvPr id="60" name="Shape 58"/>
          <p:cNvSpPr/>
          <p:nvPr/>
        </p:nvSpPr>
        <p:spPr>
          <a:xfrm>
            <a:off x="8225001" y="2950767"/>
            <a:ext cx="211820" cy="177467"/>
          </a:xfrm>
          <a:prstGeom prst="rect">
            <a:avLst/>
          </a:prstGeom>
          <a:solidFill>
            <a:srgbClr val="E8A317"/>
          </a:solidFill>
          <a:ln w="9525">
            <a:solidFill>
              <a:srgbClr val="E8A317"/>
            </a:solidFill>
            <a:prstDash val="solid"/>
          </a:ln>
        </p:spPr>
      </p:sp>
      <p:sp>
        <p:nvSpPr>
          <p:cNvPr id="61" name="Text 59"/>
          <p:cNvSpPr txBox="1"/>
          <p:nvPr/>
        </p:nvSpPr>
        <p:spPr>
          <a:xfrm>
            <a:off x="7670418" y="3150417"/>
            <a:ext cx="1320987" cy="199650"/>
          </a:xfrm>
          <a:prstGeom prst="rect">
            <a:avLst/>
          </a:prstGeom>
          <a:noFill/>
          <a:ln/>
        </p:spPr>
        <p:txBody>
          <a:bodyPr wrap="square" lIns="0" tIns="0" rIns="0" bIns="0" rtlCol="0" anchor="t"/>
          <a:lstStyle/>
          <a:p>
            <a:pPr algn="ctr" indent="0" marL="0">
              <a:buNone/>
            </a:pPr>
            <a:r>
              <a:rPr lang="en-US" sz="1061" dirty="0">
                <a:solidFill>
                  <a:srgbClr val="5B6B7B"/>
                </a:solidFill>
                <a:latin typeface="Calibri" pitchFamily="34" charset="0"/>
                <a:ea typeface="Calibri" pitchFamily="34" charset="-122"/>
                <a:cs typeface="Calibri" pitchFamily="34" charset="-120"/>
              </a:rPr>
              <a:t>gün batımı</a:t>
            </a:r>
            <a:endParaRPr lang="en-US" sz="1061" dirty="0"/>
          </a:p>
        </p:txBody>
      </p:sp>
      <p:sp>
        <p:nvSpPr>
          <p:cNvPr id="62" name="Shape 60"/>
          <p:cNvSpPr/>
          <p:nvPr/>
        </p:nvSpPr>
        <p:spPr>
          <a:xfrm>
            <a:off x="10258475" y="2950767"/>
            <a:ext cx="296548" cy="177467"/>
          </a:xfrm>
          <a:prstGeom prst="rect">
            <a:avLst/>
          </a:prstGeom>
          <a:solidFill>
            <a:srgbClr val="E8A317"/>
          </a:solidFill>
          <a:ln w="9525">
            <a:solidFill>
              <a:srgbClr val="E8A317"/>
            </a:solidFill>
            <a:prstDash val="solid"/>
          </a:ln>
        </p:spPr>
      </p:sp>
      <p:sp>
        <p:nvSpPr>
          <p:cNvPr id="63" name="Text 61"/>
          <p:cNvSpPr txBox="1"/>
          <p:nvPr/>
        </p:nvSpPr>
        <p:spPr>
          <a:xfrm>
            <a:off x="9703891" y="3150417"/>
            <a:ext cx="1405715" cy="199650"/>
          </a:xfrm>
          <a:prstGeom prst="rect">
            <a:avLst/>
          </a:prstGeom>
          <a:noFill/>
          <a:ln/>
        </p:spPr>
        <p:txBody>
          <a:bodyPr wrap="square" lIns="0" tIns="0" rIns="0" bIns="0" rtlCol="0" anchor="t"/>
          <a:lstStyle/>
          <a:p>
            <a:pPr algn="ctr" indent="0" marL="0">
              <a:buNone/>
            </a:pPr>
            <a:r>
              <a:rPr lang="en-US" sz="1061" dirty="0">
                <a:solidFill>
                  <a:srgbClr val="5B6B7B"/>
                </a:solidFill>
                <a:latin typeface="Calibri" pitchFamily="34" charset="0"/>
                <a:ea typeface="Calibri" pitchFamily="34" charset="-122"/>
                <a:cs typeface="Calibri" pitchFamily="34" charset="-120"/>
              </a:rPr>
              <a:t>çit devriyesi</a:t>
            </a:r>
            <a:endParaRPr lang="en-US" sz="1061" dirty="0"/>
          </a:p>
        </p:txBody>
      </p:sp>
      <p:sp>
        <p:nvSpPr>
          <p:cNvPr id="64" name="Shape 62"/>
          <p:cNvSpPr/>
          <p:nvPr/>
        </p:nvSpPr>
        <p:spPr>
          <a:xfrm>
            <a:off x="4030963" y="3491428"/>
            <a:ext cx="101674" cy="177467"/>
          </a:xfrm>
          <a:prstGeom prst="rect">
            <a:avLst/>
          </a:prstGeom>
          <a:solidFill>
            <a:srgbClr val="3E9A31"/>
          </a:solidFill>
          <a:ln w="9525">
            <a:solidFill>
              <a:srgbClr val="3E9A31"/>
            </a:solidFill>
            <a:prstDash val="solid"/>
          </a:ln>
        </p:spPr>
      </p:sp>
      <p:sp>
        <p:nvSpPr>
          <p:cNvPr id="65" name="Text 63"/>
          <p:cNvSpPr txBox="1"/>
          <p:nvPr/>
        </p:nvSpPr>
        <p:spPr>
          <a:xfrm>
            <a:off x="3476379" y="3691078"/>
            <a:ext cx="1210841" cy="199650"/>
          </a:xfrm>
          <a:prstGeom prst="rect">
            <a:avLst/>
          </a:prstGeom>
          <a:noFill/>
          <a:ln/>
        </p:spPr>
        <p:txBody>
          <a:bodyPr wrap="square" lIns="0" tIns="0" rIns="0" bIns="0" rtlCol="0" anchor="t"/>
          <a:lstStyle/>
          <a:p>
            <a:pPr algn="ctr" indent="0" marL="0">
              <a:buNone/>
            </a:pPr>
            <a:r>
              <a:rPr lang="en-US" sz="1061" dirty="0">
                <a:solidFill>
                  <a:srgbClr val="5B6B7B"/>
                </a:solidFill>
                <a:latin typeface="Calibri" pitchFamily="34" charset="0"/>
                <a:ea typeface="Calibri" pitchFamily="34" charset="-122"/>
                <a:cs typeface="Calibri" pitchFamily="34" charset="-120"/>
              </a:rPr>
              <a:t>kâşifin bulduğu nesne</a:t>
            </a:r>
            <a:endParaRPr lang="en-US" sz="1061" dirty="0"/>
          </a:p>
        </p:txBody>
      </p:sp>
      <p:sp>
        <p:nvSpPr>
          <p:cNvPr id="66" name="Shape 64"/>
          <p:cNvSpPr/>
          <p:nvPr/>
        </p:nvSpPr>
        <p:spPr>
          <a:xfrm>
            <a:off x="2802406" y="4032090"/>
            <a:ext cx="127092" cy="177467"/>
          </a:xfrm>
          <a:prstGeom prst="rect">
            <a:avLst/>
          </a:prstGeom>
          <a:solidFill>
            <a:srgbClr val="7A4FB5">
              <a:alpha val="45000"/>
            </a:srgbClr>
          </a:solidFill>
          <a:ln w="9525">
            <a:solidFill>
              <a:srgbClr val="7A4FB5"/>
            </a:solidFill>
            <a:prstDash val="dash"/>
          </a:ln>
        </p:spPr>
      </p:sp>
      <p:sp>
        <p:nvSpPr>
          <p:cNvPr id="67" name="Text 65"/>
          <p:cNvSpPr txBox="1"/>
          <p:nvPr/>
        </p:nvSpPr>
        <p:spPr>
          <a:xfrm>
            <a:off x="2602756" y="4231740"/>
            <a:ext cx="1236259" cy="199650"/>
          </a:xfrm>
          <a:prstGeom prst="rect">
            <a:avLst/>
          </a:prstGeom>
          <a:noFill/>
          <a:ln/>
        </p:spPr>
        <p:txBody>
          <a:bodyPr wrap="square" lIns="0" tIns="0" rIns="0" bIns="0" rtlCol="0" anchor="t"/>
          <a:lstStyle/>
          <a:p>
            <a:pPr algn="ctr" indent="0" marL="0">
              <a:buNone/>
            </a:pPr>
            <a:r>
              <a:rPr lang="en-US" sz="1061" dirty="0">
                <a:solidFill>
                  <a:srgbClr val="5B6B7B"/>
                </a:solidFill>
                <a:latin typeface="Calibri" pitchFamily="34" charset="0"/>
                <a:ea typeface="Calibri" pitchFamily="34" charset="-122"/>
                <a:cs typeface="Calibri" pitchFamily="34" charset="-120"/>
              </a:rPr>
              <a:t>kış sabahı, park eden uçak</a:t>
            </a:r>
            <a:endParaRPr lang="en-US" sz="1061" dirty="0"/>
          </a:p>
        </p:txBody>
      </p:sp>
      <p:sp>
        <p:nvSpPr>
          <p:cNvPr id="68" name="Shape 66"/>
          <p:cNvSpPr/>
          <p:nvPr/>
        </p:nvSpPr>
        <p:spPr>
          <a:xfrm>
            <a:off x="3446339" y="4572752"/>
            <a:ext cx="88733" cy="177467"/>
          </a:xfrm>
          <a:prstGeom prst="rect">
            <a:avLst/>
          </a:prstGeom>
          <a:solidFill>
            <a:srgbClr val="0B1E33"/>
          </a:solidFill>
          <a:ln w="9525">
            <a:solidFill>
              <a:srgbClr val="0B1E33"/>
            </a:solidFill>
            <a:prstDash val="solid"/>
          </a:ln>
        </p:spPr>
      </p:sp>
      <p:sp>
        <p:nvSpPr>
          <p:cNvPr id="69" name="Shape 67"/>
          <p:cNvSpPr/>
          <p:nvPr/>
        </p:nvSpPr>
        <p:spPr>
          <a:xfrm>
            <a:off x="3827616" y="4572752"/>
            <a:ext cx="88733" cy="177467"/>
          </a:xfrm>
          <a:prstGeom prst="rect">
            <a:avLst/>
          </a:prstGeom>
          <a:solidFill>
            <a:srgbClr val="0B1E33"/>
          </a:solidFill>
          <a:ln w="9525">
            <a:solidFill>
              <a:srgbClr val="0B1E33"/>
            </a:solidFill>
            <a:prstDash val="solid"/>
          </a:ln>
        </p:spPr>
      </p:sp>
      <p:sp>
        <p:nvSpPr>
          <p:cNvPr id="70" name="Shape 68"/>
          <p:cNvSpPr/>
          <p:nvPr/>
        </p:nvSpPr>
        <p:spPr>
          <a:xfrm>
            <a:off x="9292575" y="4572752"/>
            <a:ext cx="88733" cy="177467"/>
          </a:xfrm>
          <a:prstGeom prst="rect">
            <a:avLst/>
          </a:prstGeom>
          <a:solidFill>
            <a:srgbClr val="0B1E33"/>
          </a:solidFill>
          <a:ln w="9525">
            <a:solidFill>
              <a:srgbClr val="0B1E33"/>
            </a:solidFill>
            <a:prstDash val="solid"/>
          </a:ln>
        </p:spPr>
      </p:sp>
      <p:sp>
        <p:nvSpPr>
          <p:cNvPr id="71" name="Shape 69"/>
          <p:cNvSpPr/>
          <p:nvPr/>
        </p:nvSpPr>
        <p:spPr>
          <a:xfrm>
            <a:off x="9673851" y="4572752"/>
            <a:ext cx="88733" cy="177467"/>
          </a:xfrm>
          <a:prstGeom prst="rect">
            <a:avLst/>
          </a:prstGeom>
          <a:solidFill>
            <a:srgbClr val="0B1E33"/>
          </a:solidFill>
          <a:ln w="9525">
            <a:solidFill>
              <a:srgbClr val="0B1E33"/>
            </a:solidFill>
            <a:prstDash val="solid"/>
          </a:ln>
        </p:spPr>
      </p:sp>
      <p:sp>
        <p:nvSpPr>
          <p:cNvPr id="72" name="Shape 70"/>
          <p:cNvSpPr/>
          <p:nvPr/>
        </p:nvSpPr>
        <p:spPr>
          <a:xfrm>
            <a:off x="2378766" y="1210903"/>
            <a:ext cx="244017" cy="155283"/>
          </a:xfrm>
          <a:prstGeom prst="rect">
            <a:avLst/>
          </a:prstGeom>
          <a:solidFill>
            <a:srgbClr val="F7E1DE"/>
          </a:solidFill>
          <a:ln w="12700">
            <a:solidFill>
              <a:srgbClr val="F7E1DE"/>
            </a:solidFill>
            <a:prstDash val="solid"/>
          </a:ln>
        </p:spPr>
      </p:sp>
      <p:sp>
        <p:nvSpPr>
          <p:cNvPr id="73" name="Text 71"/>
          <p:cNvSpPr txBox="1"/>
          <p:nvPr/>
        </p:nvSpPr>
        <p:spPr>
          <a:xfrm>
            <a:off x="2711516" y="1177628"/>
            <a:ext cx="6655003" cy="221833"/>
          </a:xfrm>
          <a:prstGeom prst="rect">
            <a:avLst/>
          </a:prstGeom>
          <a:noFill/>
          <a:ln/>
        </p:spPr>
        <p:txBody>
          <a:bodyPr wrap="square" lIns="0" tIns="0" rIns="0" bIns="0" rtlCol="0" anchor="t"/>
          <a:lstStyle/>
          <a:p>
            <a:pPr indent="0" marL="0">
              <a:buNone/>
            </a:pPr>
            <a:r>
              <a:rPr lang="en-US" sz="1137" dirty="0">
                <a:solidFill>
                  <a:srgbClr val="5B6B7B"/>
                </a:solidFill>
                <a:latin typeface="Calibri" pitchFamily="34" charset="0"/>
                <a:ea typeface="Calibri" pitchFamily="34" charset="-122"/>
                <a:cs typeface="Calibri" pitchFamily="34" charset="-120"/>
              </a:rPr>
              <a:t>pist kullanım bandı: hareketin 5 dk öncesi ve sonrası hiçbir kast uçmaz</a:t>
            </a:r>
            <a:endParaRPr lang="en-US" sz="1137" dirty="0"/>
          </a:p>
        </p:txBody>
      </p:sp>
      <p:sp>
        <p:nvSpPr>
          <p:cNvPr id="74" name="Shape 72"/>
          <p:cNvSpPr/>
          <p:nvPr/>
        </p:nvSpPr>
        <p:spPr>
          <a:xfrm>
            <a:off x="548640" y="5623560"/>
            <a:ext cx="11091672" cy="548640"/>
          </a:xfrm>
          <a:prstGeom prst="roundRect">
            <a:avLst>
              <a:gd name="adj" fmla="val 16667"/>
            </a:avLst>
          </a:prstGeom>
          <a:solidFill>
            <a:srgbClr val="EEF3F8"/>
          </a:solidFill>
          <a:ln w="6350">
            <a:solidFill>
              <a:srgbClr val="EEF3F8"/>
            </a:solidFill>
            <a:prstDash val="solid"/>
          </a:ln>
        </p:spPr>
      </p:sp>
      <p:sp>
        <p:nvSpPr>
          <p:cNvPr id="75" name="Text 73"/>
          <p:cNvSpPr txBox="1"/>
          <p:nvPr/>
        </p:nvSpPr>
        <p:spPr>
          <a:xfrm>
            <a:off x="777240" y="5623560"/>
            <a:ext cx="10698480" cy="548640"/>
          </a:xfrm>
          <a:prstGeom prst="rect">
            <a:avLst/>
          </a:prstGeom>
          <a:noFill/>
          <a:ln/>
        </p:spPr>
        <p:txBody>
          <a:bodyPr wrap="square" lIns="0" tIns="0" rIns="0" bIns="0" rtlCol="0" anchor="ctr"/>
          <a:lstStyle/>
          <a:p>
            <a:pPr indent="0" marL="0">
              <a:buNone/>
            </a:pPr>
            <a:r>
              <a:rPr lang="en-US" sz="1400" b="1" dirty="0">
                <a:solidFill>
                  <a:srgbClr val="0B1E33"/>
                </a:solidFill>
                <a:latin typeface="Calibri" pitchFamily="34" charset="0"/>
                <a:ea typeface="Calibri" pitchFamily="34" charset="-122"/>
                <a:cs typeface="Calibri" pitchFamily="34" charset="-120"/>
              </a:rPr>
              <a:t>Görevler tarifeden ve gerçekleşen saatlerden kastlara otomatik atanır</a:t>
            </a:r>
            <a:pPr indent="0" marL="0">
              <a:buNone/>
            </a:pPr>
            <a:r>
              <a:rPr lang="en-US" sz="1400" dirty="0">
                <a:solidFill>
                  <a:srgbClr val="1F2D3D"/>
                </a:solidFill>
                <a:latin typeface="Calibri" pitchFamily="34" charset="0"/>
                <a:ea typeface="Calibri" pitchFamily="34" charset="-122"/>
                <a:cs typeface="Calibri" pitchFamily="34" charset="-120"/>
              </a:rPr>
              <a:t>  ·  farklı kastlar aynı anda farklı bölgelerde  ·  kule onayı olmadan kalkış yok</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966960" cy="777240"/>
          </a:xfrm>
          <a:prstGeom prst="rect">
            <a:avLst/>
          </a:prstGeom>
          <a:noFill/>
          <a:ln/>
        </p:spPr>
        <p:txBody>
          <a:bodyPr wrap="square" lIns="0" tIns="0" rIns="0" bIns="0" rtlCol="0" anchor="ctr"/>
          <a:lstStyle/>
          <a:p>
            <a:pPr algn="l" indent="0" marL="0">
              <a:buNone/>
            </a:pPr>
            <a:r>
              <a:rPr lang="en-US" sz="3200" b="1" dirty="0">
                <a:solidFill>
                  <a:srgbClr val="0B1E33"/>
                </a:solidFill>
              </a:rPr>
              <a:t>Yapay zekâ önerir, insan karar verir</a:t>
            </a:r>
            <a:endParaRPr lang="en-US" sz="3200" dirty="0"/>
          </a:p>
        </p:txBody>
      </p:sp>
      <p:sp>
        <p:nvSpPr>
          <p:cNvPr id="3" name="Shape 1"/>
          <p:cNvSpPr/>
          <p:nvPr/>
        </p:nvSpPr>
        <p:spPr>
          <a:xfrm>
            <a:off x="548640" y="1417320"/>
            <a:ext cx="2569464" cy="1874520"/>
          </a:xfrm>
          <a:prstGeom prst="roundRect">
            <a:avLst>
              <a:gd name="adj" fmla="val 5854"/>
            </a:avLst>
          </a:prstGeom>
          <a:solidFill>
            <a:srgbClr val="EEF3F8"/>
          </a:solidFill>
          <a:ln w="6350">
            <a:solidFill>
              <a:srgbClr val="EEF3F8"/>
            </a:solidFill>
            <a:prstDash val="solid"/>
          </a:ln>
        </p:spPr>
      </p:sp>
      <p:sp>
        <p:nvSpPr>
          <p:cNvPr id="4" name="Text 2"/>
          <p:cNvSpPr txBox="1"/>
          <p:nvPr/>
        </p:nvSpPr>
        <p:spPr>
          <a:xfrm>
            <a:off x="822960" y="1554480"/>
            <a:ext cx="548640" cy="548640"/>
          </a:xfrm>
          <a:prstGeom prst="rect">
            <a:avLst/>
          </a:prstGeom>
          <a:noFill/>
          <a:ln/>
        </p:spPr>
        <p:txBody>
          <a:bodyPr wrap="square" lIns="0" tIns="0" rIns="0" bIns="0" rtlCol="0" anchor="t"/>
          <a:lstStyle/>
          <a:p>
            <a:pPr indent="0" marL="0">
              <a:buNone/>
            </a:pPr>
            <a:r>
              <a:rPr lang="en-US" sz="3000" b="1" dirty="0">
                <a:solidFill>
                  <a:srgbClr val="1479C4"/>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1371600" y="1627632"/>
            <a:ext cx="1600200" cy="411480"/>
          </a:xfrm>
          <a:prstGeom prst="rect">
            <a:avLst/>
          </a:prstGeom>
          <a:noFill/>
          <a:ln/>
        </p:spPr>
        <p:txBody>
          <a:bodyPr wrap="square" lIns="0" tIns="0" rIns="0" bIns="0" rtlCol="0" anchor="t"/>
          <a:lstStyle/>
          <a:p>
            <a:pPr indent="0" marL="0">
              <a:buNone/>
            </a:pPr>
            <a:r>
              <a:rPr lang="en-US" sz="1800" b="1" dirty="0">
                <a:solidFill>
                  <a:srgbClr val="0B1E33"/>
                </a:solidFill>
                <a:latin typeface="Calibri" pitchFamily="34" charset="0"/>
                <a:ea typeface="Calibri" pitchFamily="34" charset="-122"/>
                <a:cs typeface="Calibri" pitchFamily="34" charset="-120"/>
              </a:rPr>
              <a:t>Ön eğitim</a:t>
            </a:r>
            <a:endParaRPr lang="en-US" sz="1800" dirty="0"/>
          </a:p>
        </p:txBody>
      </p:sp>
      <p:sp>
        <p:nvSpPr>
          <p:cNvPr id="6" name="Text 4"/>
          <p:cNvSpPr txBox="1"/>
          <p:nvPr/>
        </p:nvSpPr>
        <p:spPr>
          <a:xfrm>
            <a:off x="822960" y="2194560"/>
            <a:ext cx="2103120" cy="100584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Açık FOD-A veri seti: 31 sınıf, 30.000+ etiketli örnek; YOLO ailesi</a:t>
            </a:r>
            <a:endParaRPr lang="en-US" sz="1400" dirty="0"/>
          </a:p>
        </p:txBody>
      </p:sp>
      <p:sp>
        <p:nvSpPr>
          <p:cNvPr id="7" name="Shape 5"/>
          <p:cNvSpPr/>
          <p:nvPr/>
        </p:nvSpPr>
        <p:spPr>
          <a:xfrm>
            <a:off x="3392424" y="1417320"/>
            <a:ext cx="2569464" cy="1874520"/>
          </a:xfrm>
          <a:prstGeom prst="roundRect">
            <a:avLst>
              <a:gd name="adj" fmla="val 5854"/>
            </a:avLst>
          </a:prstGeom>
          <a:solidFill>
            <a:srgbClr val="EEF3F8"/>
          </a:solidFill>
          <a:ln w="6350">
            <a:solidFill>
              <a:srgbClr val="EEF3F8"/>
            </a:solidFill>
            <a:prstDash val="solid"/>
          </a:ln>
        </p:spPr>
      </p:sp>
      <p:sp>
        <p:nvSpPr>
          <p:cNvPr id="8" name="Text 6"/>
          <p:cNvSpPr txBox="1"/>
          <p:nvPr/>
        </p:nvSpPr>
        <p:spPr>
          <a:xfrm>
            <a:off x="3666744" y="1554480"/>
            <a:ext cx="548640" cy="548640"/>
          </a:xfrm>
          <a:prstGeom prst="rect">
            <a:avLst/>
          </a:prstGeom>
          <a:noFill/>
          <a:ln/>
        </p:spPr>
        <p:txBody>
          <a:bodyPr wrap="square" lIns="0" tIns="0" rIns="0" bIns="0" rtlCol="0" anchor="t"/>
          <a:lstStyle/>
          <a:p>
            <a:pPr indent="0" marL="0">
              <a:buNone/>
            </a:pPr>
            <a:r>
              <a:rPr lang="en-US" sz="3000" b="1" dirty="0">
                <a:solidFill>
                  <a:srgbClr val="1479C4"/>
                </a:solidFill>
                <a:latin typeface="Calibri" pitchFamily="34" charset="0"/>
                <a:ea typeface="Calibri" pitchFamily="34" charset="-122"/>
                <a:cs typeface="Calibri" pitchFamily="34" charset="-120"/>
              </a:rPr>
              <a:t>2</a:t>
            </a:r>
            <a:endParaRPr lang="en-US" sz="3000" dirty="0"/>
          </a:p>
        </p:txBody>
      </p:sp>
      <p:sp>
        <p:nvSpPr>
          <p:cNvPr id="9" name="Text 7"/>
          <p:cNvSpPr txBox="1"/>
          <p:nvPr/>
        </p:nvSpPr>
        <p:spPr>
          <a:xfrm>
            <a:off x="4215384" y="1627632"/>
            <a:ext cx="1600200" cy="411480"/>
          </a:xfrm>
          <a:prstGeom prst="rect">
            <a:avLst/>
          </a:prstGeom>
          <a:noFill/>
          <a:ln/>
        </p:spPr>
        <p:txBody>
          <a:bodyPr wrap="square" lIns="0" tIns="0" rIns="0" bIns="0" rtlCol="0" anchor="t"/>
          <a:lstStyle/>
          <a:p>
            <a:pPr indent="0" marL="0">
              <a:buNone/>
            </a:pPr>
            <a:r>
              <a:rPr lang="en-US" sz="1800" b="1" dirty="0">
                <a:solidFill>
                  <a:srgbClr val="0B1E33"/>
                </a:solidFill>
                <a:latin typeface="Calibri" pitchFamily="34" charset="0"/>
                <a:ea typeface="Calibri" pitchFamily="34" charset="-122"/>
                <a:cs typeface="Calibri" pitchFamily="34" charset="-120"/>
              </a:rPr>
              <a:t>Yerel veri</a:t>
            </a:r>
            <a:endParaRPr lang="en-US" sz="1800" dirty="0"/>
          </a:p>
        </p:txBody>
      </p:sp>
      <p:sp>
        <p:nvSpPr>
          <p:cNvPr id="10" name="Text 8"/>
          <p:cNvSpPr txBox="1"/>
          <p:nvPr/>
        </p:nvSpPr>
        <p:spPr>
          <a:xfrm>
            <a:off x="3666744" y="2194560"/>
            <a:ext cx="2103120" cy="100584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Çanakkale pistinde kontrollü bırakılan test nesneleriyle ince ayar</a:t>
            </a:r>
            <a:endParaRPr lang="en-US" sz="1400" dirty="0"/>
          </a:p>
        </p:txBody>
      </p:sp>
      <p:sp>
        <p:nvSpPr>
          <p:cNvPr id="11" name="Shape 9"/>
          <p:cNvSpPr/>
          <p:nvPr/>
        </p:nvSpPr>
        <p:spPr>
          <a:xfrm>
            <a:off x="6236208" y="1417320"/>
            <a:ext cx="2569464" cy="1874520"/>
          </a:xfrm>
          <a:prstGeom prst="roundRect">
            <a:avLst>
              <a:gd name="adj" fmla="val 5854"/>
            </a:avLst>
          </a:prstGeom>
          <a:solidFill>
            <a:srgbClr val="EEF3F8"/>
          </a:solidFill>
          <a:ln w="6350">
            <a:solidFill>
              <a:srgbClr val="EEF3F8"/>
            </a:solidFill>
            <a:prstDash val="solid"/>
          </a:ln>
        </p:spPr>
      </p:sp>
      <p:sp>
        <p:nvSpPr>
          <p:cNvPr id="12" name="Text 10"/>
          <p:cNvSpPr txBox="1"/>
          <p:nvPr/>
        </p:nvSpPr>
        <p:spPr>
          <a:xfrm>
            <a:off x="6510528" y="1554480"/>
            <a:ext cx="548640" cy="548640"/>
          </a:xfrm>
          <a:prstGeom prst="rect">
            <a:avLst/>
          </a:prstGeom>
          <a:noFill/>
          <a:ln/>
        </p:spPr>
        <p:txBody>
          <a:bodyPr wrap="square" lIns="0" tIns="0" rIns="0" bIns="0" rtlCol="0" anchor="t"/>
          <a:lstStyle/>
          <a:p>
            <a:pPr indent="0" marL="0">
              <a:buNone/>
            </a:pPr>
            <a:r>
              <a:rPr lang="en-US" sz="3000" b="1" dirty="0">
                <a:solidFill>
                  <a:srgbClr val="1479C4"/>
                </a:solidFill>
                <a:latin typeface="Calibri" pitchFamily="34" charset="0"/>
                <a:ea typeface="Calibri" pitchFamily="34" charset="-122"/>
                <a:cs typeface="Calibri" pitchFamily="34" charset="-120"/>
              </a:rPr>
              <a:t>3</a:t>
            </a:r>
            <a:endParaRPr lang="en-US" sz="3000" dirty="0"/>
          </a:p>
        </p:txBody>
      </p:sp>
      <p:sp>
        <p:nvSpPr>
          <p:cNvPr id="13" name="Text 11"/>
          <p:cNvSpPr txBox="1"/>
          <p:nvPr/>
        </p:nvSpPr>
        <p:spPr>
          <a:xfrm>
            <a:off x="7059168" y="1627632"/>
            <a:ext cx="1600200" cy="411480"/>
          </a:xfrm>
          <a:prstGeom prst="rect">
            <a:avLst/>
          </a:prstGeom>
          <a:noFill/>
          <a:ln/>
        </p:spPr>
        <p:txBody>
          <a:bodyPr wrap="square" lIns="0" tIns="0" rIns="0" bIns="0" rtlCol="0" anchor="t"/>
          <a:lstStyle/>
          <a:p>
            <a:pPr indent="0" marL="0">
              <a:buNone/>
            </a:pPr>
            <a:r>
              <a:rPr lang="en-US" sz="1800" b="1" dirty="0">
                <a:solidFill>
                  <a:srgbClr val="0B1E33"/>
                </a:solidFill>
                <a:latin typeface="Calibri" pitchFamily="34" charset="0"/>
                <a:ea typeface="Calibri" pitchFamily="34" charset="-122"/>
                <a:cs typeface="Calibri" pitchFamily="34" charset="-120"/>
              </a:rPr>
              <a:t>Aktif öğrenme</a:t>
            </a:r>
            <a:endParaRPr lang="en-US" sz="1800" dirty="0"/>
          </a:p>
        </p:txBody>
      </p:sp>
      <p:sp>
        <p:nvSpPr>
          <p:cNvPr id="14" name="Text 12"/>
          <p:cNvSpPr txBox="1"/>
          <p:nvPr/>
        </p:nvSpPr>
        <p:spPr>
          <a:xfrm>
            <a:off x="6510528" y="2194560"/>
            <a:ext cx="2103120" cy="100584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Operatörün onayladığı/reddettiği her tespit yeni etiket olur</a:t>
            </a:r>
            <a:endParaRPr lang="en-US" sz="1400" dirty="0"/>
          </a:p>
        </p:txBody>
      </p:sp>
      <p:sp>
        <p:nvSpPr>
          <p:cNvPr id="15" name="Shape 13"/>
          <p:cNvSpPr/>
          <p:nvPr/>
        </p:nvSpPr>
        <p:spPr>
          <a:xfrm>
            <a:off x="9079992" y="1417320"/>
            <a:ext cx="2569464" cy="1874520"/>
          </a:xfrm>
          <a:prstGeom prst="roundRect">
            <a:avLst>
              <a:gd name="adj" fmla="val 5854"/>
            </a:avLst>
          </a:prstGeom>
          <a:solidFill>
            <a:srgbClr val="0B1E33"/>
          </a:solidFill>
          <a:ln w="6350">
            <a:solidFill>
              <a:srgbClr val="0B1E33"/>
            </a:solidFill>
            <a:prstDash val="solid"/>
          </a:ln>
        </p:spPr>
      </p:sp>
      <p:sp>
        <p:nvSpPr>
          <p:cNvPr id="16" name="Text 14"/>
          <p:cNvSpPr txBox="1"/>
          <p:nvPr/>
        </p:nvSpPr>
        <p:spPr>
          <a:xfrm>
            <a:off x="9354312" y="1554480"/>
            <a:ext cx="548640" cy="548640"/>
          </a:xfrm>
          <a:prstGeom prst="rect">
            <a:avLst/>
          </a:prstGeom>
          <a:noFill/>
          <a:ln/>
        </p:spPr>
        <p:txBody>
          <a:bodyPr wrap="square" lIns="0" tIns="0" rIns="0" bIns="0" rtlCol="0" anchor="t"/>
          <a:lstStyle/>
          <a:p>
            <a:pPr indent="0" marL="0">
              <a:buNone/>
            </a:pPr>
            <a:r>
              <a:rPr lang="en-US" sz="3000" b="1" dirty="0">
                <a:solidFill>
                  <a:srgbClr val="E8A317"/>
                </a:solidFill>
                <a:latin typeface="Calibri" pitchFamily="34" charset="0"/>
                <a:ea typeface="Calibri" pitchFamily="34" charset="-122"/>
                <a:cs typeface="Calibri" pitchFamily="34" charset="-120"/>
              </a:rPr>
              <a:t>4</a:t>
            </a:r>
            <a:endParaRPr lang="en-US" sz="3000" dirty="0"/>
          </a:p>
        </p:txBody>
      </p:sp>
      <p:sp>
        <p:nvSpPr>
          <p:cNvPr id="17" name="Text 15"/>
          <p:cNvSpPr txBox="1"/>
          <p:nvPr/>
        </p:nvSpPr>
        <p:spPr>
          <a:xfrm>
            <a:off x="9902952" y="1627632"/>
            <a:ext cx="1600200" cy="4114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İnsan onayı</a:t>
            </a:r>
            <a:endParaRPr lang="en-US" sz="1800" dirty="0"/>
          </a:p>
        </p:txBody>
      </p:sp>
      <p:sp>
        <p:nvSpPr>
          <p:cNvPr id="18" name="Text 16"/>
          <p:cNvSpPr txBox="1"/>
          <p:nvPr/>
        </p:nvSpPr>
        <p:spPr>
          <a:xfrm>
            <a:off x="9354312" y="2194560"/>
            <a:ext cx="2103120" cy="1005840"/>
          </a:xfrm>
          <a:prstGeom prst="rect">
            <a:avLst/>
          </a:prstGeom>
          <a:noFill/>
          <a:ln/>
        </p:spPr>
        <p:txBody>
          <a:bodyPr wrap="square" lIns="0" tIns="0" rIns="0" bIns="0" rtlCol="0" anchor="t"/>
          <a:lstStyle/>
          <a:p>
            <a:pPr indent="0" marL="0">
              <a:buNone/>
            </a:pPr>
            <a:r>
              <a:rPr lang="en-US" sz="1400" dirty="0">
                <a:solidFill>
                  <a:srgbClr val="EEF3F8"/>
                </a:solidFill>
                <a:latin typeface="Calibri" pitchFamily="34" charset="0"/>
                <a:ea typeface="Calibri" pitchFamily="34" charset="-122"/>
                <a:cs typeface="Calibri" pitchFamily="34" charset="-120"/>
              </a:rPr>
              <a:t>Sistem pisti asla kendisi açmaz; rapor kuleye bilgi olarak gider</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566160"/>
          <a:ext cx="6949440" cy="914400"/>
        </p:xfrm>
        <a:graphic>
          <a:graphicData uri="http://schemas.openxmlformats.org/drawingml/2006/table">
            <a:tbl>
              <a:tblPr/>
              <a:tblGrid>
                <a:gridCol w="4754880"/>
                <a:gridCol w="2194560"/>
              </a:tblGrid>
              <a:tr h="30175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Pilot hedefleri</a:t>
                      </a:r>
                      <a:endParaRPr lang="en-US" sz="1300" dirty="0">
                        <a:latin typeface="Calibri" charset="0"/>
                        <a:ea typeface="Calibri" charset="0"/>
                        <a:cs typeface="Calibri" charset="0"/>
                      </a:endParaRPr>
                    </a:p>
                  </a:txBody>
                  <a:tcPr marL="91440" marR="91440" marT="27432" marB="2743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0B1E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Hedef</a:t>
                      </a:r>
                      <a:endParaRPr lang="en-US" sz="1300" dirty="0">
                        <a:latin typeface="Calibri" charset="0"/>
                        <a:ea typeface="Calibri" charset="0"/>
                        <a:cs typeface="Calibri" charset="0"/>
                      </a:endParaRPr>
                    </a:p>
                  </a:txBody>
                  <a:tcPr marL="91440" marR="91440" marT="27432" marB="2743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0B1E33"/>
                    </a:solidFill>
                  </a:tcPr>
                </a:tc>
              </a:tr>
              <a:tr h="301752">
                <a:tc>
                  <a:txBody>
                    <a:bodyPr/>
                    <a:lstStyle/>
                    <a:p>
                      <a:pPr indent="0" marL="0">
                        <a:buNone/>
                      </a:pPr>
                      <a:r>
                        <a:rPr lang="en-US" sz="1300" dirty="0">
                          <a:solidFill>
                            <a:srgbClr val="1F2D3D"/>
                          </a:solidFill>
                          <a:latin typeface="Calibri" pitchFamily="34" charset="0"/>
                          <a:ea typeface="Calibri" pitchFamily="34" charset="-122"/>
                          <a:cs typeface="Calibri" pitchFamily="34" charset="-120"/>
                        </a:rPr>
                        <a:t>FOD tespit duyarlılığı (≥3 cm)</a:t>
                      </a:r>
                      <a:endParaRPr lang="en-US" sz="1300" dirty="0">
                        <a:latin typeface="Calibri" charset="0"/>
                        <a:ea typeface="Calibri" charset="0"/>
                        <a:cs typeface="Calibri" charset="0"/>
                      </a:endParaRPr>
                    </a:p>
                  </a:txBody>
                  <a:tcPr marL="91440" marR="91440" marT="27432" marB="2743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300" dirty="0">
                          <a:solidFill>
                            <a:srgbClr val="1F2D3D"/>
                          </a:solidFill>
                          <a:latin typeface="Calibri" pitchFamily="34" charset="0"/>
                          <a:ea typeface="Calibri" pitchFamily="34" charset="-122"/>
                          <a:cs typeface="Calibri" pitchFamily="34" charset="-120"/>
                        </a:rPr>
                        <a:t>≥ %90</a:t>
                      </a:r>
                      <a:endParaRPr lang="en-US" sz="1300" dirty="0">
                        <a:latin typeface="Calibri" charset="0"/>
                        <a:ea typeface="Calibri" charset="0"/>
                        <a:cs typeface="Calibri" charset="0"/>
                      </a:endParaRPr>
                    </a:p>
                  </a:txBody>
                  <a:tcPr marL="91440" marR="91440" marT="27432" marB="2743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r>
              <a:tr h="301752">
                <a:tc>
                  <a:txBody>
                    <a:bodyPr/>
                    <a:lstStyle/>
                    <a:p>
                      <a:pPr indent="0" marL="0">
                        <a:buNone/>
                      </a:pPr>
                      <a:r>
                        <a:rPr lang="en-US" sz="1300" dirty="0">
                          <a:solidFill>
                            <a:srgbClr val="1F2D3D"/>
                          </a:solidFill>
                          <a:latin typeface="Calibri" pitchFamily="34" charset="0"/>
                          <a:ea typeface="Calibri" pitchFamily="34" charset="-122"/>
                          <a:cs typeface="Calibri" pitchFamily="34" charset="-120"/>
                        </a:rPr>
                        <a:t>Yanlış alarm</a:t>
                      </a:r>
                      <a:endParaRPr lang="en-US" sz="1300" dirty="0">
                        <a:latin typeface="Calibri" charset="0"/>
                        <a:ea typeface="Calibri" charset="0"/>
                        <a:cs typeface="Calibri" charset="0"/>
                      </a:endParaRPr>
                    </a:p>
                  </a:txBody>
                  <a:tcPr marL="91440" marR="91440" marT="27432" marB="2743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300" dirty="0">
                          <a:solidFill>
                            <a:srgbClr val="1F2D3D"/>
                          </a:solidFill>
                          <a:latin typeface="Calibri" pitchFamily="34" charset="0"/>
                          <a:ea typeface="Calibri" pitchFamily="34" charset="-122"/>
                          <a:cs typeface="Calibri" pitchFamily="34" charset="-120"/>
                        </a:rPr>
                        <a:t>≤ 1 / tarama</a:t>
                      </a:r>
                      <a:endParaRPr lang="en-US" sz="1300" dirty="0">
                        <a:latin typeface="Calibri" charset="0"/>
                        <a:ea typeface="Calibri" charset="0"/>
                        <a:cs typeface="Calibri" charset="0"/>
                      </a:endParaRPr>
                    </a:p>
                  </a:txBody>
                  <a:tcPr marL="91440" marR="91440" marT="27432" marB="2743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r>
              <a:tr h="301752">
                <a:tc>
                  <a:txBody>
                    <a:bodyPr/>
                    <a:lstStyle/>
                    <a:p>
                      <a:pPr indent="0" marL="0">
                        <a:buNone/>
                      </a:pPr>
                      <a:r>
                        <a:rPr lang="en-US" sz="1300" dirty="0">
                          <a:solidFill>
                            <a:srgbClr val="1F2D3D"/>
                          </a:solidFill>
                          <a:latin typeface="Calibri" pitchFamily="34" charset="0"/>
                          <a:ea typeface="Calibri" pitchFamily="34" charset="-122"/>
                          <a:cs typeface="Calibri" pitchFamily="34" charset="-120"/>
                        </a:rPr>
                        <a:t>Tarama süresi (iki kâşif)</a:t>
                      </a:r>
                      <a:endParaRPr lang="en-US" sz="1300" dirty="0">
                        <a:latin typeface="Calibri" charset="0"/>
                        <a:ea typeface="Calibri" charset="0"/>
                        <a:cs typeface="Calibri" charset="0"/>
                      </a:endParaRPr>
                    </a:p>
                  </a:txBody>
                  <a:tcPr marL="91440" marR="91440" marT="27432" marB="2743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300" dirty="0">
                          <a:solidFill>
                            <a:srgbClr val="1F2D3D"/>
                          </a:solidFill>
                          <a:latin typeface="Calibri" pitchFamily="34" charset="0"/>
                          <a:ea typeface="Calibri" pitchFamily="34" charset="-122"/>
                          <a:cs typeface="Calibri" pitchFamily="34" charset="-120"/>
                        </a:rPr>
                        <a:t>≤ 15 dk</a:t>
                      </a:r>
                      <a:endParaRPr lang="en-US" sz="1300" dirty="0">
                        <a:latin typeface="Calibri" charset="0"/>
                        <a:ea typeface="Calibri" charset="0"/>
                        <a:cs typeface="Calibri" charset="0"/>
                      </a:endParaRPr>
                    </a:p>
                  </a:txBody>
                  <a:tcPr marL="91440" marR="91440" marT="27432" marB="2743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r>
              <a:tr h="301752">
                <a:tc>
                  <a:txBody>
                    <a:bodyPr/>
                    <a:lstStyle/>
                    <a:p>
                      <a:pPr indent="0" marL="0">
                        <a:buNone/>
                      </a:pPr>
                      <a:r>
                        <a:rPr lang="en-US" sz="1300" dirty="0">
                          <a:solidFill>
                            <a:srgbClr val="1F2D3D"/>
                          </a:solidFill>
                          <a:latin typeface="Calibri" pitchFamily="34" charset="0"/>
                          <a:ea typeface="Calibri" pitchFamily="34" charset="-122"/>
                          <a:cs typeface="Calibri" pitchFamily="34" charset="-120"/>
                        </a:rPr>
                        <a:t>Tarama bitiminden kuleye rapor</a:t>
                      </a:r>
                      <a:endParaRPr lang="en-US" sz="1300" dirty="0">
                        <a:latin typeface="Calibri" charset="0"/>
                        <a:ea typeface="Calibri" charset="0"/>
                        <a:cs typeface="Calibri" charset="0"/>
                      </a:endParaRPr>
                    </a:p>
                  </a:txBody>
                  <a:tcPr marL="91440" marR="91440" marT="27432" marB="2743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300" dirty="0">
                          <a:solidFill>
                            <a:srgbClr val="1F2D3D"/>
                          </a:solidFill>
                          <a:latin typeface="Calibri" pitchFamily="34" charset="0"/>
                          <a:ea typeface="Calibri" pitchFamily="34" charset="-122"/>
                          <a:cs typeface="Calibri" pitchFamily="34" charset="-120"/>
                        </a:rPr>
                        <a:t>≤ 2 dk</a:t>
                      </a:r>
                      <a:endParaRPr lang="en-US" sz="1300" dirty="0">
                        <a:latin typeface="Calibri" charset="0"/>
                        <a:ea typeface="Calibri" charset="0"/>
                        <a:cs typeface="Calibri" charset="0"/>
                      </a:endParaRPr>
                    </a:p>
                  </a:txBody>
                  <a:tcPr marL="91440" marR="91440" marT="27432" marB="2743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r>
              <a:tr h="301752">
                <a:tc>
                  <a:txBody>
                    <a:bodyPr/>
                    <a:lstStyle/>
                    <a:p>
                      <a:pPr indent="0" marL="0">
                        <a:buNone/>
                      </a:pPr>
                      <a:r>
                        <a:rPr lang="en-US" sz="1300" dirty="0">
                          <a:solidFill>
                            <a:srgbClr val="1F2D3D"/>
                          </a:solidFill>
                          <a:latin typeface="Calibri" pitchFamily="34" charset="0"/>
                          <a:ea typeface="Calibri" pitchFamily="34" charset="-122"/>
                          <a:cs typeface="Calibri" pitchFamily="34" charset="-120"/>
                        </a:rPr>
                        <a:t>Planlanan taramaların gerçekleşmesi</a:t>
                      </a:r>
                      <a:endParaRPr lang="en-US" sz="1300" dirty="0">
                        <a:latin typeface="Calibri" charset="0"/>
                        <a:ea typeface="Calibri" charset="0"/>
                        <a:cs typeface="Calibri" charset="0"/>
                      </a:endParaRPr>
                    </a:p>
                  </a:txBody>
                  <a:tcPr marL="91440" marR="91440" marT="27432" marB="2743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300" dirty="0">
                          <a:solidFill>
                            <a:srgbClr val="1F2D3D"/>
                          </a:solidFill>
                          <a:latin typeface="Calibri" pitchFamily="34" charset="0"/>
                          <a:ea typeface="Calibri" pitchFamily="34" charset="-122"/>
                          <a:cs typeface="Calibri" pitchFamily="34" charset="-120"/>
                        </a:rPr>
                        <a:t>≥ %85</a:t>
                      </a:r>
                      <a:endParaRPr lang="en-US" sz="1300" dirty="0">
                        <a:latin typeface="Calibri" charset="0"/>
                        <a:ea typeface="Calibri" charset="0"/>
                        <a:cs typeface="Calibri" charset="0"/>
                      </a:endParaRPr>
                    </a:p>
                  </a:txBody>
                  <a:tcPr marL="91440" marR="91440" marT="27432" marB="2743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FFFFFF"/>
                    </a:solidFill>
                  </a:tcPr>
                </a:tc>
              </a:tr>
              <a:tr h="301752">
                <a:tc>
                  <a:txBody>
                    <a:bodyPr/>
                    <a:lstStyle/>
                    <a:p>
                      <a:pPr indent="0" marL="0">
                        <a:buNone/>
                      </a:pPr>
                      <a:r>
                        <a:rPr lang="en-US" sz="1300" dirty="0">
                          <a:solidFill>
                            <a:srgbClr val="1F2D3D"/>
                          </a:solidFill>
                          <a:latin typeface="Calibri" pitchFamily="34" charset="0"/>
                          <a:ea typeface="Calibri" pitchFamily="34" charset="-122"/>
                          <a:cs typeface="Calibri" pitchFamily="34" charset="-120"/>
                        </a:rPr>
                        <a:t>Olaydan kule uyarısına (nöbetçi)</a:t>
                      </a:r>
                      <a:endParaRPr lang="en-US" sz="1300" dirty="0">
                        <a:latin typeface="Calibri" charset="0"/>
                        <a:ea typeface="Calibri" charset="0"/>
                        <a:cs typeface="Calibri" charset="0"/>
                      </a:endParaRPr>
                    </a:p>
                  </a:txBody>
                  <a:tcPr marL="91440" marR="91440" marT="27432" marB="2743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EEF3F8"/>
                    </a:solidFill>
                  </a:tcPr>
                </a:tc>
                <a:tc>
                  <a:txBody>
                    <a:bodyPr/>
                    <a:lstStyle/>
                    <a:p>
                      <a:pPr indent="0" marL="0">
                        <a:buNone/>
                      </a:pPr>
                      <a:r>
                        <a:rPr lang="en-US" sz="1300" b="1" dirty="0">
                          <a:solidFill>
                            <a:srgbClr val="1F2D3D"/>
                          </a:solidFill>
                          <a:latin typeface="Calibri" pitchFamily="34" charset="0"/>
                          <a:ea typeface="Calibri" pitchFamily="34" charset="-122"/>
                          <a:cs typeface="Calibri" pitchFamily="34" charset="-120"/>
                        </a:rPr>
                        <a:t>≤ 10 sn</a:t>
                      </a:r>
                      <a:endParaRPr lang="en-US" sz="1300" dirty="0">
                        <a:latin typeface="Calibri" charset="0"/>
                        <a:ea typeface="Calibri" charset="0"/>
                        <a:cs typeface="Calibri" charset="0"/>
                      </a:endParaRPr>
                    </a:p>
                  </a:txBody>
                  <a:tcPr marL="91440" marR="91440" marT="27432" marB="2743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EEF3F8"/>
                    </a:solidFill>
                  </a:tcPr>
                </a:tc>
              </a:tr>
              <a:tr h="301752">
                <a:tc>
                  <a:txBody>
                    <a:bodyPr/>
                    <a:lstStyle/>
                    <a:p>
                      <a:pPr indent="0" marL="0">
                        <a:buNone/>
                      </a:pPr>
                      <a:r>
                        <a:rPr lang="en-US" sz="1300" dirty="0">
                          <a:solidFill>
                            <a:srgbClr val="1F2D3D"/>
                          </a:solidFill>
                          <a:latin typeface="Calibri" pitchFamily="34" charset="0"/>
                          <a:ea typeface="Calibri" pitchFamily="34" charset="-122"/>
                          <a:cs typeface="Calibri" pitchFamily="34" charset="-120"/>
                        </a:rPr>
                        <a:t>Tespitten temizliğe (işçi)</a:t>
                      </a:r>
                      <a:endParaRPr lang="en-US" sz="1300" dirty="0">
                        <a:latin typeface="Calibri" charset="0"/>
                        <a:ea typeface="Calibri" charset="0"/>
                        <a:cs typeface="Calibri" charset="0"/>
                      </a:endParaRPr>
                    </a:p>
                  </a:txBody>
                  <a:tcPr marL="91440" marR="91440" marT="27432" marB="2743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EEF3F8"/>
                    </a:solidFill>
                  </a:tcPr>
                </a:tc>
                <a:tc>
                  <a:txBody>
                    <a:bodyPr/>
                    <a:lstStyle/>
                    <a:p>
                      <a:pPr indent="0" marL="0">
                        <a:buNone/>
                      </a:pPr>
                      <a:r>
                        <a:rPr lang="en-US" sz="1300" b="1" dirty="0">
                          <a:solidFill>
                            <a:srgbClr val="1F2D3D"/>
                          </a:solidFill>
                          <a:latin typeface="Calibri" pitchFamily="34" charset="0"/>
                          <a:ea typeface="Calibri" pitchFamily="34" charset="-122"/>
                          <a:cs typeface="Calibri" pitchFamily="34" charset="-120"/>
                        </a:rPr>
                        <a:t>pilotta ölçülecek</a:t>
                      </a:r>
                      <a:endParaRPr lang="en-US" sz="1300" dirty="0">
                        <a:latin typeface="Calibri" charset="0"/>
                        <a:ea typeface="Calibri" charset="0"/>
                        <a:cs typeface="Calibri" charset="0"/>
                      </a:endParaRPr>
                    </a:p>
                  </a:txBody>
                  <a:tcPr marL="91440" marR="91440" marT="27432" marB="27432" anchor="ctr">
                    <a:lnL w="9525" cap="flat" cmpd="sng" algn="ctr">
                      <a:solidFill>
                        <a:srgbClr val="C9D3DD"/>
                      </a:solidFill>
                      <a:prstDash val="solid"/>
                      <a:round/>
                      <a:headEnd type="none" w="med" len="med"/>
                      <a:tailEnd type="none" w="med" len="med"/>
                    </a:lnL>
                    <a:lnR w="9525" cap="flat" cmpd="sng" algn="ctr">
                      <a:solidFill>
                        <a:srgbClr val="C9D3DD"/>
                      </a:solidFill>
                      <a:prstDash val="solid"/>
                      <a:round/>
                      <a:headEnd type="none" w="med" len="med"/>
                      <a:tailEnd type="none" w="med" len="med"/>
                    </a:lnR>
                    <a:lnT w="9525" cap="flat" cmpd="sng" algn="ctr">
                      <a:solidFill>
                        <a:srgbClr val="C9D3DD"/>
                      </a:solidFill>
                      <a:prstDash val="solid"/>
                      <a:round/>
                      <a:headEnd type="none" w="med" len="med"/>
                      <a:tailEnd type="none" w="med" len="med"/>
                    </a:lnT>
                    <a:lnB w="9525" cap="flat" cmpd="sng" algn="ctr">
                      <a:solidFill>
                        <a:srgbClr val="C9D3DD"/>
                      </a:solidFill>
                      <a:prstDash val="solid"/>
                      <a:round/>
                      <a:headEnd type="none" w="med" len="med"/>
                      <a:tailEnd type="none" w="med" len="med"/>
                    </a:lnB>
                    <a:solidFill>
                      <a:srgbClr val="EEF3F8"/>
                    </a:solidFill>
                  </a:tcPr>
                </a:tc>
              </a:tr>
            </a:tbl>
          </a:graphicData>
        </a:graphic>
      </p:graphicFrame>
      <p:sp>
        <p:nvSpPr>
          <p:cNvPr id="20" name="Shape 17"/>
          <p:cNvSpPr/>
          <p:nvPr/>
        </p:nvSpPr>
        <p:spPr>
          <a:xfrm>
            <a:off x="7818120" y="3566160"/>
            <a:ext cx="3822192" cy="2414016"/>
          </a:xfrm>
          <a:prstGeom prst="roundRect">
            <a:avLst>
              <a:gd name="adj" fmla="val 4545"/>
            </a:avLst>
          </a:prstGeom>
          <a:solidFill>
            <a:srgbClr val="EEF3F8"/>
          </a:solidFill>
          <a:ln w="6350">
            <a:solidFill>
              <a:srgbClr val="EEF3F8"/>
            </a:solidFill>
            <a:prstDash val="solid"/>
          </a:ln>
        </p:spPr>
      </p:sp>
      <p:sp>
        <p:nvSpPr>
          <p:cNvPr id="21" name="Shape 18"/>
          <p:cNvSpPr/>
          <p:nvPr/>
        </p:nvSpPr>
        <p:spPr>
          <a:xfrm>
            <a:off x="8092440" y="3794760"/>
            <a:ext cx="685800" cy="685800"/>
          </a:xfrm>
          <a:prstGeom prst="ellipse">
            <a:avLst/>
          </a:prstGeom>
          <a:solidFill>
            <a:srgbClr val="7A4FB5"/>
          </a:solidFill>
          <a:ln w="6350">
            <a:solidFill>
              <a:srgbClr val="7A4FB5"/>
            </a:solidFill>
            <a:prstDash val="solid"/>
          </a:ln>
        </p:spPr>
      </p:sp>
      <p:pic>
        <p:nvPicPr>
          <p:cNvPr id="22" name="Image 0" descr="preencoded.png">    </p:cNvPr>
          <p:cNvPicPr>
            <a:picLocks noChangeAspect="1"/>
          </p:cNvPicPr>
          <p:nvPr/>
        </p:nvPicPr>
        <p:blipFill>
          <a:blip r:embed="rId1"/>
          <a:stretch>
            <a:fillRect/>
          </a:stretch>
        </p:blipFill>
        <p:spPr>
          <a:xfrm>
            <a:off x="8257032" y="3959352"/>
            <a:ext cx="356616" cy="356616"/>
          </a:xfrm>
          <a:prstGeom prst="rect">
            <a:avLst/>
          </a:prstGeom>
        </p:spPr>
      </p:pic>
      <p:sp>
        <p:nvSpPr>
          <p:cNvPr id="23" name="Text 19"/>
          <p:cNvSpPr txBox="1"/>
          <p:nvPr/>
        </p:nvSpPr>
        <p:spPr>
          <a:xfrm>
            <a:off x="8961120" y="3858768"/>
            <a:ext cx="2560320" cy="548640"/>
          </a:xfrm>
          <a:prstGeom prst="rect">
            <a:avLst/>
          </a:prstGeom>
          <a:noFill/>
          <a:ln/>
        </p:spPr>
        <p:txBody>
          <a:bodyPr wrap="square" lIns="0" tIns="0" rIns="0" bIns="0" rtlCol="0" anchor="ctr"/>
          <a:lstStyle/>
          <a:p>
            <a:pPr indent="0" marL="0">
              <a:buNone/>
            </a:pPr>
            <a:r>
              <a:rPr lang="en-US" sz="1600" b="1" dirty="0">
                <a:solidFill>
                  <a:srgbClr val="0B1E33"/>
                </a:solidFill>
                <a:latin typeface="Calibri" pitchFamily="34" charset="0"/>
                <a:ea typeface="Calibri" pitchFamily="34" charset="-122"/>
                <a:cs typeface="Calibri" pitchFamily="34" charset="-120"/>
              </a:rPr>
              <a:t>Ekibimizden bir tecrübe</a:t>
            </a:r>
            <a:endParaRPr lang="en-US" sz="1600" dirty="0"/>
          </a:p>
        </p:txBody>
      </p:sp>
      <p:sp>
        <p:nvSpPr>
          <p:cNvPr id="24" name="Text 20"/>
          <p:cNvSpPr txBox="1"/>
          <p:nvPr/>
        </p:nvSpPr>
        <p:spPr>
          <a:xfrm>
            <a:off x="8092440" y="4617720"/>
            <a:ext cx="3273552" cy="118872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Ekip üyelerimizin de yer aldığı ÇOMÜ Binary Health, TEKNOFEST 2026 Sağlıkta YZ'de kendi eğittiği modelle finale kaldı.</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966960" cy="777240"/>
          </a:xfrm>
          <a:prstGeom prst="rect">
            <a:avLst/>
          </a:prstGeom>
          <a:noFill/>
          <a:ln/>
        </p:spPr>
        <p:txBody>
          <a:bodyPr wrap="square" lIns="0" tIns="0" rIns="0" bIns="0" rtlCol="0" anchor="ctr"/>
          <a:lstStyle/>
          <a:p>
            <a:pPr algn="l" indent="0" marL="0">
              <a:buNone/>
            </a:pPr>
            <a:r>
              <a:rPr lang="en-US" sz="3200" b="1" dirty="0">
                <a:solidFill>
                  <a:srgbClr val="0B1E33"/>
                </a:solidFill>
              </a:rPr>
              <a:t>Kendi enerjisini üreten kovan, gerçekçi karbon hesabı</a:t>
            </a:r>
            <a:endParaRPr lang="en-US" sz="3200" dirty="0"/>
          </a:p>
        </p:txBody>
      </p:sp>
      <p:graphicFrame>
        <p:nvGraphicFramePr>
          <p:cNvPr id="3" name="Chart 0" descr=""/>
          <p:cNvGraphicFramePr/>
          <p:nvPr/>
        </p:nvGraphicFramePr>
        <p:xfrm>
          <a:off x="548640" y="1325880"/>
          <a:ext cx="6583680" cy="30632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48640" y="4526280"/>
            <a:ext cx="6583680" cy="914400"/>
          </a:xfrm>
          <a:prstGeom prst="roundRect">
            <a:avLst>
              <a:gd name="adj" fmla="val 10000"/>
            </a:avLst>
          </a:prstGeom>
          <a:solidFill>
            <a:srgbClr val="FBF0D6"/>
          </a:solidFill>
          <a:ln w="6350">
            <a:solidFill>
              <a:srgbClr val="FBF0D6"/>
            </a:solidFill>
            <a:prstDash val="solid"/>
          </a:ln>
        </p:spPr>
      </p:sp>
      <p:sp>
        <p:nvSpPr>
          <p:cNvPr id="5" name="Text 2"/>
          <p:cNvSpPr txBox="1"/>
          <p:nvPr/>
        </p:nvSpPr>
        <p:spPr>
          <a:xfrm>
            <a:off x="731520" y="4553712"/>
            <a:ext cx="6263640" cy="859536"/>
          </a:xfrm>
          <a:prstGeom prst="rect">
            <a:avLst/>
          </a:prstGeom>
          <a:noFill/>
          <a:ln/>
        </p:spPr>
        <p:txBody>
          <a:bodyPr wrap="square" lIns="0" tIns="0" rIns="0" bIns="0" rtlCol="0" anchor="ctr"/>
          <a:lstStyle/>
          <a:p>
            <a:pPr indent="0" marL="0">
              <a:buNone/>
            </a:pPr>
            <a:r>
              <a:rPr lang="en-US" sz="1300" b="1" dirty="0">
                <a:solidFill>
                  <a:srgbClr val="0B1E33"/>
                </a:solidFill>
                <a:latin typeface="Calibri" pitchFamily="34" charset="0"/>
                <a:ea typeface="Calibri" pitchFamily="34" charset="-122"/>
                <a:cs typeface="Calibri" pitchFamily="34" charset="-120"/>
              </a:rPr>
              <a:t>Çanakkale kovanı (4 hücre): </a:t>
            </a:r>
            <a:pPr indent="0" marL="0">
              <a:buNone/>
            </a:pPr>
            <a:r>
              <a:rPr lang="en-US" sz="1300" dirty="0">
                <a:solidFill>
                  <a:srgbClr val="1F2D3D"/>
                </a:solidFill>
                <a:latin typeface="Calibri" pitchFamily="34" charset="0"/>
                <a:ea typeface="Calibri" pitchFamily="34" charset="-122"/>
                <a:cs typeface="Calibri" pitchFamily="34" charset="-120"/>
              </a:rPr>
              <a:t>iklimlendirme iki katına çıkar, oran ≈1,2×'e iner; nöbetçi ve güvenli konum yükü hariç. Enerji bütçesi kovan boyuna göre yenilenecek.</a:t>
            </a:r>
            <a:endParaRPr lang="en-US" sz="1300" dirty="0"/>
          </a:p>
        </p:txBody>
      </p:sp>
      <p:sp>
        <p:nvSpPr>
          <p:cNvPr id="6" name="Text 3"/>
          <p:cNvSpPr txBox="1"/>
          <p:nvPr/>
        </p:nvSpPr>
        <p:spPr>
          <a:xfrm>
            <a:off x="7589520" y="1325880"/>
            <a:ext cx="4023360" cy="658368"/>
          </a:xfrm>
          <a:prstGeom prst="rect">
            <a:avLst/>
          </a:prstGeom>
          <a:noFill/>
          <a:ln/>
        </p:spPr>
        <p:txBody>
          <a:bodyPr wrap="square" lIns="0" tIns="0" rIns="0" bIns="0" rtlCol="0" anchor="b"/>
          <a:lstStyle/>
          <a:p>
            <a:pPr indent="0" marL="0">
              <a:buNone/>
            </a:pPr>
            <a:r>
              <a:rPr lang="en-US" sz="4000" b="1" dirty="0">
                <a:solidFill>
                  <a:srgbClr val="3E9A31"/>
                </a:solidFill>
                <a:latin typeface="Calibri" pitchFamily="34" charset="0"/>
                <a:ea typeface="Calibri" pitchFamily="34" charset="-122"/>
                <a:cs typeface="Calibri" pitchFamily="34" charset="-120"/>
              </a:rPr>
              <a:t>1,8×</a:t>
            </a:r>
            <a:endParaRPr lang="en-US" sz="4000" dirty="0"/>
          </a:p>
        </p:txBody>
      </p:sp>
      <p:sp>
        <p:nvSpPr>
          <p:cNvPr id="7" name="Text 4"/>
          <p:cNvSpPr txBox="1"/>
          <p:nvPr/>
        </p:nvSpPr>
        <p:spPr>
          <a:xfrm>
            <a:off x="7589520" y="2020824"/>
            <a:ext cx="4023360" cy="566928"/>
          </a:xfrm>
          <a:prstGeom prst="rect">
            <a:avLst/>
          </a:prstGeom>
          <a:noFill/>
          <a:ln/>
        </p:spPr>
        <p:txBody>
          <a:bodyPr wrap="square" lIns="0" tIns="0" rIns="0" bIns="0" rtlCol="0" anchor="t"/>
          <a:lstStyle/>
          <a:p>
            <a:pPr indent="0" marL="0">
              <a:buNone/>
            </a:pPr>
            <a:r>
              <a:rPr lang="en-US" sz="1300" dirty="0">
                <a:solidFill>
                  <a:srgbClr val="1F2D3D"/>
                </a:solidFill>
                <a:latin typeface="Calibri" pitchFamily="34" charset="0"/>
                <a:ea typeface="Calibri" pitchFamily="34" charset="-122"/>
                <a:cs typeface="Calibri" pitchFamily="34" charset="-120"/>
              </a:rPr>
              <a:t>üretim / tasarım yükü (mini kovan)</a:t>
            </a:r>
            <a:endParaRPr lang="en-US" sz="1300" dirty="0"/>
          </a:p>
        </p:txBody>
      </p:sp>
      <p:sp>
        <p:nvSpPr>
          <p:cNvPr id="8" name="Text 5"/>
          <p:cNvSpPr txBox="1"/>
          <p:nvPr/>
        </p:nvSpPr>
        <p:spPr>
          <a:xfrm>
            <a:off x="7589520" y="2697480"/>
            <a:ext cx="4023360" cy="658368"/>
          </a:xfrm>
          <a:prstGeom prst="rect">
            <a:avLst/>
          </a:prstGeom>
          <a:noFill/>
          <a:ln/>
        </p:spPr>
        <p:txBody>
          <a:bodyPr wrap="square" lIns="0" tIns="0" rIns="0" bIns="0" rtlCol="0" anchor="b"/>
          <a:lstStyle/>
          <a:p>
            <a:pPr indent="0" marL="0">
              <a:buNone/>
            </a:pPr>
            <a:r>
              <a:rPr lang="en-US" sz="4000" b="1" dirty="0">
                <a:solidFill>
                  <a:srgbClr val="0B1E33"/>
                </a:solidFill>
                <a:latin typeface="Calibri" pitchFamily="34" charset="0"/>
                <a:ea typeface="Calibri" pitchFamily="34" charset="-122"/>
                <a:cs typeface="Calibri" pitchFamily="34" charset="-120"/>
              </a:rPr>
              <a:t>≈10 t</a:t>
            </a:r>
            <a:endParaRPr lang="en-US" sz="4000" dirty="0"/>
          </a:p>
        </p:txBody>
      </p:sp>
      <p:sp>
        <p:nvSpPr>
          <p:cNvPr id="9" name="Text 6"/>
          <p:cNvSpPr txBox="1"/>
          <p:nvPr/>
        </p:nvSpPr>
        <p:spPr>
          <a:xfrm>
            <a:off x="7589520" y="3392424"/>
            <a:ext cx="4023360" cy="566928"/>
          </a:xfrm>
          <a:prstGeom prst="rect">
            <a:avLst/>
          </a:prstGeom>
          <a:noFill/>
          <a:ln/>
        </p:spPr>
        <p:txBody>
          <a:bodyPr wrap="square" lIns="0" tIns="0" rIns="0" bIns="0" rtlCol="0" anchor="t"/>
          <a:lstStyle/>
          <a:p>
            <a:pPr indent="0" marL="0">
              <a:buNone/>
            </a:pPr>
            <a:r>
              <a:rPr lang="en-US" sz="1300" dirty="0">
                <a:solidFill>
                  <a:srgbClr val="1F2D3D"/>
                </a:solidFill>
                <a:latin typeface="Calibri" pitchFamily="34" charset="0"/>
                <a:ea typeface="Calibri" pitchFamily="34" charset="-122"/>
                <a:cs typeface="Calibri" pitchFamily="34" charset="-120"/>
              </a:rPr>
              <a:t>yıllık doğrudan CO₂ azaltımı (mini kovan); 20 havalimanında ≈200 t</a:t>
            </a:r>
            <a:endParaRPr lang="en-US" sz="1300" dirty="0"/>
          </a:p>
        </p:txBody>
      </p:sp>
      <p:sp>
        <p:nvSpPr>
          <p:cNvPr id="10" name="Text 7"/>
          <p:cNvSpPr txBox="1"/>
          <p:nvPr/>
        </p:nvSpPr>
        <p:spPr>
          <a:xfrm>
            <a:off x="7589520" y="4069080"/>
            <a:ext cx="4023360" cy="658368"/>
          </a:xfrm>
          <a:prstGeom prst="rect">
            <a:avLst/>
          </a:prstGeom>
          <a:noFill/>
          <a:ln/>
        </p:spPr>
        <p:txBody>
          <a:bodyPr wrap="square" lIns="0" tIns="0" rIns="0" bIns="0" rtlCol="0" anchor="b"/>
          <a:lstStyle/>
          <a:p>
            <a:pPr indent="0" marL="0">
              <a:buNone/>
            </a:pPr>
            <a:r>
              <a:rPr lang="en-US" sz="4000" b="1" dirty="0">
                <a:solidFill>
                  <a:srgbClr val="1479C4"/>
                </a:solidFill>
                <a:latin typeface="Calibri" pitchFamily="34" charset="0"/>
                <a:ea typeface="Calibri" pitchFamily="34" charset="-122"/>
                <a:cs typeface="Calibri" pitchFamily="34" charset="-120"/>
              </a:rPr>
              <a:t>≈9 m</a:t>
            </a:r>
            <a:endParaRPr lang="en-US" sz="4000" dirty="0"/>
          </a:p>
        </p:txBody>
      </p:sp>
      <p:sp>
        <p:nvSpPr>
          <p:cNvPr id="11" name="Text 8"/>
          <p:cNvSpPr txBox="1"/>
          <p:nvPr/>
        </p:nvSpPr>
        <p:spPr>
          <a:xfrm>
            <a:off x="7589520" y="4764024"/>
            <a:ext cx="4023360" cy="566928"/>
          </a:xfrm>
          <a:prstGeom prst="rect">
            <a:avLst/>
          </a:prstGeom>
          <a:noFill/>
          <a:ln/>
        </p:spPr>
        <p:txBody>
          <a:bodyPr wrap="square" lIns="0" tIns="0" rIns="0" bIns="0" rtlCol="0" anchor="t"/>
          <a:lstStyle/>
          <a:p>
            <a:pPr indent="0" marL="0">
              <a:buNone/>
            </a:pPr>
            <a:r>
              <a:rPr lang="en-US" sz="1300" dirty="0">
                <a:solidFill>
                  <a:srgbClr val="1F2D3D"/>
                </a:solidFill>
                <a:latin typeface="Calibri" pitchFamily="34" charset="0"/>
                <a:ea typeface="Calibri" pitchFamily="34" charset="-122"/>
                <a:cs typeface="Calibri" pitchFamily="34" charset="-120"/>
              </a:rPr>
              <a:t>türbin · Ek 14'e göre 250 m'de izin ≈15,7 m (1:7 geçiş yüzeyi)</a:t>
            </a:r>
            <a:endParaRPr lang="en-US" sz="1300" dirty="0"/>
          </a:p>
        </p:txBody>
      </p:sp>
      <p:sp>
        <p:nvSpPr>
          <p:cNvPr id="12" name="Shape 9"/>
          <p:cNvSpPr/>
          <p:nvPr/>
        </p:nvSpPr>
        <p:spPr>
          <a:xfrm>
            <a:off x="548640" y="5623560"/>
            <a:ext cx="2633472" cy="502920"/>
          </a:xfrm>
          <a:prstGeom prst="roundRect">
            <a:avLst>
              <a:gd name="adj" fmla="val 49091"/>
            </a:avLst>
          </a:prstGeom>
          <a:solidFill>
            <a:srgbClr val="FFFFFF"/>
          </a:solidFill>
          <a:ln w="19050">
            <a:solidFill>
              <a:srgbClr val="3E9A31"/>
            </a:solidFill>
            <a:prstDash val="solid"/>
          </a:ln>
        </p:spPr>
      </p:sp>
      <p:sp>
        <p:nvSpPr>
          <p:cNvPr id="13" name="Text 10"/>
          <p:cNvSpPr txBox="1"/>
          <p:nvPr/>
        </p:nvSpPr>
        <p:spPr>
          <a:xfrm>
            <a:off x="548640" y="5623560"/>
            <a:ext cx="2633472" cy="502920"/>
          </a:xfrm>
          <a:prstGeom prst="rect">
            <a:avLst/>
          </a:prstGeom>
          <a:noFill/>
          <a:ln/>
        </p:spPr>
        <p:txBody>
          <a:bodyPr wrap="square" lIns="0" tIns="0" rIns="0" bIns="0" rtlCol="0" anchor="ctr"/>
          <a:lstStyle/>
          <a:p>
            <a:pPr algn="ctr" indent="0" marL="0">
              <a:buNone/>
            </a:pPr>
            <a:r>
              <a:rPr lang="en-US" sz="1300" b="1" dirty="0">
                <a:solidFill>
                  <a:srgbClr val="3E9A31"/>
                </a:solidFill>
                <a:latin typeface="Calibri" pitchFamily="34" charset="0"/>
                <a:ea typeface="Calibri" pitchFamily="34" charset="-122"/>
                <a:cs typeface="Calibri" pitchFamily="34" charset="-120"/>
              </a:rPr>
              <a:t>Yeşil Havalimanları ve Altyapı</a:t>
            </a:r>
            <a:endParaRPr lang="en-US" sz="1300" dirty="0"/>
          </a:p>
        </p:txBody>
      </p:sp>
      <p:sp>
        <p:nvSpPr>
          <p:cNvPr id="14" name="Shape 11"/>
          <p:cNvSpPr/>
          <p:nvPr/>
        </p:nvSpPr>
        <p:spPr>
          <a:xfrm>
            <a:off x="3364992" y="5623560"/>
            <a:ext cx="2633472" cy="502920"/>
          </a:xfrm>
          <a:prstGeom prst="roundRect">
            <a:avLst>
              <a:gd name="adj" fmla="val 49091"/>
            </a:avLst>
          </a:prstGeom>
          <a:solidFill>
            <a:srgbClr val="FFFFFF"/>
          </a:solidFill>
          <a:ln w="19050">
            <a:solidFill>
              <a:srgbClr val="3E9A31"/>
            </a:solidFill>
            <a:prstDash val="solid"/>
          </a:ln>
        </p:spPr>
      </p:sp>
      <p:sp>
        <p:nvSpPr>
          <p:cNvPr id="15" name="Text 12"/>
          <p:cNvSpPr txBox="1"/>
          <p:nvPr/>
        </p:nvSpPr>
        <p:spPr>
          <a:xfrm>
            <a:off x="3364992" y="5623560"/>
            <a:ext cx="2633472" cy="502920"/>
          </a:xfrm>
          <a:prstGeom prst="rect">
            <a:avLst/>
          </a:prstGeom>
          <a:noFill/>
          <a:ln/>
        </p:spPr>
        <p:txBody>
          <a:bodyPr wrap="square" lIns="0" tIns="0" rIns="0" bIns="0" rtlCol="0" anchor="ctr"/>
          <a:lstStyle/>
          <a:p>
            <a:pPr algn="ctr" indent="0" marL="0">
              <a:buNone/>
            </a:pPr>
            <a:r>
              <a:rPr lang="en-US" sz="1300" b="1" dirty="0">
                <a:solidFill>
                  <a:srgbClr val="3E9A31"/>
                </a:solidFill>
                <a:latin typeface="Calibri" pitchFamily="34" charset="0"/>
                <a:ea typeface="Calibri" pitchFamily="34" charset="-122"/>
                <a:cs typeface="Calibri" pitchFamily="34" charset="-120"/>
              </a:rPr>
              <a:t>Verimli Operasyonlar</a:t>
            </a:r>
            <a:endParaRPr lang="en-US" sz="1300" dirty="0"/>
          </a:p>
        </p:txBody>
      </p:sp>
      <p:sp>
        <p:nvSpPr>
          <p:cNvPr id="16" name="Shape 13"/>
          <p:cNvSpPr/>
          <p:nvPr/>
        </p:nvSpPr>
        <p:spPr>
          <a:xfrm>
            <a:off x="6181344" y="5623560"/>
            <a:ext cx="2633472" cy="502920"/>
          </a:xfrm>
          <a:prstGeom prst="roundRect">
            <a:avLst>
              <a:gd name="adj" fmla="val 49091"/>
            </a:avLst>
          </a:prstGeom>
          <a:solidFill>
            <a:srgbClr val="FFFFFF"/>
          </a:solidFill>
          <a:ln w="19050">
            <a:solidFill>
              <a:srgbClr val="3E9A31"/>
            </a:solidFill>
            <a:prstDash val="solid"/>
          </a:ln>
        </p:spPr>
      </p:sp>
      <p:sp>
        <p:nvSpPr>
          <p:cNvPr id="17" name="Text 14"/>
          <p:cNvSpPr txBox="1"/>
          <p:nvPr/>
        </p:nvSpPr>
        <p:spPr>
          <a:xfrm>
            <a:off x="6181344" y="5623560"/>
            <a:ext cx="2633472" cy="502920"/>
          </a:xfrm>
          <a:prstGeom prst="rect">
            <a:avLst/>
          </a:prstGeom>
          <a:noFill/>
          <a:ln/>
        </p:spPr>
        <p:txBody>
          <a:bodyPr wrap="square" lIns="0" tIns="0" rIns="0" bIns="0" rtlCol="0" anchor="ctr"/>
          <a:lstStyle/>
          <a:p>
            <a:pPr algn="ctr" indent="0" marL="0">
              <a:buNone/>
            </a:pPr>
            <a:r>
              <a:rPr lang="en-US" sz="1300" b="1" dirty="0">
                <a:solidFill>
                  <a:srgbClr val="3E9A31"/>
                </a:solidFill>
                <a:latin typeface="Calibri" pitchFamily="34" charset="0"/>
                <a:ea typeface="Calibri" pitchFamily="34" charset="-122"/>
                <a:cs typeface="Calibri" pitchFamily="34" charset="-120"/>
              </a:rPr>
              <a:t>Geleceğin Mobilitesi</a:t>
            </a:r>
            <a:endParaRPr lang="en-US" sz="1300" dirty="0"/>
          </a:p>
        </p:txBody>
      </p:sp>
      <p:sp>
        <p:nvSpPr>
          <p:cNvPr id="18" name="Shape 15"/>
          <p:cNvSpPr/>
          <p:nvPr/>
        </p:nvSpPr>
        <p:spPr>
          <a:xfrm>
            <a:off x="8997696" y="5623560"/>
            <a:ext cx="2633472" cy="502920"/>
          </a:xfrm>
          <a:prstGeom prst="roundRect">
            <a:avLst>
              <a:gd name="adj" fmla="val 49091"/>
            </a:avLst>
          </a:prstGeom>
          <a:solidFill>
            <a:srgbClr val="FFFFFF"/>
          </a:solidFill>
          <a:ln w="19050">
            <a:solidFill>
              <a:srgbClr val="3E9A31"/>
            </a:solidFill>
            <a:prstDash val="solid"/>
          </a:ln>
        </p:spPr>
      </p:sp>
      <p:sp>
        <p:nvSpPr>
          <p:cNvPr id="19" name="Text 16"/>
          <p:cNvSpPr txBox="1"/>
          <p:nvPr/>
        </p:nvSpPr>
        <p:spPr>
          <a:xfrm>
            <a:off x="8997696" y="5623560"/>
            <a:ext cx="2633472" cy="502920"/>
          </a:xfrm>
          <a:prstGeom prst="rect">
            <a:avLst/>
          </a:prstGeom>
          <a:noFill/>
          <a:ln/>
        </p:spPr>
        <p:txBody>
          <a:bodyPr wrap="square" lIns="0" tIns="0" rIns="0" bIns="0" rtlCol="0" anchor="ctr"/>
          <a:lstStyle/>
          <a:p>
            <a:pPr algn="ctr" indent="0" marL="0">
              <a:buNone/>
            </a:pPr>
            <a:r>
              <a:rPr lang="en-US" sz="1300" b="1" dirty="0">
                <a:solidFill>
                  <a:srgbClr val="3E9A31"/>
                </a:solidFill>
                <a:latin typeface="Calibri" pitchFamily="34" charset="0"/>
                <a:ea typeface="Calibri" pitchFamily="34" charset="-122"/>
                <a:cs typeface="Calibri" pitchFamily="34" charset="-120"/>
              </a:rPr>
              <a:t>Döngüsel Ekonomi</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966960" cy="777240"/>
          </a:xfrm>
          <a:prstGeom prst="rect">
            <a:avLst/>
          </a:prstGeom>
          <a:noFill/>
          <a:ln/>
        </p:spPr>
        <p:txBody>
          <a:bodyPr wrap="square" lIns="0" tIns="0" rIns="0" bIns="0" rtlCol="0" anchor="ctr"/>
          <a:lstStyle/>
          <a:p>
            <a:pPr algn="l" indent="0" marL="0">
              <a:buNone/>
            </a:pPr>
            <a:r>
              <a:rPr lang="en-US" sz="3200" b="1" dirty="0">
                <a:solidFill>
                  <a:srgbClr val="0B1E33"/>
                </a:solidFill>
              </a:rPr>
              <a:t>Parçalar var, bütün yok: AERO-GUARD'ın yeri</a:t>
            </a:r>
            <a:endParaRPr lang="en-US" sz="3200" dirty="0"/>
          </a:p>
        </p:txBody>
      </p:sp>
      <p:sp>
        <p:nvSpPr>
          <p:cNvPr id="3" name="Text 1"/>
          <p:cNvSpPr txBox="1"/>
          <p:nvPr/>
        </p:nvSpPr>
        <p:spPr>
          <a:xfrm>
            <a:off x="4114800" y="1325880"/>
            <a:ext cx="1252728" cy="640080"/>
          </a:xfrm>
          <a:prstGeom prst="rect">
            <a:avLst/>
          </a:prstGeom>
          <a:noFill/>
          <a:ln/>
        </p:spPr>
        <p:txBody>
          <a:bodyPr wrap="square" lIns="0" tIns="0" rIns="0" bIns="0" rtlCol="0" anchor="b"/>
          <a:lstStyle/>
          <a:p>
            <a:pPr algn="ctr" indent="0" marL="0">
              <a:buNone/>
            </a:pPr>
            <a:r>
              <a:rPr lang="en-US" sz="1300" b="1" dirty="0">
                <a:solidFill>
                  <a:srgbClr val="0B1E33"/>
                </a:solidFill>
                <a:latin typeface="Calibri" pitchFamily="34" charset="0"/>
                <a:ea typeface="Calibri" pitchFamily="34" charset="-122"/>
                <a:cs typeface="Calibri" pitchFamily="34" charset="-120"/>
              </a:rPr>
              <a:t>Çok görev</a:t>
            </a:r>
            <a:endParaRPr lang="en-US" sz="1300" dirty="0"/>
          </a:p>
        </p:txBody>
      </p:sp>
      <p:sp>
        <p:nvSpPr>
          <p:cNvPr id="4" name="Text 2"/>
          <p:cNvSpPr txBox="1"/>
          <p:nvPr/>
        </p:nvSpPr>
        <p:spPr>
          <a:xfrm>
            <a:off x="5369082" y="1325880"/>
            <a:ext cx="1252728" cy="640080"/>
          </a:xfrm>
          <a:prstGeom prst="rect">
            <a:avLst/>
          </a:prstGeom>
          <a:noFill/>
          <a:ln/>
        </p:spPr>
        <p:txBody>
          <a:bodyPr wrap="square" lIns="0" tIns="0" rIns="0" bIns="0" rtlCol="0" anchor="b"/>
          <a:lstStyle/>
          <a:p>
            <a:pPr algn="ctr" indent="0" marL="0">
              <a:buNone/>
            </a:pPr>
            <a:r>
              <a:rPr lang="en-US" sz="1300" b="1" dirty="0">
                <a:solidFill>
                  <a:srgbClr val="0B1E33"/>
                </a:solidFill>
                <a:latin typeface="Calibri" pitchFamily="34" charset="0"/>
                <a:ea typeface="Calibri" pitchFamily="34" charset="-122"/>
                <a:cs typeface="Calibri" pitchFamily="34" charset="-120"/>
              </a:rPr>
              <a:t>Sabit altyapı gerekmez</a:t>
            </a:r>
            <a:endParaRPr lang="en-US" sz="1300" dirty="0"/>
          </a:p>
        </p:txBody>
      </p:sp>
      <p:sp>
        <p:nvSpPr>
          <p:cNvPr id="5" name="Text 3"/>
          <p:cNvSpPr txBox="1"/>
          <p:nvPr/>
        </p:nvSpPr>
        <p:spPr>
          <a:xfrm>
            <a:off x="6623365" y="1325880"/>
            <a:ext cx="1252728" cy="640080"/>
          </a:xfrm>
          <a:prstGeom prst="rect">
            <a:avLst/>
          </a:prstGeom>
          <a:noFill/>
          <a:ln/>
        </p:spPr>
        <p:txBody>
          <a:bodyPr wrap="square" lIns="0" tIns="0" rIns="0" bIns="0" rtlCol="0" anchor="b"/>
          <a:lstStyle/>
          <a:p>
            <a:pPr algn="ctr" indent="0" marL="0">
              <a:buNone/>
            </a:pPr>
            <a:r>
              <a:rPr lang="en-US" sz="1300" b="1" dirty="0">
                <a:solidFill>
                  <a:srgbClr val="0B1E33"/>
                </a:solidFill>
                <a:latin typeface="Calibri" pitchFamily="34" charset="0"/>
                <a:ea typeface="Calibri" pitchFamily="34" charset="-122"/>
                <a:cs typeface="Calibri" pitchFamily="34" charset="-120"/>
              </a:rPr>
              <a:t>Tarifeye göre otomatik</a:t>
            </a:r>
            <a:endParaRPr lang="en-US" sz="1300" dirty="0"/>
          </a:p>
        </p:txBody>
      </p:sp>
      <p:sp>
        <p:nvSpPr>
          <p:cNvPr id="6" name="Text 4"/>
          <p:cNvSpPr txBox="1"/>
          <p:nvPr/>
        </p:nvSpPr>
        <p:spPr>
          <a:xfrm>
            <a:off x="7877647" y="1325880"/>
            <a:ext cx="1252728" cy="640080"/>
          </a:xfrm>
          <a:prstGeom prst="rect">
            <a:avLst/>
          </a:prstGeom>
          <a:noFill/>
          <a:ln/>
        </p:spPr>
        <p:txBody>
          <a:bodyPr wrap="square" lIns="0" tIns="0" rIns="0" bIns="0" rtlCol="0" anchor="b"/>
          <a:lstStyle/>
          <a:p>
            <a:pPr algn="ctr" indent="0" marL="0">
              <a:buNone/>
            </a:pPr>
            <a:r>
              <a:rPr lang="en-US" sz="1300" b="1" dirty="0">
                <a:solidFill>
                  <a:srgbClr val="0B1E33"/>
                </a:solidFill>
                <a:latin typeface="Calibri" pitchFamily="34" charset="0"/>
                <a:ea typeface="Calibri" pitchFamily="34" charset="-122"/>
                <a:cs typeface="Calibri" pitchFamily="34" charset="-120"/>
              </a:rPr>
              <a:t>Yenilenebilir enerji</a:t>
            </a:r>
            <a:endParaRPr lang="en-US" sz="1300" dirty="0"/>
          </a:p>
        </p:txBody>
      </p:sp>
      <p:sp>
        <p:nvSpPr>
          <p:cNvPr id="7" name="Text 5"/>
          <p:cNvSpPr txBox="1"/>
          <p:nvPr/>
        </p:nvSpPr>
        <p:spPr>
          <a:xfrm>
            <a:off x="9131930" y="1325880"/>
            <a:ext cx="1252728" cy="640080"/>
          </a:xfrm>
          <a:prstGeom prst="rect">
            <a:avLst/>
          </a:prstGeom>
          <a:noFill/>
          <a:ln/>
        </p:spPr>
        <p:txBody>
          <a:bodyPr wrap="square" lIns="0" tIns="0" rIns="0" bIns="0" rtlCol="0" anchor="b"/>
          <a:lstStyle/>
          <a:p>
            <a:pPr algn="ctr" indent="0" marL="0">
              <a:buNone/>
            </a:pPr>
            <a:r>
              <a:rPr lang="en-US" sz="1300" b="1" dirty="0">
                <a:solidFill>
                  <a:srgbClr val="0B1E33"/>
                </a:solidFill>
                <a:latin typeface="Calibri" pitchFamily="34" charset="0"/>
                <a:ea typeface="Calibri" pitchFamily="34" charset="-122"/>
                <a:cs typeface="Calibri" pitchFamily="34" charset="-120"/>
              </a:rPr>
              <a:t>Bölgesel bütçeye uygun</a:t>
            </a:r>
            <a:endParaRPr lang="en-US" sz="1300" dirty="0"/>
          </a:p>
        </p:txBody>
      </p:sp>
      <p:sp>
        <p:nvSpPr>
          <p:cNvPr id="8" name="Text 6"/>
          <p:cNvSpPr txBox="1"/>
          <p:nvPr/>
        </p:nvSpPr>
        <p:spPr>
          <a:xfrm>
            <a:off x="10386212" y="1325880"/>
            <a:ext cx="1252728" cy="640080"/>
          </a:xfrm>
          <a:prstGeom prst="rect">
            <a:avLst/>
          </a:prstGeom>
          <a:noFill/>
          <a:ln/>
        </p:spPr>
        <p:txBody>
          <a:bodyPr wrap="square" lIns="0" tIns="0" rIns="0" bIns="0" rtlCol="0" anchor="b"/>
          <a:lstStyle/>
          <a:p>
            <a:pPr algn="ctr" indent="0" marL="0">
              <a:buNone/>
            </a:pPr>
            <a:r>
              <a:rPr lang="en-US" sz="1300" b="1" dirty="0">
                <a:solidFill>
                  <a:srgbClr val="0B1E33"/>
                </a:solidFill>
                <a:latin typeface="Calibri" pitchFamily="34" charset="0"/>
                <a:ea typeface="Calibri" pitchFamily="34" charset="-122"/>
                <a:cs typeface="Calibri" pitchFamily="34" charset="-120"/>
              </a:rPr>
              <a:t>Sürekli izleme</a:t>
            </a:r>
            <a:endParaRPr lang="en-US" sz="1300" dirty="0"/>
          </a:p>
        </p:txBody>
      </p:sp>
      <p:sp>
        <p:nvSpPr>
          <p:cNvPr id="9" name="Text 7"/>
          <p:cNvSpPr txBox="1"/>
          <p:nvPr/>
        </p:nvSpPr>
        <p:spPr>
          <a:xfrm>
            <a:off x="9811512" y="1024128"/>
            <a:ext cx="1828800" cy="274320"/>
          </a:xfrm>
          <a:prstGeom prst="rect">
            <a:avLst/>
          </a:prstGeom>
          <a:noFill/>
          <a:ln/>
        </p:spPr>
        <p:txBody>
          <a:bodyPr wrap="square" lIns="0" tIns="0" rIns="0" bIns="0" rtlCol="0" anchor="t"/>
          <a:lstStyle/>
          <a:p>
            <a:pPr algn="r" indent="0" marL="0">
              <a:buNone/>
            </a:pPr>
            <a:r>
              <a:rPr lang="en-US" sz="1100" dirty="0">
                <a:solidFill>
                  <a:srgbClr val="5B6B7B"/>
                </a:solidFill>
                <a:latin typeface="Calibri" pitchFamily="34" charset="0"/>
                <a:ea typeface="Calibri" pitchFamily="34" charset="-122"/>
                <a:cs typeface="Calibri" pitchFamily="34" charset="-120"/>
              </a:rPr>
              <a:t>● var   ○ yok</a:t>
            </a:r>
            <a:endParaRPr lang="en-US" sz="1100" dirty="0"/>
          </a:p>
        </p:txBody>
      </p:sp>
      <p:sp>
        <p:nvSpPr>
          <p:cNvPr id="10" name="Text 8"/>
          <p:cNvSpPr txBox="1"/>
          <p:nvPr/>
        </p:nvSpPr>
        <p:spPr>
          <a:xfrm>
            <a:off x="640080" y="2157984"/>
            <a:ext cx="3383280" cy="329184"/>
          </a:xfrm>
          <a:prstGeom prst="rect">
            <a:avLst/>
          </a:prstGeom>
          <a:noFill/>
          <a:ln/>
        </p:spPr>
        <p:txBody>
          <a:bodyPr wrap="square" lIns="0" tIns="0" rIns="0" bIns="0" rtlCol="0" anchor="t"/>
          <a:lstStyle/>
          <a:p>
            <a:pPr indent="0" marL="0">
              <a:buNone/>
            </a:pPr>
            <a:r>
              <a:rPr lang="en-US" sz="1500" b="1" dirty="0">
                <a:solidFill>
                  <a:srgbClr val="0B1E33"/>
                </a:solidFill>
                <a:latin typeface="Calibri" pitchFamily="34" charset="0"/>
                <a:ea typeface="Calibri" pitchFamily="34" charset="-122"/>
                <a:cs typeface="Calibri" pitchFamily="34" charset="-120"/>
              </a:rPr>
              <a:t>Sabit FOD radarı / kamerası</a:t>
            </a:r>
            <a:endParaRPr lang="en-US" sz="1500" dirty="0"/>
          </a:p>
        </p:txBody>
      </p:sp>
      <p:sp>
        <p:nvSpPr>
          <p:cNvPr id="11" name="Text 9"/>
          <p:cNvSpPr txBox="1"/>
          <p:nvPr/>
        </p:nvSpPr>
        <p:spPr>
          <a:xfrm>
            <a:off x="640080" y="2450592"/>
            <a:ext cx="3383280" cy="237744"/>
          </a:xfrm>
          <a:prstGeom prst="rect">
            <a:avLst/>
          </a:prstGeom>
          <a:noFill/>
          <a:ln/>
        </p:spPr>
        <p:txBody>
          <a:bodyPr wrap="square" lIns="0" tIns="0" rIns="0" bIns="0" rtlCol="0" anchor="t"/>
          <a:lstStyle/>
          <a:p>
            <a:pPr indent="0" marL="0">
              <a:buNone/>
            </a:pPr>
            <a:r>
              <a:rPr lang="en-US" sz="1100" dirty="0">
                <a:solidFill>
                  <a:srgbClr val="5B6B7B"/>
                </a:solidFill>
                <a:latin typeface="Calibri" pitchFamily="34" charset="0"/>
                <a:ea typeface="Calibri" pitchFamily="34" charset="-122"/>
                <a:cs typeface="Calibri" pitchFamily="34" charset="-120"/>
              </a:rPr>
              <a:t>FODRAD, A-FOD, Xsight, Tarsier</a:t>
            </a:r>
            <a:endParaRPr lang="en-US" sz="1100" dirty="0"/>
          </a:p>
        </p:txBody>
      </p:sp>
      <p:sp>
        <p:nvSpPr>
          <p:cNvPr id="12" name="Shape 10"/>
          <p:cNvSpPr/>
          <p:nvPr/>
        </p:nvSpPr>
        <p:spPr>
          <a:xfrm>
            <a:off x="4608576" y="2258568"/>
            <a:ext cx="274320" cy="274320"/>
          </a:xfrm>
          <a:prstGeom prst="ellipse">
            <a:avLst/>
          </a:prstGeom>
          <a:solidFill>
            <a:srgbClr val="FFFFFF"/>
          </a:solidFill>
          <a:ln w="15875">
            <a:solidFill>
              <a:srgbClr val="B8C4D0"/>
            </a:solidFill>
            <a:prstDash val="solid"/>
          </a:ln>
        </p:spPr>
      </p:sp>
      <p:sp>
        <p:nvSpPr>
          <p:cNvPr id="13" name="Shape 11"/>
          <p:cNvSpPr/>
          <p:nvPr/>
        </p:nvSpPr>
        <p:spPr>
          <a:xfrm>
            <a:off x="5862858" y="2258568"/>
            <a:ext cx="274320" cy="274320"/>
          </a:xfrm>
          <a:prstGeom prst="ellipse">
            <a:avLst/>
          </a:prstGeom>
          <a:solidFill>
            <a:srgbClr val="FFFFFF"/>
          </a:solidFill>
          <a:ln w="15875">
            <a:solidFill>
              <a:srgbClr val="B8C4D0"/>
            </a:solidFill>
            <a:prstDash val="solid"/>
          </a:ln>
        </p:spPr>
      </p:sp>
      <p:sp>
        <p:nvSpPr>
          <p:cNvPr id="14" name="Shape 12"/>
          <p:cNvSpPr/>
          <p:nvPr/>
        </p:nvSpPr>
        <p:spPr>
          <a:xfrm>
            <a:off x="7117141" y="2258568"/>
            <a:ext cx="274320" cy="274320"/>
          </a:xfrm>
          <a:prstGeom prst="ellipse">
            <a:avLst/>
          </a:prstGeom>
          <a:solidFill>
            <a:srgbClr val="FFFFFF"/>
          </a:solidFill>
          <a:ln w="15875">
            <a:solidFill>
              <a:srgbClr val="B8C4D0"/>
            </a:solidFill>
            <a:prstDash val="solid"/>
          </a:ln>
        </p:spPr>
      </p:sp>
      <p:sp>
        <p:nvSpPr>
          <p:cNvPr id="15" name="Shape 13"/>
          <p:cNvSpPr/>
          <p:nvPr/>
        </p:nvSpPr>
        <p:spPr>
          <a:xfrm>
            <a:off x="8371423" y="2258568"/>
            <a:ext cx="274320" cy="274320"/>
          </a:xfrm>
          <a:prstGeom prst="ellipse">
            <a:avLst/>
          </a:prstGeom>
          <a:solidFill>
            <a:srgbClr val="FFFFFF"/>
          </a:solidFill>
          <a:ln w="15875">
            <a:solidFill>
              <a:srgbClr val="B8C4D0"/>
            </a:solidFill>
            <a:prstDash val="solid"/>
          </a:ln>
        </p:spPr>
      </p:sp>
      <p:sp>
        <p:nvSpPr>
          <p:cNvPr id="16" name="Shape 14"/>
          <p:cNvSpPr/>
          <p:nvPr/>
        </p:nvSpPr>
        <p:spPr>
          <a:xfrm>
            <a:off x="9625706" y="2258568"/>
            <a:ext cx="274320" cy="274320"/>
          </a:xfrm>
          <a:prstGeom prst="ellipse">
            <a:avLst/>
          </a:prstGeom>
          <a:solidFill>
            <a:srgbClr val="FFFFFF"/>
          </a:solidFill>
          <a:ln w="15875">
            <a:solidFill>
              <a:srgbClr val="B8C4D0"/>
            </a:solidFill>
            <a:prstDash val="solid"/>
          </a:ln>
        </p:spPr>
      </p:sp>
      <p:sp>
        <p:nvSpPr>
          <p:cNvPr id="17" name="Shape 15"/>
          <p:cNvSpPr/>
          <p:nvPr/>
        </p:nvSpPr>
        <p:spPr>
          <a:xfrm>
            <a:off x="10879988" y="2258568"/>
            <a:ext cx="274320" cy="274320"/>
          </a:xfrm>
          <a:prstGeom prst="ellipse">
            <a:avLst/>
          </a:prstGeom>
          <a:solidFill>
            <a:srgbClr val="3E9A31"/>
          </a:solidFill>
          <a:ln w="15875">
            <a:solidFill>
              <a:srgbClr val="3E9A31"/>
            </a:solidFill>
            <a:prstDash val="solid"/>
          </a:ln>
        </p:spPr>
      </p:sp>
      <p:sp>
        <p:nvSpPr>
          <p:cNvPr id="18" name="Shape 16"/>
          <p:cNvSpPr/>
          <p:nvPr/>
        </p:nvSpPr>
        <p:spPr>
          <a:xfrm>
            <a:off x="548640" y="2688336"/>
            <a:ext cx="11091672" cy="914"/>
          </a:xfrm>
          <a:prstGeom prst="line">
            <a:avLst/>
          </a:prstGeom>
          <a:noFill/>
          <a:ln w="12700">
            <a:solidFill>
              <a:srgbClr val="DDE3EA"/>
            </a:solidFill>
            <a:prstDash val="solid"/>
          </a:ln>
        </p:spPr>
      </p:sp>
      <p:sp>
        <p:nvSpPr>
          <p:cNvPr id="19" name="Text 17"/>
          <p:cNvSpPr txBox="1"/>
          <p:nvPr/>
        </p:nvSpPr>
        <p:spPr>
          <a:xfrm>
            <a:off x="640080" y="2798064"/>
            <a:ext cx="3383280" cy="329184"/>
          </a:xfrm>
          <a:prstGeom prst="rect">
            <a:avLst/>
          </a:prstGeom>
          <a:noFill/>
          <a:ln/>
        </p:spPr>
        <p:txBody>
          <a:bodyPr wrap="square" lIns="0" tIns="0" rIns="0" bIns="0" rtlCol="0" anchor="t"/>
          <a:lstStyle/>
          <a:p>
            <a:pPr indent="0" marL="0">
              <a:buNone/>
            </a:pPr>
            <a:r>
              <a:rPr lang="en-US" sz="1500" b="1" dirty="0">
                <a:solidFill>
                  <a:srgbClr val="0B1E33"/>
                </a:solidFill>
                <a:latin typeface="Calibri" pitchFamily="34" charset="0"/>
                <a:ea typeface="Calibri" pitchFamily="34" charset="-122"/>
                <a:cs typeface="Calibri" pitchFamily="34" charset="-120"/>
              </a:rPr>
              <a:t>Kuş radarı</a:t>
            </a:r>
            <a:endParaRPr lang="en-US" sz="1500" dirty="0"/>
          </a:p>
        </p:txBody>
      </p:sp>
      <p:sp>
        <p:nvSpPr>
          <p:cNvPr id="20" name="Text 18"/>
          <p:cNvSpPr txBox="1"/>
          <p:nvPr/>
        </p:nvSpPr>
        <p:spPr>
          <a:xfrm>
            <a:off x="640080" y="3090672"/>
            <a:ext cx="3383280" cy="237744"/>
          </a:xfrm>
          <a:prstGeom prst="rect">
            <a:avLst/>
          </a:prstGeom>
          <a:noFill/>
          <a:ln/>
        </p:spPr>
        <p:txBody>
          <a:bodyPr wrap="square" lIns="0" tIns="0" rIns="0" bIns="0" rtlCol="0" anchor="t"/>
          <a:lstStyle/>
          <a:p>
            <a:pPr indent="0" marL="0">
              <a:buNone/>
            </a:pPr>
            <a:r>
              <a:rPr lang="en-US" sz="1100" dirty="0">
                <a:solidFill>
                  <a:srgbClr val="5B6B7B"/>
                </a:solidFill>
                <a:latin typeface="Calibri" pitchFamily="34" charset="0"/>
                <a:ea typeface="Calibri" pitchFamily="34" charset="-122"/>
                <a:cs typeface="Calibri" pitchFamily="34" charset="-120"/>
              </a:rPr>
              <a:t>KUŞRAD, Robin Radar</a:t>
            </a:r>
            <a:endParaRPr lang="en-US" sz="1100" dirty="0"/>
          </a:p>
        </p:txBody>
      </p:sp>
      <p:sp>
        <p:nvSpPr>
          <p:cNvPr id="21" name="Shape 19"/>
          <p:cNvSpPr/>
          <p:nvPr/>
        </p:nvSpPr>
        <p:spPr>
          <a:xfrm>
            <a:off x="4608576" y="2898648"/>
            <a:ext cx="274320" cy="274320"/>
          </a:xfrm>
          <a:prstGeom prst="ellipse">
            <a:avLst/>
          </a:prstGeom>
          <a:solidFill>
            <a:srgbClr val="FFFFFF"/>
          </a:solidFill>
          <a:ln w="15875">
            <a:solidFill>
              <a:srgbClr val="B8C4D0"/>
            </a:solidFill>
            <a:prstDash val="solid"/>
          </a:ln>
        </p:spPr>
      </p:sp>
      <p:sp>
        <p:nvSpPr>
          <p:cNvPr id="22" name="Shape 20"/>
          <p:cNvSpPr/>
          <p:nvPr/>
        </p:nvSpPr>
        <p:spPr>
          <a:xfrm>
            <a:off x="5862858" y="2898648"/>
            <a:ext cx="274320" cy="274320"/>
          </a:xfrm>
          <a:prstGeom prst="ellipse">
            <a:avLst/>
          </a:prstGeom>
          <a:solidFill>
            <a:srgbClr val="FFFFFF"/>
          </a:solidFill>
          <a:ln w="15875">
            <a:solidFill>
              <a:srgbClr val="B8C4D0"/>
            </a:solidFill>
            <a:prstDash val="solid"/>
          </a:ln>
        </p:spPr>
      </p:sp>
      <p:sp>
        <p:nvSpPr>
          <p:cNvPr id="23" name="Shape 21"/>
          <p:cNvSpPr/>
          <p:nvPr/>
        </p:nvSpPr>
        <p:spPr>
          <a:xfrm>
            <a:off x="7117141" y="2898648"/>
            <a:ext cx="274320" cy="274320"/>
          </a:xfrm>
          <a:prstGeom prst="ellipse">
            <a:avLst/>
          </a:prstGeom>
          <a:solidFill>
            <a:srgbClr val="FFFFFF"/>
          </a:solidFill>
          <a:ln w="15875">
            <a:solidFill>
              <a:srgbClr val="B8C4D0"/>
            </a:solidFill>
            <a:prstDash val="solid"/>
          </a:ln>
        </p:spPr>
      </p:sp>
      <p:sp>
        <p:nvSpPr>
          <p:cNvPr id="24" name="Shape 22"/>
          <p:cNvSpPr/>
          <p:nvPr/>
        </p:nvSpPr>
        <p:spPr>
          <a:xfrm>
            <a:off x="8371423" y="2898648"/>
            <a:ext cx="274320" cy="274320"/>
          </a:xfrm>
          <a:prstGeom prst="ellipse">
            <a:avLst/>
          </a:prstGeom>
          <a:solidFill>
            <a:srgbClr val="FFFFFF"/>
          </a:solidFill>
          <a:ln w="15875">
            <a:solidFill>
              <a:srgbClr val="B8C4D0"/>
            </a:solidFill>
            <a:prstDash val="solid"/>
          </a:ln>
        </p:spPr>
      </p:sp>
      <p:sp>
        <p:nvSpPr>
          <p:cNvPr id="25" name="Shape 23"/>
          <p:cNvSpPr/>
          <p:nvPr/>
        </p:nvSpPr>
        <p:spPr>
          <a:xfrm>
            <a:off x="9625706" y="2898648"/>
            <a:ext cx="274320" cy="274320"/>
          </a:xfrm>
          <a:prstGeom prst="ellipse">
            <a:avLst/>
          </a:prstGeom>
          <a:solidFill>
            <a:srgbClr val="FFFFFF"/>
          </a:solidFill>
          <a:ln w="15875">
            <a:solidFill>
              <a:srgbClr val="B8C4D0"/>
            </a:solidFill>
            <a:prstDash val="solid"/>
          </a:ln>
        </p:spPr>
      </p:sp>
      <p:sp>
        <p:nvSpPr>
          <p:cNvPr id="26" name="Shape 24"/>
          <p:cNvSpPr/>
          <p:nvPr/>
        </p:nvSpPr>
        <p:spPr>
          <a:xfrm>
            <a:off x="10879988" y="2898648"/>
            <a:ext cx="274320" cy="274320"/>
          </a:xfrm>
          <a:prstGeom prst="ellipse">
            <a:avLst/>
          </a:prstGeom>
          <a:solidFill>
            <a:srgbClr val="3E9A31"/>
          </a:solidFill>
          <a:ln w="15875">
            <a:solidFill>
              <a:srgbClr val="3E9A31"/>
            </a:solidFill>
            <a:prstDash val="solid"/>
          </a:ln>
        </p:spPr>
      </p:sp>
      <p:sp>
        <p:nvSpPr>
          <p:cNvPr id="27" name="Shape 25"/>
          <p:cNvSpPr/>
          <p:nvPr/>
        </p:nvSpPr>
        <p:spPr>
          <a:xfrm>
            <a:off x="548640" y="3328416"/>
            <a:ext cx="11091672" cy="914"/>
          </a:xfrm>
          <a:prstGeom prst="line">
            <a:avLst/>
          </a:prstGeom>
          <a:noFill/>
          <a:ln w="12700">
            <a:solidFill>
              <a:srgbClr val="DDE3EA"/>
            </a:solidFill>
            <a:prstDash val="solid"/>
          </a:ln>
        </p:spPr>
      </p:sp>
      <p:sp>
        <p:nvSpPr>
          <p:cNvPr id="28" name="Text 26"/>
          <p:cNvSpPr txBox="1"/>
          <p:nvPr/>
        </p:nvSpPr>
        <p:spPr>
          <a:xfrm>
            <a:off x="640080" y="3438144"/>
            <a:ext cx="3383280" cy="329184"/>
          </a:xfrm>
          <a:prstGeom prst="rect">
            <a:avLst/>
          </a:prstGeom>
          <a:noFill/>
          <a:ln/>
        </p:spPr>
        <p:txBody>
          <a:bodyPr wrap="square" lIns="0" tIns="0" rIns="0" bIns="0" rtlCol="0" anchor="t"/>
          <a:lstStyle/>
          <a:p>
            <a:pPr indent="0" marL="0">
              <a:buNone/>
            </a:pPr>
            <a:r>
              <a:rPr lang="en-US" sz="1500" b="1" dirty="0">
                <a:solidFill>
                  <a:srgbClr val="0B1E33"/>
                </a:solidFill>
                <a:latin typeface="Calibri" pitchFamily="34" charset="0"/>
                <a:ea typeface="Calibri" pitchFamily="34" charset="-122"/>
                <a:cs typeface="Calibri" pitchFamily="34" charset="-120"/>
              </a:rPr>
              <a:t>Tek görevli drone</a:t>
            </a:r>
            <a:endParaRPr lang="en-US" sz="1500" dirty="0"/>
          </a:p>
        </p:txBody>
      </p:sp>
      <p:sp>
        <p:nvSpPr>
          <p:cNvPr id="29" name="Text 27"/>
          <p:cNvSpPr txBox="1"/>
          <p:nvPr/>
        </p:nvSpPr>
        <p:spPr>
          <a:xfrm>
            <a:off x="640080" y="3730752"/>
            <a:ext cx="3383280" cy="237744"/>
          </a:xfrm>
          <a:prstGeom prst="rect">
            <a:avLst/>
          </a:prstGeom>
          <a:noFill/>
          <a:ln/>
        </p:spPr>
        <p:txBody>
          <a:bodyPr wrap="square" lIns="0" tIns="0" rIns="0" bIns="0" rtlCol="0" anchor="t"/>
          <a:lstStyle/>
          <a:p>
            <a:pPr indent="0" marL="0">
              <a:buNone/>
            </a:pPr>
            <a:r>
              <a:rPr lang="en-US" sz="1100" dirty="0">
                <a:solidFill>
                  <a:srgbClr val="5B6B7B"/>
                </a:solidFill>
                <a:latin typeface="Calibri" pitchFamily="34" charset="0"/>
                <a:ea typeface="Calibri" pitchFamily="34" charset="-122"/>
                <a:cs typeface="Calibri" pitchFamily="34" charset="-120"/>
              </a:rPr>
              <a:t>Cranfield denemesi (2020)</a:t>
            </a:r>
            <a:endParaRPr lang="en-US" sz="1100" dirty="0"/>
          </a:p>
        </p:txBody>
      </p:sp>
      <p:sp>
        <p:nvSpPr>
          <p:cNvPr id="30" name="Shape 28"/>
          <p:cNvSpPr/>
          <p:nvPr/>
        </p:nvSpPr>
        <p:spPr>
          <a:xfrm>
            <a:off x="4608576" y="3538728"/>
            <a:ext cx="274320" cy="274320"/>
          </a:xfrm>
          <a:prstGeom prst="ellipse">
            <a:avLst/>
          </a:prstGeom>
          <a:solidFill>
            <a:srgbClr val="FFFFFF"/>
          </a:solidFill>
          <a:ln w="15875">
            <a:solidFill>
              <a:srgbClr val="B8C4D0"/>
            </a:solidFill>
            <a:prstDash val="solid"/>
          </a:ln>
        </p:spPr>
      </p:sp>
      <p:sp>
        <p:nvSpPr>
          <p:cNvPr id="31" name="Shape 29"/>
          <p:cNvSpPr/>
          <p:nvPr/>
        </p:nvSpPr>
        <p:spPr>
          <a:xfrm>
            <a:off x="5862858" y="3538728"/>
            <a:ext cx="274320" cy="274320"/>
          </a:xfrm>
          <a:prstGeom prst="ellipse">
            <a:avLst/>
          </a:prstGeom>
          <a:solidFill>
            <a:srgbClr val="3E9A31"/>
          </a:solidFill>
          <a:ln w="15875">
            <a:solidFill>
              <a:srgbClr val="3E9A31"/>
            </a:solidFill>
            <a:prstDash val="solid"/>
          </a:ln>
        </p:spPr>
      </p:sp>
      <p:sp>
        <p:nvSpPr>
          <p:cNvPr id="32" name="Shape 30"/>
          <p:cNvSpPr/>
          <p:nvPr/>
        </p:nvSpPr>
        <p:spPr>
          <a:xfrm>
            <a:off x="7117141" y="3538728"/>
            <a:ext cx="274320" cy="274320"/>
          </a:xfrm>
          <a:prstGeom prst="ellipse">
            <a:avLst/>
          </a:prstGeom>
          <a:solidFill>
            <a:srgbClr val="FFFFFF"/>
          </a:solidFill>
          <a:ln w="15875">
            <a:solidFill>
              <a:srgbClr val="B8C4D0"/>
            </a:solidFill>
            <a:prstDash val="solid"/>
          </a:ln>
        </p:spPr>
      </p:sp>
      <p:sp>
        <p:nvSpPr>
          <p:cNvPr id="33" name="Shape 31"/>
          <p:cNvSpPr/>
          <p:nvPr/>
        </p:nvSpPr>
        <p:spPr>
          <a:xfrm>
            <a:off x="8371423" y="3538728"/>
            <a:ext cx="274320" cy="274320"/>
          </a:xfrm>
          <a:prstGeom prst="ellipse">
            <a:avLst/>
          </a:prstGeom>
          <a:solidFill>
            <a:srgbClr val="FFFFFF"/>
          </a:solidFill>
          <a:ln w="15875">
            <a:solidFill>
              <a:srgbClr val="B8C4D0"/>
            </a:solidFill>
            <a:prstDash val="solid"/>
          </a:ln>
        </p:spPr>
      </p:sp>
      <p:sp>
        <p:nvSpPr>
          <p:cNvPr id="34" name="Shape 32"/>
          <p:cNvSpPr/>
          <p:nvPr/>
        </p:nvSpPr>
        <p:spPr>
          <a:xfrm>
            <a:off x="9625706" y="3538728"/>
            <a:ext cx="274320" cy="274320"/>
          </a:xfrm>
          <a:prstGeom prst="ellipse">
            <a:avLst/>
          </a:prstGeom>
          <a:solidFill>
            <a:srgbClr val="3E9A31"/>
          </a:solidFill>
          <a:ln w="15875">
            <a:solidFill>
              <a:srgbClr val="3E9A31"/>
            </a:solidFill>
            <a:prstDash val="solid"/>
          </a:ln>
        </p:spPr>
      </p:sp>
      <p:sp>
        <p:nvSpPr>
          <p:cNvPr id="35" name="Shape 33"/>
          <p:cNvSpPr/>
          <p:nvPr/>
        </p:nvSpPr>
        <p:spPr>
          <a:xfrm>
            <a:off x="10879988" y="3538728"/>
            <a:ext cx="274320" cy="274320"/>
          </a:xfrm>
          <a:prstGeom prst="ellipse">
            <a:avLst/>
          </a:prstGeom>
          <a:solidFill>
            <a:srgbClr val="FFFFFF"/>
          </a:solidFill>
          <a:ln w="15875">
            <a:solidFill>
              <a:srgbClr val="B8C4D0"/>
            </a:solidFill>
            <a:prstDash val="solid"/>
          </a:ln>
        </p:spPr>
      </p:sp>
      <p:sp>
        <p:nvSpPr>
          <p:cNvPr id="36" name="Shape 34"/>
          <p:cNvSpPr/>
          <p:nvPr/>
        </p:nvSpPr>
        <p:spPr>
          <a:xfrm>
            <a:off x="548640" y="3968496"/>
            <a:ext cx="11091672" cy="914"/>
          </a:xfrm>
          <a:prstGeom prst="line">
            <a:avLst/>
          </a:prstGeom>
          <a:noFill/>
          <a:ln w="12700">
            <a:solidFill>
              <a:srgbClr val="DDE3EA"/>
            </a:solidFill>
            <a:prstDash val="solid"/>
          </a:ln>
        </p:spPr>
      </p:sp>
      <p:sp>
        <p:nvSpPr>
          <p:cNvPr id="37" name="Text 35"/>
          <p:cNvSpPr txBox="1"/>
          <p:nvPr/>
        </p:nvSpPr>
        <p:spPr>
          <a:xfrm>
            <a:off x="640080" y="4078224"/>
            <a:ext cx="3383280" cy="329184"/>
          </a:xfrm>
          <a:prstGeom prst="rect">
            <a:avLst/>
          </a:prstGeom>
          <a:noFill/>
          <a:ln/>
        </p:spPr>
        <p:txBody>
          <a:bodyPr wrap="square" lIns="0" tIns="0" rIns="0" bIns="0" rtlCol="0" anchor="t"/>
          <a:lstStyle/>
          <a:p>
            <a:pPr indent="0" marL="0">
              <a:buNone/>
            </a:pPr>
            <a:r>
              <a:rPr lang="en-US" sz="1500" b="1" dirty="0">
                <a:solidFill>
                  <a:srgbClr val="0B1E33"/>
                </a:solidFill>
                <a:latin typeface="Calibri" pitchFamily="34" charset="0"/>
                <a:ea typeface="Calibri" pitchFamily="34" charset="-122"/>
                <a:cs typeface="Calibri" pitchFamily="34" charset="-120"/>
              </a:rPr>
              <a:t>Araçla manuel denetim</a:t>
            </a:r>
            <a:endParaRPr lang="en-US" sz="1500" dirty="0"/>
          </a:p>
        </p:txBody>
      </p:sp>
      <p:sp>
        <p:nvSpPr>
          <p:cNvPr id="38" name="Text 36"/>
          <p:cNvSpPr txBox="1"/>
          <p:nvPr/>
        </p:nvSpPr>
        <p:spPr>
          <a:xfrm>
            <a:off x="640080" y="4370832"/>
            <a:ext cx="3383280" cy="237744"/>
          </a:xfrm>
          <a:prstGeom prst="rect">
            <a:avLst/>
          </a:prstGeom>
          <a:noFill/>
          <a:ln/>
        </p:spPr>
        <p:txBody>
          <a:bodyPr wrap="square" lIns="0" tIns="0" rIns="0" bIns="0" rtlCol="0" anchor="t"/>
          <a:lstStyle/>
          <a:p>
            <a:pPr indent="0" marL="0">
              <a:buNone/>
            </a:pPr>
            <a:r>
              <a:rPr lang="en-US" sz="1100" dirty="0">
                <a:solidFill>
                  <a:srgbClr val="5B6B7B"/>
                </a:solidFill>
                <a:latin typeface="Calibri" pitchFamily="34" charset="0"/>
                <a:ea typeface="Calibri" pitchFamily="34" charset="-122"/>
                <a:cs typeface="Calibri" pitchFamily="34" charset="-120"/>
              </a:rPr>
              <a:t>Bugünkü uygulama</a:t>
            </a:r>
            <a:endParaRPr lang="en-US" sz="1100" dirty="0"/>
          </a:p>
        </p:txBody>
      </p:sp>
      <p:sp>
        <p:nvSpPr>
          <p:cNvPr id="39" name="Shape 37"/>
          <p:cNvSpPr/>
          <p:nvPr/>
        </p:nvSpPr>
        <p:spPr>
          <a:xfrm>
            <a:off x="4608576" y="4178808"/>
            <a:ext cx="274320" cy="274320"/>
          </a:xfrm>
          <a:prstGeom prst="ellipse">
            <a:avLst/>
          </a:prstGeom>
          <a:solidFill>
            <a:srgbClr val="3E9A31"/>
          </a:solidFill>
          <a:ln w="15875">
            <a:solidFill>
              <a:srgbClr val="3E9A31"/>
            </a:solidFill>
            <a:prstDash val="solid"/>
          </a:ln>
        </p:spPr>
      </p:sp>
      <p:sp>
        <p:nvSpPr>
          <p:cNvPr id="40" name="Shape 38"/>
          <p:cNvSpPr/>
          <p:nvPr/>
        </p:nvSpPr>
        <p:spPr>
          <a:xfrm>
            <a:off x="5862858" y="4178808"/>
            <a:ext cx="274320" cy="274320"/>
          </a:xfrm>
          <a:prstGeom prst="ellipse">
            <a:avLst/>
          </a:prstGeom>
          <a:solidFill>
            <a:srgbClr val="3E9A31"/>
          </a:solidFill>
          <a:ln w="15875">
            <a:solidFill>
              <a:srgbClr val="3E9A31"/>
            </a:solidFill>
            <a:prstDash val="solid"/>
          </a:ln>
        </p:spPr>
      </p:sp>
      <p:sp>
        <p:nvSpPr>
          <p:cNvPr id="41" name="Shape 39"/>
          <p:cNvSpPr/>
          <p:nvPr/>
        </p:nvSpPr>
        <p:spPr>
          <a:xfrm>
            <a:off x="7117141" y="4178808"/>
            <a:ext cx="274320" cy="274320"/>
          </a:xfrm>
          <a:prstGeom prst="ellipse">
            <a:avLst/>
          </a:prstGeom>
          <a:solidFill>
            <a:srgbClr val="FFFFFF"/>
          </a:solidFill>
          <a:ln w="15875">
            <a:solidFill>
              <a:srgbClr val="B8C4D0"/>
            </a:solidFill>
            <a:prstDash val="solid"/>
          </a:ln>
        </p:spPr>
      </p:sp>
      <p:sp>
        <p:nvSpPr>
          <p:cNvPr id="42" name="Shape 40"/>
          <p:cNvSpPr/>
          <p:nvPr/>
        </p:nvSpPr>
        <p:spPr>
          <a:xfrm>
            <a:off x="8371423" y="4178808"/>
            <a:ext cx="274320" cy="274320"/>
          </a:xfrm>
          <a:prstGeom prst="ellipse">
            <a:avLst/>
          </a:prstGeom>
          <a:solidFill>
            <a:srgbClr val="FFFFFF"/>
          </a:solidFill>
          <a:ln w="15875">
            <a:solidFill>
              <a:srgbClr val="B8C4D0"/>
            </a:solidFill>
            <a:prstDash val="solid"/>
          </a:ln>
        </p:spPr>
      </p:sp>
      <p:sp>
        <p:nvSpPr>
          <p:cNvPr id="43" name="Shape 41"/>
          <p:cNvSpPr/>
          <p:nvPr/>
        </p:nvSpPr>
        <p:spPr>
          <a:xfrm>
            <a:off x="9625706" y="4178808"/>
            <a:ext cx="274320" cy="274320"/>
          </a:xfrm>
          <a:prstGeom prst="ellipse">
            <a:avLst/>
          </a:prstGeom>
          <a:solidFill>
            <a:srgbClr val="3E9A31"/>
          </a:solidFill>
          <a:ln w="15875">
            <a:solidFill>
              <a:srgbClr val="3E9A31"/>
            </a:solidFill>
            <a:prstDash val="solid"/>
          </a:ln>
        </p:spPr>
      </p:sp>
      <p:sp>
        <p:nvSpPr>
          <p:cNvPr id="44" name="Shape 42"/>
          <p:cNvSpPr/>
          <p:nvPr/>
        </p:nvSpPr>
        <p:spPr>
          <a:xfrm>
            <a:off x="10879988" y="4178808"/>
            <a:ext cx="274320" cy="274320"/>
          </a:xfrm>
          <a:prstGeom prst="ellipse">
            <a:avLst/>
          </a:prstGeom>
          <a:solidFill>
            <a:srgbClr val="FFFFFF"/>
          </a:solidFill>
          <a:ln w="15875">
            <a:solidFill>
              <a:srgbClr val="B8C4D0"/>
            </a:solidFill>
            <a:prstDash val="solid"/>
          </a:ln>
        </p:spPr>
      </p:sp>
      <p:sp>
        <p:nvSpPr>
          <p:cNvPr id="45" name="Shape 43"/>
          <p:cNvSpPr/>
          <p:nvPr/>
        </p:nvSpPr>
        <p:spPr>
          <a:xfrm>
            <a:off x="548640" y="4608576"/>
            <a:ext cx="11091672" cy="914"/>
          </a:xfrm>
          <a:prstGeom prst="line">
            <a:avLst/>
          </a:prstGeom>
          <a:noFill/>
          <a:ln w="12700">
            <a:solidFill>
              <a:srgbClr val="DDE3EA"/>
            </a:solidFill>
            <a:prstDash val="solid"/>
          </a:ln>
        </p:spPr>
      </p:sp>
      <p:sp>
        <p:nvSpPr>
          <p:cNvPr id="46" name="Shape 44"/>
          <p:cNvSpPr/>
          <p:nvPr/>
        </p:nvSpPr>
        <p:spPr>
          <a:xfrm>
            <a:off x="457200" y="4626864"/>
            <a:ext cx="11274552" cy="603504"/>
          </a:xfrm>
          <a:prstGeom prst="roundRect">
            <a:avLst>
              <a:gd name="adj" fmla="val 15152"/>
            </a:avLst>
          </a:prstGeom>
          <a:solidFill>
            <a:srgbClr val="EEF3F8"/>
          </a:solidFill>
          <a:ln w="6350">
            <a:solidFill>
              <a:srgbClr val="EEF3F8"/>
            </a:solidFill>
            <a:prstDash val="solid"/>
          </a:ln>
        </p:spPr>
      </p:sp>
      <p:sp>
        <p:nvSpPr>
          <p:cNvPr id="47" name="Text 45"/>
          <p:cNvSpPr txBox="1"/>
          <p:nvPr/>
        </p:nvSpPr>
        <p:spPr>
          <a:xfrm>
            <a:off x="640080" y="4718304"/>
            <a:ext cx="3383280" cy="329184"/>
          </a:xfrm>
          <a:prstGeom prst="rect">
            <a:avLst/>
          </a:prstGeom>
          <a:noFill/>
          <a:ln/>
        </p:spPr>
        <p:txBody>
          <a:bodyPr wrap="square" lIns="0" tIns="0" rIns="0" bIns="0" rtlCol="0" anchor="t"/>
          <a:lstStyle/>
          <a:p>
            <a:pPr indent="0" marL="0">
              <a:buNone/>
            </a:pPr>
            <a:r>
              <a:rPr lang="en-US" sz="1500" b="1" dirty="0">
                <a:solidFill>
                  <a:srgbClr val="1479C4"/>
                </a:solidFill>
                <a:latin typeface="Calibri" pitchFamily="34" charset="0"/>
                <a:ea typeface="Calibri" pitchFamily="34" charset="-122"/>
                <a:cs typeface="Calibri" pitchFamily="34" charset="-120"/>
              </a:rPr>
              <a:t>AERO-GUARD</a:t>
            </a:r>
            <a:endParaRPr lang="en-US" sz="1500" dirty="0"/>
          </a:p>
        </p:txBody>
      </p:sp>
      <p:sp>
        <p:nvSpPr>
          <p:cNvPr id="48" name="Text 46"/>
          <p:cNvSpPr txBox="1"/>
          <p:nvPr/>
        </p:nvSpPr>
        <p:spPr>
          <a:xfrm>
            <a:off x="640080" y="5010912"/>
            <a:ext cx="3383280" cy="237744"/>
          </a:xfrm>
          <a:prstGeom prst="rect">
            <a:avLst/>
          </a:prstGeom>
          <a:noFill/>
          <a:ln/>
        </p:spPr>
        <p:txBody>
          <a:bodyPr wrap="square" lIns="0" tIns="0" rIns="0" bIns="0" rtlCol="0" anchor="t"/>
          <a:lstStyle/>
          <a:p>
            <a:pPr indent="0" marL="0">
              <a:buNone/>
            </a:pPr>
            <a:r>
              <a:rPr lang="en-US" sz="1100" dirty="0">
                <a:solidFill>
                  <a:srgbClr val="5B6B7B"/>
                </a:solidFill>
                <a:latin typeface="Calibri" pitchFamily="34" charset="0"/>
                <a:ea typeface="Calibri" pitchFamily="34" charset="-122"/>
                <a:cs typeface="Calibri" pitchFamily="34" charset="-120"/>
              </a:rPr>
              <a:t>Bölgesel havalimanı kovanı</a:t>
            </a:r>
            <a:endParaRPr lang="en-US" sz="1100" dirty="0"/>
          </a:p>
        </p:txBody>
      </p:sp>
      <p:sp>
        <p:nvSpPr>
          <p:cNvPr id="49" name="Shape 47"/>
          <p:cNvSpPr/>
          <p:nvPr/>
        </p:nvSpPr>
        <p:spPr>
          <a:xfrm>
            <a:off x="4608576" y="4818888"/>
            <a:ext cx="274320" cy="274320"/>
          </a:xfrm>
          <a:prstGeom prst="ellipse">
            <a:avLst/>
          </a:prstGeom>
          <a:solidFill>
            <a:srgbClr val="1479C4"/>
          </a:solidFill>
          <a:ln w="15875">
            <a:solidFill>
              <a:srgbClr val="1479C4"/>
            </a:solidFill>
            <a:prstDash val="solid"/>
          </a:ln>
        </p:spPr>
      </p:sp>
      <p:sp>
        <p:nvSpPr>
          <p:cNvPr id="50" name="Shape 48"/>
          <p:cNvSpPr/>
          <p:nvPr/>
        </p:nvSpPr>
        <p:spPr>
          <a:xfrm>
            <a:off x="5862858" y="4818888"/>
            <a:ext cx="274320" cy="274320"/>
          </a:xfrm>
          <a:prstGeom prst="ellipse">
            <a:avLst/>
          </a:prstGeom>
          <a:solidFill>
            <a:srgbClr val="1479C4"/>
          </a:solidFill>
          <a:ln w="15875">
            <a:solidFill>
              <a:srgbClr val="1479C4"/>
            </a:solidFill>
            <a:prstDash val="solid"/>
          </a:ln>
        </p:spPr>
      </p:sp>
      <p:sp>
        <p:nvSpPr>
          <p:cNvPr id="51" name="Shape 49"/>
          <p:cNvSpPr/>
          <p:nvPr/>
        </p:nvSpPr>
        <p:spPr>
          <a:xfrm>
            <a:off x="7117141" y="4818888"/>
            <a:ext cx="274320" cy="274320"/>
          </a:xfrm>
          <a:prstGeom prst="ellipse">
            <a:avLst/>
          </a:prstGeom>
          <a:solidFill>
            <a:srgbClr val="1479C4"/>
          </a:solidFill>
          <a:ln w="15875">
            <a:solidFill>
              <a:srgbClr val="1479C4"/>
            </a:solidFill>
            <a:prstDash val="solid"/>
          </a:ln>
        </p:spPr>
      </p:sp>
      <p:sp>
        <p:nvSpPr>
          <p:cNvPr id="52" name="Shape 50"/>
          <p:cNvSpPr/>
          <p:nvPr/>
        </p:nvSpPr>
        <p:spPr>
          <a:xfrm>
            <a:off x="8371423" y="4818888"/>
            <a:ext cx="274320" cy="274320"/>
          </a:xfrm>
          <a:prstGeom prst="ellipse">
            <a:avLst/>
          </a:prstGeom>
          <a:solidFill>
            <a:srgbClr val="1479C4"/>
          </a:solidFill>
          <a:ln w="15875">
            <a:solidFill>
              <a:srgbClr val="1479C4"/>
            </a:solidFill>
            <a:prstDash val="solid"/>
          </a:ln>
        </p:spPr>
      </p:sp>
      <p:sp>
        <p:nvSpPr>
          <p:cNvPr id="53" name="Shape 51"/>
          <p:cNvSpPr/>
          <p:nvPr/>
        </p:nvSpPr>
        <p:spPr>
          <a:xfrm>
            <a:off x="9625706" y="4818888"/>
            <a:ext cx="274320" cy="274320"/>
          </a:xfrm>
          <a:prstGeom prst="ellipse">
            <a:avLst/>
          </a:prstGeom>
          <a:solidFill>
            <a:srgbClr val="1479C4"/>
          </a:solidFill>
          <a:ln w="15875">
            <a:solidFill>
              <a:srgbClr val="1479C4"/>
            </a:solidFill>
            <a:prstDash val="solid"/>
          </a:ln>
        </p:spPr>
      </p:sp>
      <p:sp>
        <p:nvSpPr>
          <p:cNvPr id="54" name="Shape 52"/>
          <p:cNvSpPr/>
          <p:nvPr/>
        </p:nvSpPr>
        <p:spPr>
          <a:xfrm>
            <a:off x="10879988" y="4818888"/>
            <a:ext cx="274320" cy="274320"/>
          </a:xfrm>
          <a:prstGeom prst="ellipse">
            <a:avLst/>
          </a:prstGeom>
          <a:solidFill>
            <a:srgbClr val="FFFFFF"/>
          </a:solidFill>
          <a:ln w="15875">
            <a:solidFill>
              <a:srgbClr val="B8C4D0"/>
            </a:solidFill>
            <a:prstDash val="solid"/>
          </a:ln>
        </p:spPr>
      </p:sp>
      <p:sp>
        <p:nvSpPr>
          <p:cNvPr id="55" name="Text 53"/>
          <p:cNvSpPr txBox="1"/>
          <p:nvPr/>
        </p:nvSpPr>
        <p:spPr>
          <a:xfrm>
            <a:off x="548640" y="5486400"/>
            <a:ext cx="11091672" cy="685800"/>
          </a:xfrm>
          <a:prstGeom prst="rect">
            <a:avLst/>
          </a:prstGeom>
          <a:noFill/>
          <a:ln/>
        </p:spPr>
        <p:txBody>
          <a:bodyPr wrap="square" lIns="0" tIns="0" rIns="0" bIns="0" rtlCol="0" anchor="t"/>
          <a:lstStyle/>
          <a:p>
            <a:pPr indent="0" marL="0">
              <a:buNone/>
            </a:pPr>
            <a:r>
              <a:rPr lang="en-US" sz="1400" b="1" dirty="0">
                <a:solidFill>
                  <a:srgbClr val="0B1E33"/>
                </a:solidFill>
                <a:latin typeface="Calibri" pitchFamily="34" charset="0"/>
                <a:ea typeface="Calibri" pitchFamily="34" charset="-122"/>
                <a:cs typeface="Calibri" pitchFamily="34" charset="-120"/>
              </a:rPr>
              <a:t>Dürüst sınır: </a:t>
            </a:r>
            <a:pPr indent="0" marL="0">
              <a:buNone/>
            </a:pPr>
            <a:r>
              <a:rPr lang="en-US" sz="1400" dirty="0">
                <a:solidFill>
                  <a:srgbClr val="1F2D3D"/>
                </a:solidFill>
                <a:latin typeface="Calibri" pitchFamily="34" charset="0"/>
                <a:ea typeface="Calibri" pitchFamily="34" charset="-122"/>
                <a:cs typeface="Calibri" pitchFamily="34" charset="-120"/>
              </a:rPr>
              <a:t>AERO-GUARD sürekli FOD izlemesi yapmaz; nöbetçi kameralar hareket anlarında pisti izler ama FOD radarı değildir. Günde birkaç hareketin olduğu pistte her hareketten önceki tarama, kullanıldığı anlar için aynı güvenceyi çok daha düşük maliyetle verir.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966960" cy="777240"/>
          </a:xfrm>
          <a:prstGeom prst="rect">
            <a:avLst/>
          </a:prstGeom>
          <a:noFill/>
          <a:ln/>
        </p:spPr>
        <p:txBody>
          <a:bodyPr wrap="square" lIns="0" tIns="0" rIns="0" bIns="0" rtlCol="0" anchor="ctr"/>
          <a:lstStyle/>
          <a:p>
            <a:pPr algn="l" indent="0" marL="0">
              <a:buNone/>
            </a:pPr>
            <a:r>
              <a:rPr lang="en-US" sz="3200" b="1" dirty="0">
                <a:solidFill>
                  <a:srgbClr val="0B1E33"/>
                </a:solidFill>
              </a:rPr>
              <a:t>Emniyet ilkesi: drone'un kendisi asla FOD olmamalı</a:t>
            </a:r>
            <a:endParaRPr lang="en-US" sz="3200" dirty="0"/>
          </a:p>
        </p:txBody>
      </p:sp>
      <p:sp>
        <p:nvSpPr>
          <p:cNvPr id="3" name="Shape 1"/>
          <p:cNvSpPr/>
          <p:nvPr/>
        </p:nvSpPr>
        <p:spPr>
          <a:xfrm>
            <a:off x="548640" y="1417320"/>
            <a:ext cx="3520440" cy="2103120"/>
          </a:xfrm>
          <a:prstGeom prst="roundRect">
            <a:avLst>
              <a:gd name="adj" fmla="val 5217"/>
            </a:avLst>
          </a:prstGeom>
          <a:solidFill>
            <a:srgbClr val="EEF3F8"/>
          </a:solidFill>
          <a:ln w="6350">
            <a:solidFill>
              <a:srgbClr val="EEF3F8"/>
            </a:solidFill>
            <a:prstDash val="solid"/>
          </a:ln>
        </p:spPr>
      </p:sp>
      <p:sp>
        <p:nvSpPr>
          <p:cNvPr id="4" name="Shape 2"/>
          <p:cNvSpPr/>
          <p:nvPr/>
        </p:nvSpPr>
        <p:spPr>
          <a:xfrm>
            <a:off x="822960" y="1691640"/>
            <a:ext cx="640080" cy="640080"/>
          </a:xfrm>
          <a:prstGeom prst="ellipse">
            <a:avLst/>
          </a:prstGeom>
          <a:solidFill>
            <a:srgbClr val="0B1E33"/>
          </a:solidFill>
          <a:ln w="6350">
            <a:solidFill>
              <a:srgbClr val="0B1E33"/>
            </a:solidFill>
            <a:prstDash val="solid"/>
          </a:ln>
        </p:spPr>
      </p:sp>
      <p:pic>
        <p:nvPicPr>
          <p:cNvPr id="5" name="Image 0" descr="preencoded.png">    </p:cNvPr>
          <p:cNvPicPr>
            <a:picLocks noChangeAspect="1"/>
          </p:cNvPicPr>
          <p:nvPr/>
        </p:nvPicPr>
        <p:blipFill>
          <a:blip r:embed="rId1"/>
          <a:stretch>
            <a:fillRect/>
          </a:stretch>
        </p:blipFill>
        <p:spPr>
          <a:xfrm>
            <a:off x="976579" y="1845259"/>
            <a:ext cx="332842" cy="332842"/>
          </a:xfrm>
          <a:prstGeom prst="rect">
            <a:avLst/>
          </a:prstGeom>
        </p:spPr>
      </p:pic>
      <p:sp>
        <p:nvSpPr>
          <p:cNvPr id="6" name="Text 3"/>
          <p:cNvSpPr txBox="1"/>
          <p:nvPr/>
        </p:nvSpPr>
        <p:spPr>
          <a:xfrm>
            <a:off x="1600200" y="1719072"/>
            <a:ext cx="2331720" cy="594360"/>
          </a:xfrm>
          <a:prstGeom prst="rect">
            <a:avLst/>
          </a:prstGeom>
          <a:noFill/>
          <a:ln/>
        </p:spPr>
        <p:txBody>
          <a:bodyPr wrap="square" lIns="0" tIns="0" rIns="0" bIns="0" rtlCol="0" anchor="ctr"/>
          <a:lstStyle/>
          <a:p>
            <a:pPr indent="0" marL="0">
              <a:buNone/>
            </a:pPr>
            <a:r>
              <a:rPr lang="en-US" sz="1700" b="1" dirty="0">
                <a:solidFill>
                  <a:srgbClr val="0B1E33"/>
                </a:solidFill>
                <a:latin typeface="Calibri" pitchFamily="34" charset="0"/>
                <a:ea typeface="Calibri" pitchFamily="34" charset="-122"/>
                <a:cs typeface="Calibri" pitchFamily="34" charset="-120"/>
              </a:rPr>
              <a:t>Kule onayı</a:t>
            </a:r>
            <a:endParaRPr lang="en-US" sz="1700" dirty="0"/>
          </a:p>
        </p:txBody>
      </p:sp>
      <p:sp>
        <p:nvSpPr>
          <p:cNvPr id="7" name="Text 4"/>
          <p:cNvSpPr txBox="1"/>
          <p:nvPr/>
        </p:nvSpPr>
        <p:spPr>
          <a:xfrm>
            <a:off x="822960" y="2441448"/>
            <a:ext cx="3063240" cy="96012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Kule onaylamadan kalkış yok; kule her an iptal edip geri çağırabilir</a:t>
            </a:r>
            <a:endParaRPr lang="en-US" sz="1400" dirty="0"/>
          </a:p>
        </p:txBody>
      </p:sp>
      <p:sp>
        <p:nvSpPr>
          <p:cNvPr id="8" name="Shape 5"/>
          <p:cNvSpPr/>
          <p:nvPr/>
        </p:nvSpPr>
        <p:spPr>
          <a:xfrm>
            <a:off x="4343400" y="1417320"/>
            <a:ext cx="3520440" cy="2103120"/>
          </a:xfrm>
          <a:prstGeom prst="roundRect">
            <a:avLst>
              <a:gd name="adj" fmla="val 5217"/>
            </a:avLst>
          </a:prstGeom>
          <a:solidFill>
            <a:srgbClr val="EEF3F8"/>
          </a:solidFill>
          <a:ln w="6350">
            <a:solidFill>
              <a:srgbClr val="EEF3F8"/>
            </a:solidFill>
            <a:prstDash val="solid"/>
          </a:ln>
        </p:spPr>
      </p:sp>
      <p:sp>
        <p:nvSpPr>
          <p:cNvPr id="9" name="Shape 6"/>
          <p:cNvSpPr/>
          <p:nvPr/>
        </p:nvSpPr>
        <p:spPr>
          <a:xfrm>
            <a:off x="4617720" y="1691640"/>
            <a:ext cx="640080" cy="640080"/>
          </a:xfrm>
          <a:prstGeom prst="ellipse">
            <a:avLst/>
          </a:prstGeom>
          <a:solidFill>
            <a:srgbClr val="0B1E33"/>
          </a:solidFill>
          <a:ln w="6350">
            <a:solidFill>
              <a:srgbClr val="0B1E33"/>
            </a:solidFill>
            <a:prstDash val="solid"/>
          </a:ln>
        </p:spPr>
      </p:sp>
      <p:pic>
        <p:nvPicPr>
          <p:cNvPr id="10" name="Image 1" descr="preencoded.png">    </p:cNvPr>
          <p:cNvPicPr>
            <a:picLocks noChangeAspect="1"/>
          </p:cNvPicPr>
          <p:nvPr/>
        </p:nvPicPr>
        <p:blipFill>
          <a:blip r:embed="rId2"/>
          <a:stretch>
            <a:fillRect/>
          </a:stretch>
        </p:blipFill>
        <p:spPr>
          <a:xfrm>
            <a:off x="4771339" y="1845259"/>
            <a:ext cx="332842" cy="332842"/>
          </a:xfrm>
          <a:prstGeom prst="rect">
            <a:avLst/>
          </a:prstGeom>
        </p:spPr>
      </p:pic>
      <p:sp>
        <p:nvSpPr>
          <p:cNvPr id="11" name="Text 7"/>
          <p:cNvSpPr txBox="1"/>
          <p:nvPr/>
        </p:nvSpPr>
        <p:spPr>
          <a:xfrm>
            <a:off x="5394960" y="1719072"/>
            <a:ext cx="2331720" cy="594360"/>
          </a:xfrm>
          <a:prstGeom prst="rect">
            <a:avLst/>
          </a:prstGeom>
          <a:noFill/>
          <a:ln/>
        </p:spPr>
        <p:txBody>
          <a:bodyPr wrap="square" lIns="0" tIns="0" rIns="0" bIns="0" rtlCol="0" anchor="ctr"/>
          <a:lstStyle/>
          <a:p>
            <a:pPr indent="0" marL="0">
              <a:buNone/>
            </a:pPr>
            <a:r>
              <a:rPr lang="en-US" sz="1700" b="1" dirty="0">
                <a:solidFill>
                  <a:srgbClr val="0B1E33"/>
                </a:solidFill>
                <a:latin typeface="Calibri" pitchFamily="34" charset="0"/>
                <a:ea typeface="Calibri" pitchFamily="34" charset="-122"/>
                <a:cs typeface="Calibri" pitchFamily="34" charset="-120"/>
              </a:rPr>
              <a:t>Sanal sınır + ADS-B</a:t>
            </a:r>
            <a:endParaRPr lang="en-US" sz="1700" dirty="0"/>
          </a:p>
        </p:txBody>
      </p:sp>
      <p:sp>
        <p:nvSpPr>
          <p:cNvPr id="12" name="Text 8"/>
          <p:cNvSpPr txBox="1"/>
          <p:nvPr/>
        </p:nvSpPr>
        <p:spPr>
          <a:xfrm>
            <a:off x="4617720" y="2441448"/>
            <a:ext cx="3063240" cy="96012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30 m altında, görev alanında; yaklaşan uçağı algılar; hareketin ±5 dk'sında kimse uçmaz</a:t>
            </a:r>
            <a:endParaRPr lang="en-US" sz="1400" dirty="0"/>
          </a:p>
        </p:txBody>
      </p:sp>
      <p:sp>
        <p:nvSpPr>
          <p:cNvPr id="13" name="Shape 9"/>
          <p:cNvSpPr/>
          <p:nvPr/>
        </p:nvSpPr>
        <p:spPr>
          <a:xfrm>
            <a:off x="548640" y="3794760"/>
            <a:ext cx="3520440" cy="2103120"/>
          </a:xfrm>
          <a:prstGeom prst="roundRect">
            <a:avLst>
              <a:gd name="adj" fmla="val 5217"/>
            </a:avLst>
          </a:prstGeom>
          <a:solidFill>
            <a:srgbClr val="EEF3F8"/>
          </a:solidFill>
          <a:ln w="6350">
            <a:solidFill>
              <a:srgbClr val="EEF3F8"/>
            </a:solidFill>
            <a:prstDash val="solid"/>
          </a:ln>
        </p:spPr>
      </p:sp>
      <p:sp>
        <p:nvSpPr>
          <p:cNvPr id="14" name="Shape 10"/>
          <p:cNvSpPr/>
          <p:nvPr/>
        </p:nvSpPr>
        <p:spPr>
          <a:xfrm>
            <a:off x="822960" y="4069080"/>
            <a:ext cx="640080" cy="640080"/>
          </a:xfrm>
          <a:prstGeom prst="ellipse">
            <a:avLst/>
          </a:prstGeom>
          <a:solidFill>
            <a:srgbClr val="0B1E33"/>
          </a:solidFill>
          <a:ln w="6350">
            <a:solidFill>
              <a:srgbClr val="0B1E33"/>
            </a:solidFill>
            <a:prstDash val="solid"/>
          </a:ln>
        </p:spPr>
      </p:sp>
      <p:pic>
        <p:nvPicPr>
          <p:cNvPr id="15" name="Image 2" descr="preencoded.png">    </p:cNvPr>
          <p:cNvPicPr>
            <a:picLocks noChangeAspect="1"/>
          </p:cNvPicPr>
          <p:nvPr/>
        </p:nvPicPr>
        <p:blipFill>
          <a:blip r:embed="rId3"/>
          <a:stretch>
            <a:fillRect/>
          </a:stretch>
        </p:blipFill>
        <p:spPr>
          <a:xfrm>
            <a:off x="976579" y="4222699"/>
            <a:ext cx="332842" cy="332842"/>
          </a:xfrm>
          <a:prstGeom prst="rect">
            <a:avLst/>
          </a:prstGeom>
        </p:spPr>
      </p:pic>
      <p:sp>
        <p:nvSpPr>
          <p:cNvPr id="16" name="Text 11"/>
          <p:cNvSpPr txBox="1"/>
          <p:nvPr/>
        </p:nvSpPr>
        <p:spPr>
          <a:xfrm>
            <a:off x="1600200" y="4096512"/>
            <a:ext cx="2331720" cy="594360"/>
          </a:xfrm>
          <a:prstGeom prst="rect">
            <a:avLst/>
          </a:prstGeom>
          <a:noFill/>
          <a:ln/>
        </p:spPr>
        <p:txBody>
          <a:bodyPr wrap="square" lIns="0" tIns="0" rIns="0" bIns="0" rtlCol="0" anchor="ctr"/>
          <a:lstStyle/>
          <a:p>
            <a:pPr indent="0" marL="0">
              <a:buNone/>
            </a:pPr>
            <a:r>
              <a:rPr lang="en-US" sz="1700" b="1" dirty="0">
                <a:solidFill>
                  <a:srgbClr val="0B1E33"/>
                </a:solidFill>
                <a:latin typeface="Calibri" pitchFamily="34" charset="0"/>
                <a:ea typeface="Calibri" pitchFamily="34" charset="-122"/>
                <a:cs typeface="Calibri" pitchFamily="34" charset="-120"/>
              </a:rPr>
              <a:t>Arızada pist dışına iniş</a:t>
            </a:r>
            <a:endParaRPr lang="en-US" sz="1700" dirty="0"/>
          </a:p>
        </p:txBody>
      </p:sp>
      <p:sp>
        <p:nvSpPr>
          <p:cNvPr id="17" name="Text 12"/>
          <p:cNvSpPr txBox="1"/>
          <p:nvPr/>
        </p:nvSpPr>
        <p:spPr>
          <a:xfrm>
            <a:off x="822960" y="4818888"/>
            <a:ext cx="3063240" cy="96012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Acil iniş noktaları; indiği yer FOD bildirimi; her kalkış öncesi pervane kontrolü</a:t>
            </a:r>
            <a:endParaRPr lang="en-US" sz="1400" dirty="0"/>
          </a:p>
        </p:txBody>
      </p:sp>
      <p:sp>
        <p:nvSpPr>
          <p:cNvPr id="18" name="Shape 13"/>
          <p:cNvSpPr/>
          <p:nvPr/>
        </p:nvSpPr>
        <p:spPr>
          <a:xfrm>
            <a:off x="4343400" y="3794760"/>
            <a:ext cx="3520440" cy="2103120"/>
          </a:xfrm>
          <a:prstGeom prst="roundRect">
            <a:avLst>
              <a:gd name="adj" fmla="val 5217"/>
            </a:avLst>
          </a:prstGeom>
          <a:solidFill>
            <a:srgbClr val="EEF3F8"/>
          </a:solidFill>
          <a:ln w="6350">
            <a:solidFill>
              <a:srgbClr val="EEF3F8"/>
            </a:solidFill>
            <a:prstDash val="solid"/>
          </a:ln>
        </p:spPr>
      </p:sp>
      <p:sp>
        <p:nvSpPr>
          <p:cNvPr id="19" name="Shape 14"/>
          <p:cNvSpPr/>
          <p:nvPr/>
        </p:nvSpPr>
        <p:spPr>
          <a:xfrm>
            <a:off x="4617720" y="4069080"/>
            <a:ext cx="640080" cy="640080"/>
          </a:xfrm>
          <a:prstGeom prst="ellipse">
            <a:avLst/>
          </a:prstGeom>
          <a:solidFill>
            <a:srgbClr val="0B1E33"/>
          </a:solidFill>
          <a:ln w="6350">
            <a:solidFill>
              <a:srgbClr val="0B1E33"/>
            </a:solidFill>
            <a:prstDash val="solid"/>
          </a:ln>
        </p:spPr>
      </p:sp>
      <p:pic>
        <p:nvPicPr>
          <p:cNvPr id="20" name="Image 3" descr="preencoded.png">    </p:cNvPr>
          <p:cNvPicPr>
            <a:picLocks noChangeAspect="1"/>
          </p:cNvPicPr>
          <p:nvPr/>
        </p:nvPicPr>
        <p:blipFill>
          <a:blip r:embed="rId4"/>
          <a:stretch>
            <a:fillRect/>
          </a:stretch>
        </p:blipFill>
        <p:spPr>
          <a:xfrm>
            <a:off x="4771339" y="4222699"/>
            <a:ext cx="332842" cy="332842"/>
          </a:xfrm>
          <a:prstGeom prst="rect">
            <a:avLst/>
          </a:prstGeom>
        </p:spPr>
      </p:pic>
      <p:sp>
        <p:nvSpPr>
          <p:cNvPr id="21" name="Text 15"/>
          <p:cNvSpPr txBox="1"/>
          <p:nvPr/>
        </p:nvSpPr>
        <p:spPr>
          <a:xfrm>
            <a:off x="5394960" y="4096512"/>
            <a:ext cx="2331720" cy="594360"/>
          </a:xfrm>
          <a:prstGeom prst="rect">
            <a:avLst/>
          </a:prstGeom>
          <a:noFill/>
          <a:ln/>
        </p:spPr>
        <p:txBody>
          <a:bodyPr wrap="square" lIns="0" tIns="0" rIns="0" bIns="0" rtlCol="0" anchor="ctr"/>
          <a:lstStyle/>
          <a:p>
            <a:pPr indent="0" marL="0">
              <a:buNone/>
            </a:pPr>
            <a:r>
              <a:rPr lang="en-US" sz="1700" b="1" dirty="0">
                <a:solidFill>
                  <a:srgbClr val="0B1E33"/>
                </a:solidFill>
                <a:latin typeface="Calibri" pitchFamily="34" charset="0"/>
                <a:ea typeface="Calibri" pitchFamily="34" charset="-122"/>
                <a:cs typeface="Calibri" pitchFamily="34" charset="-120"/>
              </a:rPr>
              <a:t>Veri sahada kalır</a:t>
            </a:r>
            <a:endParaRPr lang="en-US" sz="1700" dirty="0"/>
          </a:p>
        </p:txBody>
      </p:sp>
      <p:sp>
        <p:nvSpPr>
          <p:cNvPr id="22" name="Text 16"/>
          <p:cNvSpPr txBox="1"/>
          <p:nvPr/>
        </p:nvSpPr>
        <p:spPr>
          <a:xfrm>
            <a:off x="4617720" y="4818888"/>
            <a:ext cx="3063240" cy="96012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Sivil–askeri havalimanı: görüntüler kenar sunucuda; bağlantı şifreli ve frekans atlamalı</a:t>
            </a:r>
            <a:endParaRPr lang="en-US" sz="1400" dirty="0"/>
          </a:p>
        </p:txBody>
      </p:sp>
      <p:sp>
        <p:nvSpPr>
          <p:cNvPr id="23" name="Shape 17"/>
          <p:cNvSpPr/>
          <p:nvPr/>
        </p:nvSpPr>
        <p:spPr>
          <a:xfrm>
            <a:off x="8138160" y="1417320"/>
            <a:ext cx="3502152" cy="4480560"/>
          </a:xfrm>
          <a:prstGeom prst="roundRect">
            <a:avLst>
              <a:gd name="adj" fmla="val 3133"/>
            </a:avLst>
          </a:prstGeom>
          <a:solidFill>
            <a:srgbClr val="0B1E33"/>
          </a:solidFill>
          <a:ln w="6350">
            <a:solidFill>
              <a:srgbClr val="0B1E33"/>
            </a:solidFill>
            <a:prstDash val="solid"/>
          </a:ln>
        </p:spPr>
      </p:sp>
      <p:sp>
        <p:nvSpPr>
          <p:cNvPr id="24" name="Text 18"/>
          <p:cNvSpPr txBox="1"/>
          <p:nvPr/>
        </p:nvSpPr>
        <p:spPr>
          <a:xfrm>
            <a:off x="8458200" y="1645920"/>
            <a:ext cx="2862072" cy="4114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Regülasyon çerçevesi</a:t>
            </a:r>
            <a:endParaRPr lang="en-US" sz="1800" dirty="0"/>
          </a:p>
        </p:txBody>
      </p:sp>
      <p:sp>
        <p:nvSpPr>
          <p:cNvPr id="25" name="Text 19"/>
          <p:cNvSpPr txBox="1"/>
          <p:nvPr/>
        </p:nvSpPr>
        <p:spPr>
          <a:xfrm>
            <a:off x="8458200" y="2148840"/>
            <a:ext cx="3017520" cy="2514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EEF3F8"/>
                </a:solidFill>
                <a:latin typeface="Calibri" pitchFamily="34" charset="0"/>
                <a:ea typeface="Calibri" pitchFamily="34" charset="-122"/>
                <a:cs typeface="Calibri" pitchFamily="34" charset="-120"/>
              </a:rPr>
              <a:t>ICAO Ek 14 · tasarım ve işletim</a:t>
            </a:r>
            <a:endParaRPr lang="en-US" sz="1300" dirty="0"/>
          </a:p>
          <a:p>
            <a:pPr marL="342900" indent="-342900">
              <a:spcAft>
                <a:spcPts val="400"/>
              </a:spcAft>
              <a:buSzPct val="100000"/>
              <a:buChar char="•"/>
            </a:pPr>
            <a:r>
              <a:rPr lang="en-US" sz="1300" dirty="0">
                <a:solidFill>
                  <a:srgbClr val="EEF3F8"/>
                </a:solidFill>
                <a:latin typeface="Calibri" pitchFamily="34" charset="0"/>
                <a:ea typeface="Calibri" pitchFamily="34" charset="-122"/>
                <a:cs typeface="Calibri" pitchFamily="34" charset="-120"/>
              </a:rPr>
              <a:t>ICAO GRF · pist durumu raporlaması</a:t>
            </a:r>
            <a:endParaRPr lang="en-US" sz="1300" dirty="0"/>
          </a:p>
          <a:p>
            <a:pPr marL="342900" indent="-342900">
              <a:spcAft>
                <a:spcPts val="400"/>
              </a:spcAft>
              <a:buSzPct val="100000"/>
              <a:buChar char="•"/>
            </a:pPr>
            <a:r>
              <a:rPr lang="en-US" sz="1300" dirty="0">
                <a:solidFill>
                  <a:srgbClr val="EEF3F8"/>
                </a:solidFill>
                <a:latin typeface="Calibri" pitchFamily="34" charset="0"/>
                <a:ea typeface="Calibri" pitchFamily="34" charset="-122"/>
                <a:cs typeface="Calibri" pitchFamily="34" charset="-120"/>
              </a:rPr>
              <a:t>SHGM İHA Talimatı (SHT-İHA)</a:t>
            </a:r>
            <a:endParaRPr lang="en-US" sz="1300" dirty="0"/>
          </a:p>
          <a:p>
            <a:pPr marL="342900" indent="-342900">
              <a:spcAft>
                <a:spcPts val="400"/>
              </a:spcAft>
              <a:buSzPct val="100000"/>
              <a:buChar char="•"/>
            </a:pPr>
            <a:r>
              <a:rPr lang="en-US" sz="1300" dirty="0">
                <a:solidFill>
                  <a:srgbClr val="EEF3F8"/>
                </a:solidFill>
                <a:latin typeface="Calibri" pitchFamily="34" charset="0"/>
                <a:ea typeface="Calibri" pitchFamily="34" charset="-122"/>
                <a:cs typeface="Calibri" pitchFamily="34" charset="-120"/>
              </a:rPr>
              <a:t>DHMİ mânia görüşü (türbin, petek)</a:t>
            </a:r>
            <a:endParaRPr lang="en-US" sz="1300" dirty="0"/>
          </a:p>
          <a:p>
            <a:pPr marL="342900" indent="-342900">
              <a:spcAft>
                <a:spcPts val="400"/>
              </a:spcAft>
              <a:buSzPct val="100000"/>
              <a:buChar char="•"/>
            </a:pPr>
            <a:r>
              <a:rPr lang="en-US" sz="1300" dirty="0">
                <a:solidFill>
                  <a:srgbClr val="EEF3F8"/>
                </a:solidFill>
                <a:latin typeface="Calibri" pitchFamily="34" charset="0"/>
                <a:ea typeface="Calibri" pitchFamily="34" charset="-122"/>
                <a:cs typeface="Calibri" pitchFamily="34" charset="-120"/>
              </a:rPr>
              <a:t>JARUS SORA · her kast için ayrı</a:t>
            </a:r>
            <a:endParaRPr lang="en-US" sz="1300" dirty="0"/>
          </a:p>
          <a:p>
            <a:pPr marL="342900" indent="-342900">
              <a:spcAft>
                <a:spcPts val="400"/>
              </a:spcAft>
              <a:buSzPct val="100000"/>
              <a:buChar char="•"/>
            </a:pPr>
            <a:r>
              <a:rPr lang="en-US" sz="1300" dirty="0">
                <a:solidFill>
                  <a:srgbClr val="EEF3F8"/>
                </a:solidFill>
                <a:latin typeface="Calibri" pitchFamily="34" charset="0"/>
                <a:ea typeface="Calibri" pitchFamily="34" charset="-122"/>
                <a:cs typeface="Calibri" pitchFamily="34" charset="-120"/>
              </a:rPr>
              <a:t>EASA SIB 2022-02 · GNSS girişimi</a:t>
            </a:r>
            <a:endParaRPr lang="en-US" sz="1300" dirty="0"/>
          </a:p>
          <a:p>
            <a:pPr marL="342900" indent="-342900">
              <a:spcAft>
                <a:spcPts val="400"/>
              </a:spcAft>
              <a:buSzPct val="100000"/>
              <a:buChar char="•"/>
            </a:pPr>
            <a:r>
              <a:rPr lang="en-US" sz="1300" dirty="0">
                <a:solidFill>
                  <a:srgbClr val="EEF3F8"/>
                </a:solidFill>
                <a:latin typeface="Calibri" pitchFamily="34" charset="0"/>
                <a:ea typeface="Calibri" pitchFamily="34" charset="-122"/>
                <a:cs typeface="Calibri" pitchFamily="34" charset="-120"/>
              </a:rPr>
              <a:t>BTK · frekans koordinasyonu</a:t>
            </a:r>
            <a:endParaRPr lang="en-US" sz="1300" dirty="0"/>
          </a:p>
        </p:txBody>
      </p:sp>
      <p:sp>
        <p:nvSpPr>
          <p:cNvPr id="26" name="Text 20"/>
          <p:cNvSpPr txBox="1"/>
          <p:nvPr/>
        </p:nvSpPr>
        <p:spPr>
          <a:xfrm>
            <a:off x="8458200" y="4754880"/>
            <a:ext cx="2926080" cy="1005840"/>
          </a:xfrm>
          <a:prstGeom prst="rect">
            <a:avLst/>
          </a:prstGeom>
          <a:noFill/>
          <a:ln/>
        </p:spPr>
        <p:txBody>
          <a:bodyPr wrap="square" lIns="0" tIns="0" rIns="0" bIns="0" rtlCol="0" anchor="t"/>
          <a:lstStyle/>
          <a:p>
            <a:pPr indent="0" marL="0">
              <a:buNone/>
            </a:pPr>
            <a:r>
              <a:rPr lang="en-US" sz="1300" b="1" dirty="0">
                <a:solidFill>
                  <a:srgbClr val="E8A317"/>
                </a:solidFill>
                <a:latin typeface="Calibri" pitchFamily="34" charset="0"/>
                <a:ea typeface="Calibri" pitchFamily="34" charset="-122"/>
                <a:cs typeface="Calibri" pitchFamily="34" charset="-120"/>
              </a:rPr>
              <a:t>Rüzgâr 8 m/s'yi aşarsa ya da dondurucu yağış veya sis varsa görev başlamaz; denetim bugünkü gibi araçla yapılır.</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966960" cy="777240"/>
          </a:xfrm>
          <a:prstGeom prst="rect">
            <a:avLst/>
          </a:prstGeom>
          <a:noFill/>
          <a:ln/>
        </p:spPr>
        <p:txBody>
          <a:bodyPr wrap="square" lIns="0" tIns="0" rIns="0" bIns="0" rtlCol="0" anchor="ctr"/>
          <a:lstStyle/>
          <a:p>
            <a:pPr algn="l" indent="0" marL="0">
              <a:buNone/>
            </a:pPr>
            <a:r>
              <a:rPr lang="en-US" sz="3200" b="1" dirty="0">
                <a:solidFill>
                  <a:srgbClr val="0B1E33"/>
                </a:solidFill>
              </a:rPr>
              <a:t>Kovan boyuna göre maliyet: hizmet olarak drone</a:t>
            </a:r>
            <a:endParaRPr lang="en-US" sz="3200" dirty="0"/>
          </a:p>
        </p:txBody>
      </p:sp>
      <p:sp>
        <p:nvSpPr>
          <p:cNvPr id="3" name="Shape 1"/>
          <p:cNvSpPr/>
          <p:nvPr/>
        </p:nvSpPr>
        <p:spPr>
          <a:xfrm>
            <a:off x="548640" y="1417320"/>
            <a:ext cx="5120640" cy="1280160"/>
          </a:xfrm>
          <a:prstGeom prst="roundRect">
            <a:avLst>
              <a:gd name="adj" fmla="val 8571"/>
            </a:avLst>
          </a:prstGeom>
          <a:solidFill>
            <a:srgbClr val="EEF3F8"/>
          </a:solidFill>
          <a:ln w="6350">
            <a:solidFill>
              <a:srgbClr val="EEF3F8"/>
            </a:solidFill>
            <a:prstDash val="solid"/>
          </a:ln>
        </p:spPr>
      </p:sp>
      <p:sp>
        <p:nvSpPr>
          <p:cNvPr id="4" name="Text 2"/>
          <p:cNvSpPr txBox="1"/>
          <p:nvPr/>
        </p:nvSpPr>
        <p:spPr>
          <a:xfrm>
            <a:off x="822960" y="1527048"/>
            <a:ext cx="2377440" cy="640080"/>
          </a:xfrm>
          <a:prstGeom prst="rect">
            <a:avLst/>
          </a:prstGeom>
          <a:noFill/>
          <a:ln/>
        </p:spPr>
        <p:txBody>
          <a:bodyPr wrap="square" lIns="0" tIns="0" rIns="0" bIns="0" rtlCol="0" anchor="ctr"/>
          <a:lstStyle/>
          <a:p>
            <a:pPr indent="0" marL="0">
              <a:buNone/>
            </a:pPr>
            <a:r>
              <a:rPr lang="en-US" sz="3200" b="1" dirty="0">
                <a:solidFill>
                  <a:srgbClr val="1479C4"/>
                </a:solidFill>
                <a:latin typeface="Calibri" pitchFamily="34" charset="0"/>
                <a:ea typeface="Calibri" pitchFamily="34" charset="-122"/>
                <a:cs typeface="Calibri" pitchFamily="34" charset="-120"/>
              </a:rPr>
              <a:t>≈124 bin $</a:t>
            </a:r>
            <a:endParaRPr lang="en-US" sz="3200" dirty="0"/>
          </a:p>
        </p:txBody>
      </p:sp>
      <p:sp>
        <p:nvSpPr>
          <p:cNvPr id="5" name="Text 3"/>
          <p:cNvSpPr txBox="1"/>
          <p:nvPr/>
        </p:nvSpPr>
        <p:spPr>
          <a:xfrm>
            <a:off x="3108960" y="1600200"/>
            <a:ext cx="2423160" cy="548640"/>
          </a:xfrm>
          <a:prstGeom prst="rect">
            <a:avLst/>
          </a:prstGeom>
          <a:noFill/>
          <a:ln/>
        </p:spPr>
        <p:txBody>
          <a:bodyPr wrap="square" lIns="0" tIns="0" rIns="0" bIns="0" rtlCol="0" anchor="ctr"/>
          <a:lstStyle/>
          <a:p>
            <a:pPr indent="0" marL="0">
              <a:buNone/>
            </a:pPr>
            <a:r>
              <a:rPr lang="en-US" sz="1500" b="1" dirty="0">
                <a:solidFill>
                  <a:srgbClr val="0B1E33"/>
                </a:solidFill>
                <a:latin typeface="Calibri" pitchFamily="34" charset="0"/>
                <a:ea typeface="Calibri" pitchFamily="34" charset="-122"/>
                <a:cs typeface="Calibri" pitchFamily="34" charset="-120"/>
              </a:rPr>
              <a:t>Mini kovan</a:t>
            </a:r>
            <a:endParaRPr lang="en-US" sz="1500" dirty="0"/>
          </a:p>
        </p:txBody>
      </p:sp>
      <p:sp>
        <p:nvSpPr>
          <p:cNvPr id="6" name="Text 4"/>
          <p:cNvSpPr txBox="1"/>
          <p:nvPr/>
        </p:nvSpPr>
        <p:spPr>
          <a:xfrm>
            <a:off x="822960" y="2185416"/>
            <a:ext cx="4709160" cy="411480"/>
          </a:xfrm>
          <a:prstGeom prst="rect">
            <a:avLst/>
          </a:prstGeom>
          <a:noFill/>
          <a:ln/>
        </p:spPr>
        <p:txBody>
          <a:bodyPr wrap="square" lIns="0" tIns="0" rIns="0" bIns="0" rtlCol="0" anchor="t"/>
          <a:lstStyle/>
          <a:p>
            <a:pPr indent="0" marL="0">
              <a:buNone/>
            </a:pPr>
            <a:r>
              <a:rPr lang="en-US" sz="1300" dirty="0">
                <a:solidFill>
                  <a:srgbClr val="1F2D3D"/>
                </a:solidFill>
                <a:latin typeface="Calibri" pitchFamily="34" charset="0"/>
                <a:ea typeface="Calibri" pitchFamily="34" charset="-122"/>
                <a:cs typeface="Calibri" pitchFamily="34" charset="-120"/>
              </a:rPr>
              <a:t>2 kâşif · beş yıla yayılmış ≈39 bin $/yıl</a:t>
            </a:r>
            <a:endParaRPr lang="en-US" sz="1300" dirty="0"/>
          </a:p>
        </p:txBody>
      </p:sp>
      <p:sp>
        <p:nvSpPr>
          <p:cNvPr id="7" name="Shape 5"/>
          <p:cNvSpPr/>
          <p:nvPr/>
        </p:nvSpPr>
        <p:spPr>
          <a:xfrm>
            <a:off x="548640" y="2834640"/>
            <a:ext cx="5120640" cy="1280160"/>
          </a:xfrm>
          <a:prstGeom prst="roundRect">
            <a:avLst>
              <a:gd name="adj" fmla="val 8571"/>
            </a:avLst>
          </a:prstGeom>
          <a:solidFill>
            <a:srgbClr val="0B1E33"/>
          </a:solidFill>
          <a:ln w="6350">
            <a:solidFill>
              <a:srgbClr val="0B1E33"/>
            </a:solidFill>
            <a:prstDash val="solid"/>
          </a:ln>
        </p:spPr>
      </p:sp>
      <p:sp>
        <p:nvSpPr>
          <p:cNvPr id="8" name="Text 6"/>
          <p:cNvSpPr txBox="1"/>
          <p:nvPr/>
        </p:nvSpPr>
        <p:spPr>
          <a:xfrm>
            <a:off x="822960" y="2944368"/>
            <a:ext cx="237744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≈215 bin $</a:t>
            </a:r>
            <a:endParaRPr lang="en-US" sz="3200" dirty="0"/>
          </a:p>
        </p:txBody>
      </p:sp>
      <p:sp>
        <p:nvSpPr>
          <p:cNvPr id="9" name="Text 7"/>
          <p:cNvSpPr txBox="1"/>
          <p:nvPr/>
        </p:nvSpPr>
        <p:spPr>
          <a:xfrm>
            <a:off x="3108960" y="3017520"/>
            <a:ext cx="242316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Çanakkale kovanı (önerilen)</a:t>
            </a:r>
            <a:endParaRPr lang="en-US" sz="1500" dirty="0"/>
          </a:p>
        </p:txBody>
      </p:sp>
      <p:sp>
        <p:nvSpPr>
          <p:cNvPr id="10" name="Text 8"/>
          <p:cNvSpPr txBox="1"/>
          <p:nvPr/>
        </p:nvSpPr>
        <p:spPr>
          <a:xfrm>
            <a:off x="822960" y="3602736"/>
            <a:ext cx="4709160" cy="411480"/>
          </a:xfrm>
          <a:prstGeom prst="rect">
            <a:avLst/>
          </a:prstGeom>
          <a:noFill/>
          <a:ln/>
        </p:spPr>
        <p:txBody>
          <a:bodyPr wrap="square" lIns="0" tIns="0" rIns="0" bIns="0" rtlCol="0" anchor="t"/>
          <a:lstStyle/>
          <a:p>
            <a:pPr indent="0" marL="0">
              <a:buNone/>
            </a:pPr>
            <a:r>
              <a:rPr lang="en-US" sz="1300" dirty="0">
                <a:solidFill>
                  <a:srgbClr val="EEF3F8"/>
                </a:solidFill>
                <a:latin typeface="Calibri" pitchFamily="34" charset="0"/>
                <a:ea typeface="Calibri" pitchFamily="34" charset="-122"/>
                <a:cs typeface="Calibri" pitchFamily="34" charset="-120"/>
              </a:rPr>
              <a:t>4 drone + nöbetçiler + güvenli konum · ≈62 bin $/yıl</a:t>
            </a:r>
            <a:endParaRPr lang="en-US" sz="1300" dirty="0"/>
          </a:p>
        </p:txBody>
      </p:sp>
      <p:sp>
        <p:nvSpPr>
          <p:cNvPr id="11" name="Shape 9"/>
          <p:cNvSpPr/>
          <p:nvPr/>
        </p:nvSpPr>
        <p:spPr>
          <a:xfrm>
            <a:off x="548640" y="4251960"/>
            <a:ext cx="5120640" cy="1280160"/>
          </a:xfrm>
          <a:prstGeom prst="roundRect">
            <a:avLst>
              <a:gd name="adj" fmla="val 8571"/>
            </a:avLst>
          </a:prstGeom>
          <a:solidFill>
            <a:srgbClr val="EEF3F8"/>
          </a:solidFill>
          <a:ln w="6350">
            <a:solidFill>
              <a:srgbClr val="EEF3F8"/>
            </a:solidFill>
            <a:prstDash val="solid"/>
          </a:ln>
        </p:spPr>
      </p:sp>
      <p:sp>
        <p:nvSpPr>
          <p:cNvPr id="12" name="Text 10"/>
          <p:cNvSpPr txBox="1"/>
          <p:nvPr/>
        </p:nvSpPr>
        <p:spPr>
          <a:xfrm>
            <a:off x="822960" y="4361688"/>
            <a:ext cx="2377440" cy="640080"/>
          </a:xfrm>
          <a:prstGeom prst="rect">
            <a:avLst/>
          </a:prstGeom>
          <a:noFill/>
          <a:ln/>
        </p:spPr>
        <p:txBody>
          <a:bodyPr wrap="square" lIns="0" tIns="0" rIns="0" bIns="0" rtlCol="0" anchor="ctr"/>
          <a:lstStyle/>
          <a:p>
            <a:pPr indent="0" marL="0">
              <a:buNone/>
            </a:pPr>
            <a:r>
              <a:rPr lang="en-US" sz="3200" b="1" dirty="0">
                <a:solidFill>
                  <a:srgbClr val="7A4FB5"/>
                </a:solidFill>
                <a:latin typeface="Calibri" pitchFamily="34" charset="0"/>
                <a:ea typeface="Calibri" pitchFamily="34" charset="-122"/>
                <a:cs typeface="Calibri" pitchFamily="34" charset="-120"/>
              </a:rPr>
              <a:t>≈220 bin $</a:t>
            </a:r>
            <a:endParaRPr lang="en-US" sz="3200" dirty="0"/>
          </a:p>
        </p:txBody>
      </p:sp>
      <p:sp>
        <p:nvSpPr>
          <p:cNvPr id="13" name="Text 11"/>
          <p:cNvSpPr txBox="1"/>
          <p:nvPr/>
        </p:nvSpPr>
        <p:spPr>
          <a:xfrm>
            <a:off x="3108960" y="4434840"/>
            <a:ext cx="2423160" cy="548640"/>
          </a:xfrm>
          <a:prstGeom prst="rect">
            <a:avLst/>
          </a:prstGeom>
          <a:noFill/>
          <a:ln/>
        </p:spPr>
        <p:txBody>
          <a:bodyPr wrap="square" lIns="0" tIns="0" rIns="0" bIns="0" rtlCol="0" anchor="ctr"/>
          <a:lstStyle/>
          <a:p>
            <a:pPr indent="0" marL="0">
              <a:buNone/>
            </a:pPr>
            <a:r>
              <a:rPr lang="en-US" sz="1500" b="1" dirty="0">
                <a:solidFill>
                  <a:srgbClr val="0B1E33"/>
                </a:solidFill>
                <a:latin typeface="Calibri" pitchFamily="34" charset="0"/>
                <a:ea typeface="Calibri" pitchFamily="34" charset="-122"/>
                <a:cs typeface="Calibri" pitchFamily="34" charset="-120"/>
              </a:rPr>
              <a:t>Kış kovanı</a:t>
            </a:r>
            <a:endParaRPr lang="en-US" sz="1500" dirty="0"/>
          </a:p>
        </p:txBody>
      </p:sp>
      <p:sp>
        <p:nvSpPr>
          <p:cNvPr id="14" name="Text 12"/>
          <p:cNvSpPr txBox="1"/>
          <p:nvPr/>
        </p:nvSpPr>
        <p:spPr>
          <a:xfrm>
            <a:off x="822960" y="5020056"/>
            <a:ext cx="4709160" cy="411480"/>
          </a:xfrm>
          <a:prstGeom prst="rect">
            <a:avLst/>
          </a:prstGeom>
          <a:noFill/>
          <a:ln/>
        </p:spPr>
        <p:txBody>
          <a:bodyPr wrap="square" lIns="0" tIns="0" rIns="0" bIns="0" rtlCol="0" anchor="t"/>
          <a:lstStyle/>
          <a:p>
            <a:pPr indent="0" marL="0">
              <a:buNone/>
            </a:pPr>
            <a:r>
              <a:rPr lang="en-US" sz="1300" dirty="0">
                <a:solidFill>
                  <a:srgbClr val="1F2D3D"/>
                </a:solidFill>
                <a:latin typeface="Calibri" pitchFamily="34" charset="0"/>
                <a:ea typeface="Calibri" pitchFamily="34" charset="-122"/>
                <a:cs typeface="Calibri" pitchFamily="34" charset="-120"/>
              </a:rPr>
              <a:t>Çanakkale kovanı + bakıcı rolü · ≈63 bin $/yıl</a:t>
            </a:r>
            <a:endParaRPr lang="en-US" sz="1300" dirty="0"/>
          </a:p>
        </p:txBody>
      </p:sp>
      <p:sp>
        <p:nvSpPr>
          <p:cNvPr id="15" name="Shape 13"/>
          <p:cNvSpPr/>
          <p:nvPr/>
        </p:nvSpPr>
        <p:spPr>
          <a:xfrm>
            <a:off x="6035040" y="1463040"/>
            <a:ext cx="731520" cy="731520"/>
          </a:xfrm>
          <a:prstGeom prst="ellipse">
            <a:avLst/>
          </a:prstGeom>
          <a:solidFill>
            <a:srgbClr val="0B1E33"/>
          </a:solidFill>
          <a:ln w="6350">
            <a:solidFill>
              <a:srgbClr val="0B1E33"/>
            </a:solidFill>
            <a:prstDash val="solid"/>
          </a:ln>
        </p:spPr>
      </p:sp>
      <p:pic>
        <p:nvPicPr>
          <p:cNvPr id="16" name="Image 0" descr="preencoded.png">    </p:cNvPr>
          <p:cNvPicPr>
            <a:picLocks noChangeAspect="1"/>
          </p:cNvPicPr>
          <p:nvPr/>
        </p:nvPicPr>
        <p:blipFill>
          <a:blip r:embed="rId1"/>
          <a:stretch>
            <a:fillRect/>
          </a:stretch>
        </p:blipFill>
        <p:spPr>
          <a:xfrm>
            <a:off x="6210605" y="1638605"/>
            <a:ext cx="380390" cy="380390"/>
          </a:xfrm>
          <a:prstGeom prst="rect">
            <a:avLst/>
          </a:prstGeom>
        </p:spPr>
      </p:pic>
      <p:sp>
        <p:nvSpPr>
          <p:cNvPr id="17" name="Text 14"/>
          <p:cNvSpPr txBox="1"/>
          <p:nvPr/>
        </p:nvSpPr>
        <p:spPr>
          <a:xfrm>
            <a:off x="6995160" y="1463040"/>
            <a:ext cx="4663440" cy="365760"/>
          </a:xfrm>
          <a:prstGeom prst="rect">
            <a:avLst/>
          </a:prstGeom>
          <a:noFill/>
          <a:ln/>
        </p:spPr>
        <p:txBody>
          <a:bodyPr wrap="square" lIns="0" tIns="0" rIns="0" bIns="0" rtlCol="0" anchor="t"/>
          <a:lstStyle/>
          <a:p>
            <a:pPr indent="0" marL="0">
              <a:buNone/>
            </a:pPr>
            <a:r>
              <a:rPr lang="en-US" sz="1800" b="1" dirty="0">
                <a:solidFill>
                  <a:srgbClr val="0B1E33"/>
                </a:solidFill>
                <a:latin typeface="Calibri" pitchFamily="34" charset="0"/>
                <a:ea typeface="Calibri" pitchFamily="34" charset="-122"/>
                <a:cs typeface="Calibri" pitchFamily="34" charset="-120"/>
              </a:rPr>
              <a:t>Bölgesel havalimanı</a:t>
            </a:r>
            <a:endParaRPr lang="en-US" sz="1800" dirty="0"/>
          </a:p>
        </p:txBody>
      </p:sp>
      <p:sp>
        <p:nvSpPr>
          <p:cNvPr id="18" name="Text 15"/>
          <p:cNvSpPr txBox="1"/>
          <p:nvPr/>
        </p:nvSpPr>
        <p:spPr>
          <a:xfrm>
            <a:off x="6995160" y="1847088"/>
            <a:ext cx="4663440" cy="64008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5 yıllık sözleşme; kovan boyuna göre yıllık abonelik</a:t>
            </a:r>
            <a:endParaRPr lang="en-US" sz="1400" dirty="0"/>
          </a:p>
        </p:txBody>
      </p:sp>
      <p:sp>
        <p:nvSpPr>
          <p:cNvPr id="19" name="Shape 16"/>
          <p:cNvSpPr/>
          <p:nvPr/>
        </p:nvSpPr>
        <p:spPr>
          <a:xfrm>
            <a:off x="6400800" y="2267712"/>
            <a:ext cx="914" cy="566928"/>
          </a:xfrm>
          <a:prstGeom prst="line">
            <a:avLst/>
          </a:prstGeom>
          <a:noFill/>
          <a:ln w="15875">
            <a:solidFill>
              <a:srgbClr val="B8C4D0"/>
            </a:solidFill>
            <a:prstDash val="solid"/>
          </a:ln>
        </p:spPr>
      </p:sp>
      <p:sp>
        <p:nvSpPr>
          <p:cNvPr id="20" name="Shape 17"/>
          <p:cNvSpPr/>
          <p:nvPr/>
        </p:nvSpPr>
        <p:spPr>
          <a:xfrm>
            <a:off x="6035040" y="2880360"/>
            <a:ext cx="731520" cy="731520"/>
          </a:xfrm>
          <a:prstGeom prst="ellipse">
            <a:avLst/>
          </a:prstGeom>
          <a:solidFill>
            <a:srgbClr val="1479C4"/>
          </a:solidFill>
          <a:ln w="6350">
            <a:solidFill>
              <a:srgbClr val="1479C4"/>
            </a:solidFill>
            <a:prstDash val="solid"/>
          </a:ln>
        </p:spPr>
      </p:sp>
      <p:pic>
        <p:nvPicPr>
          <p:cNvPr id="21" name="Image 1" descr="preencoded.png">    </p:cNvPr>
          <p:cNvPicPr>
            <a:picLocks noChangeAspect="1"/>
          </p:cNvPicPr>
          <p:nvPr/>
        </p:nvPicPr>
        <p:blipFill>
          <a:blip r:embed="rId2"/>
          <a:stretch>
            <a:fillRect/>
          </a:stretch>
        </p:blipFill>
        <p:spPr>
          <a:xfrm>
            <a:off x="6210605" y="3055925"/>
            <a:ext cx="380390" cy="380390"/>
          </a:xfrm>
          <a:prstGeom prst="rect">
            <a:avLst/>
          </a:prstGeom>
        </p:spPr>
      </p:pic>
      <p:sp>
        <p:nvSpPr>
          <p:cNvPr id="22" name="Text 18"/>
          <p:cNvSpPr txBox="1"/>
          <p:nvPr/>
        </p:nvSpPr>
        <p:spPr>
          <a:xfrm>
            <a:off x="6995160" y="2880360"/>
            <a:ext cx="4663440" cy="365760"/>
          </a:xfrm>
          <a:prstGeom prst="rect">
            <a:avLst/>
          </a:prstGeom>
          <a:noFill/>
          <a:ln/>
        </p:spPr>
        <p:txBody>
          <a:bodyPr wrap="square" lIns="0" tIns="0" rIns="0" bIns="0" rtlCol="0" anchor="t"/>
          <a:lstStyle/>
          <a:p>
            <a:pPr indent="0" marL="0">
              <a:buNone/>
            </a:pPr>
            <a:r>
              <a:rPr lang="en-US" sz="1800" b="1" dirty="0">
                <a:solidFill>
                  <a:srgbClr val="0B1E33"/>
                </a:solidFill>
                <a:latin typeface="Calibri" pitchFamily="34" charset="0"/>
                <a:ea typeface="Calibri" pitchFamily="34" charset="-122"/>
                <a:cs typeface="Calibri" pitchFamily="34" charset="-120"/>
              </a:rPr>
              <a:t>AERO-GUARD</a:t>
            </a:r>
            <a:endParaRPr lang="en-US" sz="1800" dirty="0"/>
          </a:p>
        </p:txBody>
      </p:sp>
      <p:sp>
        <p:nvSpPr>
          <p:cNvPr id="23" name="Text 19"/>
          <p:cNvSpPr txBox="1"/>
          <p:nvPr/>
        </p:nvSpPr>
        <p:spPr>
          <a:xfrm>
            <a:off x="6995160" y="3264408"/>
            <a:ext cx="4663440" cy="64008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Donanım, kurulum, bakım ve yazılım güncellemeleri bizde</a:t>
            </a:r>
            <a:endParaRPr lang="en-US" sz="1400" dirty="0"/>
          </a:p>
        </p:txBody>
      </p:sp>
      <p:sp>
        <p:nvSpPr>
          <p:cNvPr id="24" name="Shape 20"/>
          <p:cNvSpPr/>
          <p:nvPr/>
        </p:nvSpPr>
        <p:spPr>
          <a:xfrm>
            <a:off x="6400800" y="3685032"/>
            <a:ext cx="914" cy="566928"/>
          </a:xfrm>
          <a:prstGeom prst="line">
            <a:avLst/>
          </a:prstGeom>
          <a:noFill/>
          <a:ln w="15875">
            <a:solidFill>
              <a:srgbClr val="B8C4D0"/>
            </a:solidFill>
            <a:prstDash val="solid"/>
          </a:ln>
        </p:spPr>
      </p:sp>
      <p:sp>
        <p:nvSpPr>
          <p:cNvPr id="25" name="Shape 21"/>
          <p:cNvSpPr/>
          <p:nvPr/>
        </p:nvSpPr>
        <p:spPr>
          <a:xfrm>
            <a:off x="6035040" y="4297680"/>
            <a:ext cx="731520" cy="731520"/>
          </a:xfrm>
          <a:prstGeom prst="ellipse">
            <a:avLst/>
          </a:prstGeom>
          <a:solidFill>
            <a:srgbClr val="0B1E33"/>
          </a:solidFill>
          <a:ln w="6350">
            <a:solidFill>
              <a:srgbClr val="0B1E33"/>
            </a:solidFill>
            <a:prstDash val="solid"/>
          </a:ln>
        </p:spPr>
      </p:sp>
      <p:pic>
        <p:nvPicPr>
          <p:cNvPr id="26" name="Image 2" descr="preencoded.png">    </p:cNvPr>
          <p:cNvPicPr>
            <a:picLocks noChangeAspect="1"/>
          </p:cNvPicPr>
          <p:nvPr/>
        </p:nvPicPr>
        <p:blipFill>
          <a:blip r:embed="rId3"/>
          <a:stretch>
            <a:fillRect/>
          </a:stretch>
        </p:blipFill>
        <p:spPr>
          <a:xfrm>
            <a:off x="6210605" y="4473245"/>
            <a:ext cx="380390" cy="380390"/>
          </a:xfrm>
          <a:prstGeom prst="rect">
            <a:avLst/>
          </a:prstGeom>
        </p:spPr>
      </p:pic>
      <p:sp>
        <p:nvSpPr>
          <p:cNvPr id="27" name="Text 22"/>
          <p:cNvSpPr txBox="1"/>
          <p:nvPr/>
        </p:nvSpPr>
        <p:spPr>
          <a:xfrm>
            <a:off x="6995160" y="4297680"/>
            <a:ext cx="4663440" cy="365760"/>
          </a:xfrm>
          <a:prstGeom prst="rect">
            <a:avLst/>
          </a:prstGeom>
          <a:noFill/>
          <a:ln/>
        </p:spPr>
        <p:txBody>
          <a:bodyPr wrap="square" lIns="0" tIns="0" rIns="0" bIns="0" rtlCol="0" anchor="t"/>
          <a:lstStyle/>
          <a:p>
            <a:pPr indent="0" marL="0">
              <a:buNone/>
            </a:pPr>
            <a:r>
              <a:rPr lang="en-US" sz="1800" b="1" dirty="0">
                <a:solidFill>
                  <a:srgbClr val="0B1E33"/>
                </a:solidFill>
                <a:latin typeface="Calibri" pitchFamily="34" charset="0"/>
                <a:ea typeface="Calibri" pitchFamily="34" charset="-122"/>
                <a:cs typeface="Calibri" pitchFamily="34" charset="-120"/>
              </a:rPr>
              <a:t>Modüler büyüme</a:t>
            </a:r>
            <a:endParaRPr lang="en-US" sz="1800" dirty="0"/>
          </a:p>
        </p:txBody>
      </p:sp>
      <p:sp>
        <p:nvSpPr>
          <p:cNvPr id="28" name="Text 23"/>
          <p:cNvSpPr txBox="1"/>
          <p:nvPr/>
        </p:nvSpPr>
        <p:spPr>
          <a:xfrm>
            <a:off x="6995160" y="4681728"/>
            <a:ext cx="4663440" cy="640080"/>
          </a:xfrm>
          <a:prstGeom prst="rect">
            <a:avLst/>
          </a:prstGeom>
          <a:noFill/>
          <a:ln/>
        </p:spPr>
        <p:txBody>
          <a:bodyPr wrap="square" lIns="0" tIns="0" rIns="0" bIns="0" rtlCol="0" anchor="t"/>
          <a:lstStyle/>
          <a:p>
            <a:pPr indent="0" marL="0">
              <a:buNone/>
            </a:pPr>
            <a:r>
              <a:rPr lang="en-US" sz="1400" dirty="0">
                <a:solidFill>
                  <a:srgbClr val="1F2D3D"/>
                </a:solidFill>
                <a:latin typeface="Calibri" pitchFamily="34" charset="0"/>
                <a:ea typeface="Calibri" pitchFamily="34" charset="-122"/>
                <a:cs typeface="Calibri" pitchFamily="34" charset="-120"/>
              </a:rPr>
              <a:t>Her havalimanı yalnızca ihtiyaç duyduğu hücreyi alır; geniş kovan +≈20 bin $ / kâşif</a:t>
            </a:r>
            <a:endParaRPr lang="en-US" sz="1400" dirty="0"/>
          </a:p>
        </p:txBody>
      </p:sp>
      <p:sp>
        <p:nvSpPr>
          <p:cNvPr id="29" name="Text 24"/>
          <p:cNvSpPr txBox="1"/>
          <p:nvPr/>
        </p:nvSpPr>
        <p:spPr>
          <a:xfrm>
            <a:off x="548640" y="5779008"/>
            <a:ext cx="11091672" cy="411480"/>
          </a:xfrm>
          <a:prstGeom prst="rect">
            <a:avLst/>
          </a:prstGeom>
          <a:noFill/>
          <a:ln/>
        </p:spPr>
        <p:txBody>
          <a:bodyPr wrap="square" lIns="0" tIns="0" rIns="0" bIns="0" rtlCol="0" anchor="ctr"/>
          <a:lstStyle/>
          <a:p>
            <a:pPr indent="0" marL="0">
              <a:buNone/>
            </a:pPr>
            <a:r>
              <a:rPr lang="en-US" sz="1400" b="1" dirty="0">
                <a:solidFill>
                  <a:srgbClr val="0B1E33"/>
                </a:solidFill>
                <a:latin typeface="Calibri" pitchFamily="34" charset="0"/>
                <a:ea typeface="Calibri" pitchFamily="34" charset="-122"/>
                <a:cs typeface="Calibri" pitchFamily="34" charset="-120"/>
              </a:rPr>
              <a:t>Tümü ön tahmin, ±%30.  </a:t>
            </a:r>
            <a:pPr indent="0" marL="0">
              <a:buNone/>
            </a:pPr>
            <a:r>
              <a:rPr lang="en-US" sz="1400" dirty="0">
                <a:solidFill>
                  <a:srgbClr val="1F2D3D"/>
                </a:solidFill>
                <a:latin typeface="Calibri" pitchFamily="34" charset="0"/>
                <a:ea typeface="Calibri" pitchFamily="34" charset="-122"/>
                <a:cs typeface="Calibri" pitchFamily="34" charset="-120"/>
              </a:rPr>
              <a:t>Hedef pazar: DHMİ'nin işlettiği düşük trafikli bölgesel havalimanları; kış kovanı soğuk iklim için. Fiyat pilot sonrası netleşir.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966960" cy="777240"/>
          </a:xfrm>
          <a:prstGeom prst="rect">
            <a:avLst/>
          </a:prstGeom>
          <a:noFill/>
          <a:ln/>
        </p:spPr>
        <p:txBody>
          <a:bodyPr wrap="square" lIns="0" tIns="0" rIns="0" bIns="0" rtlCol="0" anchor="ctr"/>
          <a:lstStyle/>
          <a:p>
            <a:pPr algn="l" indent="0" marL="0">
              <a:buNone/>
            </a:pPr>
            <a:r>
              <a:rPr lang="en-US" sz="3200" b="1" dirty="0">
                <a:solidFill>
                  <a:srgbClr val="0B1E33"/>
                </a:solidFill>
              </a:rPr>
              <a:t>30 ayda Çanakkale'den 3–5 bölgesel havalimanına</a:t>
            </a:r>
            <a:endParaRPr lang="en-US" sz="3200" dirty="0"/>
          </a:p>
        </p:txBody>
      </p:sp>
      <p:pic>
        <p:nvPicPr>
          <p:cNvPr id="3" name="Image 0" descr="Proje yol haritası">    </p:cNvPr>
          <p:cNvPicPr>
            <a:picLocks noChangeAspect="1"/>
          </p:cNvPicPr>
          <p:nvPr/>
        </p:nvPicPr>
        <p:blipFill>
          <a:blip r:embed="rId1"/>
          <a:stretch>
            <a:fillRect/>
          </a:stretch>
        </p:blipFill>
        <p:spPr>
          <a:xfrm>
            <a:off x="795528" y="1280160"/>
            <a:ext cx="10607040" cy="3630168"/>
          </a:xfrm>
          <a:prstGeom prst="rect">
            <a:avLst/>
          </a:prstGeom>
        </p:spPr>
      </p:pic>
      <p:sp>
        <p:nvSpPr>
          <p:cNvPr id="4" name="Shape 1"/>
          <p:cNvSpPr/>
          <p:nvPr/>
        </p:nvSpPr>
        <p:spPr>
          <a:xfrm>
            <a:off x="548640" y="5074920"/>
            <a:ext cx="11091672" cy="1097280"/>
          </a:xfrm>
          <a:prstGeom prst="roundRect">
            <a:avLst>
              <a:gd name="adj" fmla="val 10000"/>
            </a:avLst>
          </a:prstGeom>
          <a:solidFill>
            <a:srgbClr val="0B1E33"/>
          </a:solidFill>
          <a:ln w="6350">
            <a:solidFill>
              <a:srgbClr val="0B1E33"/>
            </a:solidFill>
            <a:prstDash val="solid"/>
          </a:ln>
        </p:spPr>
      </p:sp>
      <p:sp>
        <p:nvSpPr>
          <p:cNvPr id="5" name="Shape 2"/>
          <p:cNvSpPr/>
          <p:nvPr/>
        </p:nvSpPr>
        <p:spPr>
          <a:xfrm>
            <a:off x="822960" y="5276088"/>
            <a:ext cx="685800" cy="685800"/>
          </a:xfrm>
          <a:prstGeom prst="ellipse">
            <a:avLst/>
          </a:prstGeom>
          <a:solidFill>
            <a:srgbClr val="E8A317"/>
          </a:solidFill>
          <a:ln w="6350">
            <a:solidFill>
              <a:srgbClr val="E8A317"/>
            </a:solidFill>
            <a:prstDash val="solid"/>
          </a:ln>
        </p:spPr>
      </p:sp>
      <p:pic>
        <p:nvPicPr>
          <p:cNvPr id="6" name="Image 1" descr="preencoded.png">    </p:cNvPr>
          <p:cNvPicPr>
            <a:picLocks noChangeAspect="1"/>
          </p:cNvPicPr>
          <p:nvPr/>
        </p:nvPicPr>
        <p:blipFill>
          <a:blip r:embed="rId2"/>
          <a:stretch>
            <a:fillRect/>
          </a:stretch>
        </p:blipFill>
        <p:spPr>
          <a:xfrm>
            <a:off x="987552" y="5440680"/>
            <a:ext cx="356616" cy="356616"/>
          </a:xfrm>
          <a:prstGeom prst="rect">
            <a:avLst/>
          </a:prstGeom>
        </p:spPr>
      </p:pic>
      <p:sp>
        <p:nvSpPr>
          <p:cNvPr id="7" name="Text 3"/>
          <p:cNvSpPr txBox="1"/>
          <p:nvPr/>
        </p:nvSpPr>
        <p:spPr>
          <a:xfrm>
            <a:off x="1737360" y="5074920"/>
            <a:ext cx="9646920" cy="1097280"/>
          </a:xfrm>
          <a:prstGeom prst="rect">
            <a:avLst/>
          </a:prstGeom>
          <a:noFill/>
          <a:ln/>
        </p:spPr>
        <p:txBody>
          <a:bodyPr wrap="square" lIns="0" tIns="0" rIns="0" bIns="0" rtlCol="0" anchor="ctr"/>
          <a:lstStyle/>
          <a:p>
            <a:pPr indent="0" marL="0">
              <a:buNone/>
            </a:pPr>
            <a:r>
              <a:rPr lang="en-US" sz="1500" b="1" dirty="0">
                <a:solidFill>
                  <a:srgbClr val="E8A317"/>
                </a:solidFill>
                <a:latin typeface="Calibri" pitchFamily="34" charset="0"/>
                <a:ea typeface="Calibri" pitchFamily="34" charset="-122"/>
                <a:cs typeface="Calibri" pitchFamily="34" charset="-120"/>
              </a:rPr>
              <a:t>İlk adım (0–3 ay): </a:t>
            </a:r>
            <a:pPr indent="0" marL="0">
              <a:buNone/>
            </a:pPr>
            <a:r>
              <a:rPr lang="en-US" sz="1500" dirty="0">
                <a:solidFill>
                  <a:srgbClr val="FFFFFF"/>
                </a:solidFill>
                <a:latin typeface="Calibri" pitchFamily="34" charset="0"/>
                <a:ea typeface="Calibri" pitchFamily="34" charset="-122"/>
                <a:cs typeface="Calibri" pitchFamily="34" charset="-120"/>
              </a:rPr>
              <a:t>FOD-A ile eğitilmiş YOLO demosu + kovan planlayıcısı simülasyonu; izin süreci (DHMİ, SHGM, BTK) ilk ayda. </a:t>
            </a:r>
            <a:pPr indent="0" marL="0">
              <a:buNone/>
            </a:pPr>
            <a:r>
              <a:rPr lang="en-US" sz="1500" b="1" dirty="0">
                <a:solidFill>
                  <a:srgbClr val="E8A317"/>
                </a:solidFill>
                <a:latin typeface="Calibri" pitchFamily="34" charset="0"/>
                <a:ea typeface="Calibri" pitchFamily="34" charset="-122"/>
                <a:cs typeface="Calibri" pitchFamily="34" charset="-120"/>
              </a:rPr>
              <a:t>Kastlar aşamalı: </a:t>
            </a:r>
            <a:pPr indent="0" marL="0">
              <a:buNone/>
            </a:pPr>
            <a:r>
              <a:rPr lang="en-US" sz="1500" dirty="0">
                <a:solidFill>
                  <a:srgbClr val="FFFFFF"/>
                </a:solidFill>
                <a:latin typeface="Calibri" pitchFamily="34" charset="0"/>
                <a:ea typeface="Calibri" pitchFamily="34" charset="-122"/>
                <a:cs typeface="Calibri" pitchFamily="34" charset="-120"/>
              </a:rPr>
              <a:t>sınırlı pilot kâşiflerle → tam pilotta bekçi, işçi, nöbetçiler → bakıcı ayrı kış pilotunda.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498080" cy="1463040"/>
          </a:xfrm>
          <a:prstGeom prst="rect">
            <a:avLst/>
          </a:prstGeom>
          <a:noFill/>
          <a:ln/>
        </p:spPr>
        <p:txBody>
          <a:bodyPr wrap="square" lIns="0" tIns="0" rIns="0" bIns="0" rtlCol="0" anchor="ctr"/>
          <a:lstStyle/>
          <a:p>
            <a:pPr algn="l" indent="0" marL="0">
              <a:buNone/>
            </a:pPr>
            <a:r>
              <a:rPr lang="en-US" sz="4400" b="1" dirty="0">
                <a:solidFill>
                  <a:srgbClr val="FFFFFF"/>
                </a:solidFill>
              </a:rPr>
              <a:t>Her uçuştan önce, doğrulanmış temiz pist.</a:t>
            </a:r>
            <a:endParaRPr lang="en-US" sz="4400" dirty="0"/>
          </a:p>
        </p:txBody>
      </p:sp>
      <p:sp>
        <p:nvSpPr>
          <p:cNvPr id="3" name="Text 0"/>
          <p:cNvSpPr/>
          <p:nvPr>
            <p:ph idx="101" type="body" hasCustomPrompt="1"/>
          </p:nvPr>
        </p:nvSpPr>
        <p:spPr>
          <a:xfrm>
            <a:off x="548640" y="3566160"/>
            <a:ext cx="7315200" cy="914400"/>
          </a:xfrm>
          <a:prstGeom prst="rect">
            <a:avLst/>
          </a:prstGeom>
          <a:noFill/>
          <a:ln/>
        </p:spPr>
        <p:txBody>
          <a:bodyPr wrap="square" lIns="0" tIns="0" rIns="0" bIns="0" rtlCol="0" anchor="t"/>
          <a:lstStyle/>
          <a:p>
            <a:pPr algn="l" indent="0" marL="0">
              <a:buNone/>
            </a:pPr>
            <a:r>
              <a:rPr lang="en-US" sz="2000" dirty="0">
                <a:solidFill>
                  <a:srgbClr val="EEF3F8"/>
                </a:solidFill>
              </a:rPr>
              <a:t>Görevine göre uzmanlaşmış, kendi enerjisini üreten küçük bir kovanla.</a:t>
            </a:r>
            <a:endParaRPr lang="en-US" sz="2000" dirty="0"/>
          </a:p>
        </p:txBody>
      </p:sp>
      <p:pic>
        <p:nvPicPr>
          <p:cNvPr id="4" name="Image 0" descr="AERO-GUARD logosu">    </p:cNvPr>
          <p:cNvPicPr>
            <a:picLocks noChangeAspect="1"/>
          </p:cNvPicPr>
          <p:nvPr/>
        </p:nvPicPr>
        <p:blipFill>
          <a:blip r:embed="rId1"/>
          <a:stretch>
            <a:fillRect/>
          </a:stretch>
        </p:blipFill>
        <p:spPr>
          <a:xfrm>
            <a:off x="8412480" y="1737360"/>
            <a:ext cx="3200400" cy="2295144"/>
          </a:xfrm>
          <a:prstGeom prst="rect">
            <a:avLst/>
          </a:prstGeom>
        </p:spPr>
      </p:pic>
      <p:sp>
        <p:nvSpPr>
          <p:cNvPr id="5" name="Text 2"/>
          <p:cNvSpPr txBox="1"/>
          <p:nvPr/>
        </p:nvSpPr>
        <p:spPr>
          <a:xfrm>
            <a:off x="548640" y="4800600"/>
            <a:ext cx="7315200" cy="502920"/>
          </a:xfrm>
          <a:prstGeom prst="rect">
            <a:avLst/>
          </a:prstGeom>
          <a:noFill/>
          <a:ln/>
        </p:spPr>
        <p:txBody>
          <a:bodyPr wrap="square" lIns="0" tIns="0" rIns="0" bIns="0" rtlCol="0" anchor="t"/>
          <a:lstStyle/>
          <a:p>
            <a:pPr indent="0" marL="0">
              <a:buNone/>
            </a:pPr>
            <a:r>
              <a:rPr lang="en-US" sz="2400" b="1" dirty="0">
                <a:solidFill>
                  <a:srgbClr val="E8A317"/>
                </a:solidFill>
                <a:latin typeface="Calibri" pitchFamily="34" charset="0"/>
                <a:ea typeface="Calibri" pitchFamily="34" charset="-122"/>
                <a:cs typeface="Calibri" pitchFamily="34" charset="-120"/>
              </a:rPr>
              <a:t>Teşekkürler · Sorularınız?</a:t>
            </a:r>
            <a:endParaRPr lang="en-US" sz="2400" dirty="0"/>
          </a:p>
        </p:txBody>
      </p:sp>
      <p:sp>
        <p:nvSpPr>
          <p:cNvPr id="6" name="Text 3"/>
          <p:cNvSpPr txBox="1"/>
          <p:nvPr/>
        </p:nvSpPr>
        <p:spPr>
          <a:xfrm>
            <a:off x="548640" y="5394960"/>
            <a:ext cx="10058400" cy="365760"/>
          </a:xfrm>
          <a:prstGeom prst="rect">
            <a:avLst/>
          </a:prstGeom>
          <a:noFill/>
          <a:ln/>
        </p:spPr>
        <p:txBody>
          <a:bodyPr wrap="square" lIns="0" tIns="0" rIns="0" bIns="0" rtlCol="0" anchor="t"/>
          <a:lstStyle/>
          <a:p>
            <a:pPr indent="0" marL="0">
              <a:buNone/>
            </a:pPr>
            <a:r>
              <a:rPr lang="en-US" sz="1400" dirty="0">
                <a:solidFill>
                  <a:srgbClr val="EEF3F8"/>
                </a:solidFill>
                <a:latin typeface="Calibri" pitchFamily="34" charset="0"/>
                <a:ea typeface="Calibri" pitchFamily="34" charset="-122"/>
                <a:cs typeface="Calibri" pitchFamily="34" charset="-120"/>
              </a:rPr>
              <a:t>Hasan Kaşıkcı · Oğuz Kortun · Ensar Enes Akkuş · Efekaan Bengi  —  ÇOMÜ Bilgisayar Mühendisliği</a:t>
            </a:r>
            <a:endParaRPr lang="en-US" sz="1400" dirty="0"/>
          </a:p>
        </p:txBody>
      </p:sp>
    </p:spTree>
  </p:cSld>
  <p:clrMapOvr>
    <a:masterClrMapping/>
  </p:clrMapOvr>
</p:sld>
</file>

<file path=ppt/theme/theme1.xml><?xml version="1.0" encoding="utf-8"?>
<a:theme xmlns:a="http://schemas.openxmlformats.org/drawingml/2006/main" name="AERO-GUARD">
  <a:themeElements>
    <a:clrScheme name="AERO-GUARD">
      <a:dk1>
        <a:srgbClr val="0B1E33"/>
      </a:dk1>
      <a:lt1>
        <a:srgbClr val="FFFFFF"/>
      </a:lt1>
      <a:dk2>
        <a:srgbClr val="1F2D3D"/>
      </a:dk2>
      <a:lt2>
        <a:srgbClr val="EEF3F8"/>
      </a:lt2>
      <a:accent1>
        <a:srgbClr val="1479C4"/>
      </a:accent1>
      <a:accent2>
        <a:srgbClr val="3E9A31"/>
      </a:accent2>
      <a:accent3>
        <a:srgbClr val="E8A317"/>
      </a:accent3>
      <a:accent4>
        <a:srgbClr val="7A4FB5"/>
      </a:accent4>
      <a:accent5>
        <a:srgbClr val="5B6B7B"/>
      </a:accent5>
      <a:accent6>
        <a:srgbClr val="C0392B"/>
      </a:accent6>
      <a:hlink>
        <a:srgbClr val="1479C4"/>
      </a:hlink>
      <a:folHlink>
        <a:srgbClr val="7A4FB5"/>
      </a:folHlink>
    </a:clrScheme>
    <a:fontScheme name="AERO-GUAR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ÇOMÜ Bilgisayar Mühendisliği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AERO-GUARD V3 Final Sunumu</dc:title>
  <dc:subject>PptxGenJS Presentation</dc:subject>
  <dc:creator>AERO-GUARD ekibi</dc:creator>
  <cp:lastModifiedBy>AERO-GUARD ekibi</cp:lastModifiedBy>
  <cp:revision>1</cp:revision>
  <dcterms:created xsi:type="dcterms:W3CDTF">2026-10-20T13:00:42Z</dcterms:created>
  <dcterms:modified xsi:type="dcterms:W3CDTF">2026-10-20T13:00:42Z</dcterms:modified>
</cp:coreProperties>
</file>